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04" r:id="rId3"/>
    <p:sldId id="305" r:id="rId4"/>
    <p:sldId id="306" r:id="rId5"/>
    <p:sldId id="302" r:id="rId6"/>
    <p:sldId id="303" r:id="rId7"/>
    <p:sldId id="292" r:id="rId8"/>
    <p:sldId id="290" r:id="rId9"/>
    <p:sldId id="291" r:id="rId10"/>
    <p:sldId id="294" r:id="rId11"/>
    <p:sldId id="295" r:id="rId12"/>
    <p:sldId id="298" r:id="rId13"/>
    <p:sldId id="297" r:id="rId14"/>
    <p:sldId id="299" r:id="rId15"/>
    <p:sldId id="300" r:id="rId16"/>
    <p:sldId id="301" r:id="rId17"/>
    <p:sldId id="269" r:id="rId18"/>
    <p:sldId id="275" r:id="rId19"/>
    <p:sldId id="274" r:id="rId20"/>
    <p:sldId id="270" r:id="rId21"/>
    <p:sldId id="272" r:id="rId22"/>
    <p:sldId id="276" r:id="rId23"/>
    <p:sldId id="281" r:id="rId24"/>
    <p:sldId id="279" r:id="rId25"/>
    <p:sldId id="278" r:id="rId26"/>
    <p:sldId id="280" r:id="rId27"/>
    <p:sldId id="282" r:id="rId28"/>
    <p:sldId id="283" r:id="rId29"/>
    <p:sldId id="284" r:id="rId30"/>
    <p:sldId id="285" r:id="rId31"/>
    <p:sldId id="286" r:id="rId32"/>
    <p:sldId id="287" r:id="rId3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AF81"/>
    <a:srgbClr val="FEFEFE"/>
    <a:srgbClr val="FDFDFD"/>
    <a:srgbClr val="C2F1C8"/>
    <a:srgbClr val="A8D9AF"/>
    <a:srgbClr val="528A59"/>
    <a:srgbClr val="13501B"/>
    <a:srgbClr val="196B24"/>
    <a:srgbClr val="EFF3F3"/>
    <a:srgbClr val="467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7525" autoAdjust="0"/>
  </p:normalViewPr>
  <p:slideViewPr>
    <p:cSldViewPr>
      <p:cViewPr varScale="1">
        <p:scale>
          <a:sx n="72" d="100"/>
          <a:sy n="72" d="100"/>
        </p:scale>
        <p:origin x="1506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111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rmatha\Documents\new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rmatha\Documents\EV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rmatha\Documents\EV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rmatha\Documents\EV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US" sz="2400" b="1" i="0" u="none" strike="noStrike" kern="1200" spc="0" baseline="0" dirty="0">
                <a:solidFill>
                  <a:schemeClr val="tx1"/>
                </a:solidFill>
              </a:rPr>
              <a:t>Revenue growth </a:t>
            </a:r>
            <a:endParaRPr lang="en-IN" sz="2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'Revenue'!$A$2</c:f>
              <c:strCache>
                <c:ptCount val="1"/>
                <c:pt idx="0">
                  <c:v>2-Wheelers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'Revenue'!$H$1:$I$1</c:f>
              <c:strCache>
                <c:ptCount val="2"/>
                <c:pt idx="0">
                  <c:v>growth_rate_22_vs_24</c:v>
                </c:pt>
                <c:pt idx="1">
                  <c:v>growth_rate_23_vs_24</c:v>
                </c:pt>
              </c:strCache>
            </c:strRef>
          </c:cat>
          <c:val>
            <c:numRef>
              <c:f>'Revenue'!$H$2:$I$2</c:f>
              <c:numCache>
                <c:formatCode>General</c:formatCode>
                <c:ptCount val="2"/>
                <c:pt idx="0">
                  <c:v>269.27999999999997</c:v>
                </c:pt>
                <c:pt idx="1">
                  <c:v>28.13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28-444C-8646-98526B694DB7}"/>
            </c:ext>
          </c:extLst>
        </c:ser>
        <c:ser>
          <c:idx val="1"/>
          <c:order val="1"/>
          <c:tx>
            <c:strRef>
              <c:f>'Revenue'!$A$3</c:f>
              <c:strCache>
                <c:ptCount val="1"/>
                <c:pt idx="0">
                  <c:v>4-Wheelers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'Revenue'!$H$1:$I$1</c:f>
              <c:strCache>
                <c:ptCount val="2"/>
                <c:pt idx="0">
                  <c:v>growth_rate_22_vs_24</c:v>
                </c:pt>
                <c:pt idx="1">
                  <c:v>growth_rate_23_vs_24</c:v>
                </c:pt>
              </c:strCache>
            </c:strRef>
          </c:cat>
          <c:val>
            <c:numRef>
              <c:f>'Revenue'!$H$3:$I$3</c:f>
              <c:numCache>
                <c:formatCode>General</c:formatCode>
                <c:ptCount val="2"/>
                <c:pt idx="0">
                  <c:v>367.79</c:v>
                </c:pt>
                <c:pt idx="1">
                  <c:v>83.08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28-444C-8646-98526B694D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43533856"/>
        <c:axId val="343518496"/>
      </c:barChart>
      <c:catAx>
        <c:axId val="343533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3518496"/>
        <c:crosses val="autoZero"/>
        <c:auto val="1"/>
        <c:lblAlgn val="ctr"/>
        <c:lblOffset val="100"/>
        <c:noMultiLvlLbl val="0"/>
      </c:catAx>
      <c:valAx>
        <c:axId val="343518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3533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EV vs ICE 4‑Wheeler Cost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'[EV analysis.xlsx]Q1'!$B$10</c:f>
              <c:strCache>
                <c:ptCount val="1"/>
                <c:pt idx="0">
                  <c:v>EV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76000"/>
                    <a:shade val="51000"/>
                    <a:satMod val="130000"/>
                  </a:schemeClr>
                </a:gs>
                <a:gs pos="80000">
                  <a:schemeClr val="accent3">
                    <a:shade val="76000"/>
                    <a:shade val="93000"/>
                    <a:satMod val="130000"/>
                  </a:schemeClr>
                </a:gs>
                <a:gs pos="100000">
                  <a:schemeClr val="accent3">
                    <a:shade val="76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'[EV analysis.xlsx]Q1'!$A$11:$A$15</c:f>
              <c:strCache>
                <c:ptCount val="5"/>
                <c:pt idx="0">
                  <c:v>Running Cost (per km)</c:v>
                </c:pt>
                <c:pt idx="1">
                  <c:v>Maintenance Cost (annual)</c:v>
                </c:pt>
                <c:pt idx="2">
                  <c:v>GST Rate (%)</c:v>
                </c:pt>
                <c:pt idx="3">
                  <c:v>Road Tax &amp; Registration (₹)</c:v>
                </c:pt>
                <c:pt idx="4">
                  <c:v>TCO (5 years, ₹)</c:v>
                </c:pt>
              </c:strCache>
            </c:strRef>
          </c:cat>
          <c:val>
            <c:numRef>
              <c:f>'[EV analysis.xlsx]Q1'!$B$11:$B$15</c:f>
              <c:numCache>
                <c:formatCode>#,##0</c:formatCode>
                <c:ptCount val="5"/>
                <c:pt idx="0" formatCode="General">
                  <c:v>1.25</c:v>
                </c:pt>
                <c:pt idx="1">
                  <c:v>12500</c:v>
                </c:pt>
                <c:pt idx="2" formatCode="General">
                  <c:v>5</c:v>
                </c:pt>
                <c:pt idx="3" formatCode="General">
                  <c:v>0</c:v>
                </c:pt>
                <c:pt idx="4">
                  <c:v>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F-4AD7-AD4E-913C3E45719F}"/>
            </c:ext>
          </c:extLst>
        </c:ser>
        <c:ser>
          <c:idx val="1"/>
          <c:order val="1"/>
          <c:tx>
            <c:strRef>
              <c:f>'[EV analysis.xlsx]Q1'!$C$10</c:f>
              <c:strCache>
                <c:ptCount val="1"/>
                <c:pt idx="0">
                  <c:v>ICE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77000"/>
                    <a:shade val="51000"/>
                    <a:satMod val="130000"/>
                  </a:schemeClr>
                </a:gs>
                <a:gs pos="80000">
                  <a:schemeClr val="accent3">
                    <a:tint val="77000"/>
                    <a:shade val="93000"/>
                    <a:satMod val="130000"/>
                  </a:schemeClr>
                </a:gs>
                <a:gs pos="100000">
                  <a:schemeClr val="accent3">
                    <a:tint val="77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'[EV analysis.xlsx]Q1'!$A$11:$A$15</c:f>
              <c:strCache>
                <c:ptCount val="5"/>
                <c:pt idx="0">
                  <c:v>Running Cost (per km)</c:v>
                </c:pt>
                <c:pt idx="1">
                  <c:v>Maintenance Cost (annual)</c:v>
                </c:pt>
                <c:pt idx="2">
                  <c:v>GST Rate (%)</c:v>
                </c:pt>
                <c:pt idx="3">
                  <c:v>Road Tax &amp; Registration (₹)</c:v>
                </c:pt>
                <c:pt idx="4">
                  <c:v>TCO (5 years, ₹)</c:v>
                </c:pt>
              </c:strCache>
            </c:strRef>
          </c:cat>
          <c:val>
            <c:numRef>
              <c:f>'[EV analysis.xlsx]Q1'!$C$11:$C$15</c:f>
              <c:numCache>
                <c:formatCode>#,##0</c:formatCode>
                <c:ptCount val="5"/>
                <c:pt idx="0" formatCode="General">
                  <c:v>7</c:v>
                </c:pt>
                <c:pt idx="1">
                  <c:v>20000</c:v>
                </c:pt>
                <c:pt idx="2" formatCode="General">
                  <c:v>28</c:v>
                </c:pt>
                <c:pt idx="3">
                  <c:v>25000</c:v>
                </c:pt>
                <c:pt idx="4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1F-4AD7-AD4E-913C3E4571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17596896"/>
        <c:axId val="1917603616"/>
      </c:barChart>
      <c:catAx>
        <c:axId val="1917596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603616"/>
        <c:crosses val="autoZero"/>
        <c:auto val="1"/>
        <c:lblAlgn val="ctr"/>
        <c:lblOffset val="100"/>
        <c:noMultiLvlLbl val="0"/>
      </c:catAx>
      <c:valAx>
        <c:axId val="1917603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59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C1F0C8">
        <a:alpha val="50000"/>
      </a:srgbClr>
    </a:solidFill>
    <a:ln w="9525" cap="flat" cmpd="sng" algn="ctr">
      <a:solidFill>
        <a:srgbClr val="00B050"/>
      </a:solidFill>
      <a:round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100" baseline="0"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State vs Subside vs EV Adoption (2024)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100" baseline="0">
              <a:solidFill>
                <a:schemeClr val="tx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'Q1'!$B$91</c:f>
              <c:strCache>
                <c:ptCount val="1"/>
                <c:pt idx="0">
                  <c:v>Avg Subsidy per Vehicle (₹)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3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hade val="53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shade val="53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'Q1'!$A$92:$A$99</c:f>
              <c:strCache>
                <c:ptCount val="8"/>
                <c:pt idx="0">
                  <c:v>Delhi</c:v>
                </c:pt>
                <c:pt idx="1">
                  <c:v>Maharashtra</c:v>
                </c:pt>
                <c:pt idx="2">
                  <c:v>Gujarat</c:v>
                </c:pt>
                <c:pt idx="3">
                  <c:v>Karnataka</c:v>
                </c:pt>
                <c:pt idx="4">
                  <c:v>Tamil Nadu</c:v>
                </c:pt>
                <c:pt idx="5">
                  <c:v>Rajasthan</c:v>
                </c:pt>
                <c:pt idx="6">
                  <c:v>Uttar Pradesh</c:v>
                </c:pt>
                <c:pt idx="7">
                  <c:v>Telangana</c:v>
                </c:pt>
              </c:strCache>
            </c:strRef>
          </c:cat>
          <c:val>
            <c:numRef>
              <c:f>'Q1'!$B$92:$B$99</c:f>
              <c:numCache>
                <c:formatCode>_ [$₹-4009]\ * #,##0_ ;_ [$₹-4009]\ * \-#,##0_ ;_ [$₹-4009]\ * "-"??_ ;_ @_ </c:formatCode>
                <c:ptCount val="8"/>
                <c:pt idx="0">
                  <c:v>25000</c:v>
                </c:pt>
                <c:pt idx="1">
                  <c:v>20000</c:v>
                </c:pt>
                <c:pt idx="2">
                  <c:v>22000</c:v>
                </c:pt>
                <c:pt idx="3">
                  <c:v>18000</c:v>
                </c:pt>
                <c:pt idx="4">
                  <c:v>15000</c:v>
                </c:pt>
                <c:pt idx="5">
                  <c:v>20000</c:v>
                </c:pt>
                <c:pt idx="6">
                  <c:v>15000</c:v>
                </c:pt>
                <c:pt idx="7">
                  <c:v>18000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0D-4D26-B52C-8889B2854857}"/>
            </c:ext>
          </c:extLst>
        </c:ser>
        <c:ser>
          <c:idx val="1"/>
          <c:order val="1"/>
          <c:tx>
            <c:strRef>
              <c:f>'Q1'!$C$91</c:f>
              <c:strCache>
                <c:ptCount val="1"/>
                <c:pt idx="0">
                  <c:v>2W EV Sales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'Q1'!$A$92:$A$99</c:f>
              <c:strCache>
                <c:ptCount val="8"/>
                <c:pt idx="0">
                  <c:v>Delhi</c:v>
                </c:pt>
                <c:pt idx="1">
                  <c:v>Maharashtra</c:v>
                </c:pt>
                <c:pt idx="2">
                  <c:v>Gujarat</c:v>
                </c:pt>
                <c:pt idx="3">
                  <c:v>Karnataka</c:v>
                </c:pt>
                <c:pt idx="4">
                  <c:v>Tamil Nadu</c:v>
                </c:pt>
                <c:pt idx="5">
                  <c:v>Rajasthan</c:v>
                </c:pt>
                <c:pt idx="6">
                  <c:v>Uttar Pradesh</c:v>
                </c:pt>
                <c:pt idx="7">
                  <c:v>Telangana</c:v>
                </c:pt>
              </c:strCache>
            </c:strRef>
          </c:cat>
          <c:val>
            <c:numRef>
              <c:f>'Q1'!$C$92:$C$99</c:f>
              <c:numCache>
                <c:formatCode>_ [$₹-4009]\ * #,##0_ ;_ [$₹-4009]\ * \-#,##0_ ;_ [$₹-4009]\ * "-"??_ ;_ @_ </c:formatCode>
                <c:ptCount val="8"/>
                <c:pt idx="0">
                  <c:v>180000</c:v>
                </c:pt>
                <c:pt idx="1">
                  <c:v>300000</c:v>
                </c:pt>
                <c:pt idx="2">
                  <c:v>220000</c:v>
                </c:pt>
                <c:pt idx="3">
                  <c:v>160000</c:v>
                </c:pt>
                <c:pt idx="4">
                  <c:v>140000</c:v>
                </c:pt>
                <c:pt idx="5">
                  <c:v>120000</c:v>
                </c:pt>
                <c:pt idx="6">
                  <c:v>200000</c:v>
                </c:pt>
                <c:pt idx="7">
                  <c:v>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0D-4D26-B52C-8889B2854857}"/>
            </c:ext>
          </c:extLst>
        </c:ser>
        <c:ser>
          <c:idx val="2"/>
          <c:order val="2"/>
          <c:tx>
            <c:strRef>
              <c:f>'Q1'!$D$91</c:f>
              <c:strCache>
                <c:ptCount val="1"/>
                <c:pt idx="0">
                  <c:v>4W EV Sales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'Q1'!$A$92:$A$99</c:f>
              <c:strCache>
                <c:ptCount val="8"/>
                <c:pt idx="0">
                  <c:v>Delhi</c:v>
                </c:pt>
                <c:pt idx="1">
                  <c:v>Maharashtra</c:v>
                </c:pt>
                <c:pt idx="2">
                  <c:v>Gujarat</c:v>
                </c:pt>
                <c:pt idx="3">
                  <c:v>Karnataka</c:v>
                </c:pt>
                <c:pt idx="4">
                  <c:v>Tamil Nadu</c:v>
                </c:pt>
                <c:pt idx="5">
                  <c:v>Rajasthan</c:v>
                </c:pt>
                <c:pt idx="6">
                  <c:v>Uttar Pradesh</c:v>
                </c:pt>
                <c:pt idx="7">
                  <c:v>Telangana</c:v>
                </c:pt>
              </c:strCache>
            </c:strRef>
          </c:cat>
          <c:val>
            <c:numRef>
              <c:f>'Q1'!$D$92:$D$99</c:f>
              <c:numCache>
                <c:formatCode>_ [$₹-4009]\ * #,##0_ ;_ [$₹-4009]\ * \-#,##0_ ;_ [$₹-4009]\ * "-"??_ ;_ @_ </c:formatCode>
                <c:ptCount val="8"/>
                <c:pt idx="0">
                  <c:v>12000</c:v>
                </c:pt>
                <c:pt idx="1">
                  <c:v>35000</c:v>
                </c:pt>
                <c:pt idx="2">
                  <c:v>15000</c:v>
                </c:pt>
                <c:pt idx="3">
                  <c:v>22000</c:v>
                </c:pt>
                <c:pt idx="4">
                  <c:v>20000</c:v>
                </c:pt>
                <c:pt idx="5">
                  <c:v>8000</c:v>
                </c:pt>
                <c:pt idx="6">
                  <c:v>12000</c:v>
                </c:pt>
                <c:pt idx="7">
                  <c:v>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0D-4D26-B52C-8889B2854857}"/>
            </c:ext>
          </c:extLst>
        </c:ser>
        <c:ser>
          <c:idx val="3"/>
          <c:order val="3"/>
          <c:tx>
            <c:strRef>
              <c:f>'Q1'!$E$91</c:f>
              <c:strCache>
                <c:ptCount val="1"/>
                <c:pt idx="0">
                  <c:v>Total EV Sales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'Q1'!$A$92:$A$99</c:f>
              <c:strCache>
                <c:ptCount val="8"/>
                <c:pt idx="0">
                  <c:v>Delhi</c:v>
                </c:pt>
                <c:pt idx="1">
                  <c:v>Maharashtra</c:v>
                </c:pt>
                <c:pt idx="2">
                  <c:v>Gujarat</c:v>
                </c:pt>
                <c:pt idx="3">
                  <c:v>Karnataka</c:v>
                </c:pt>
                <c:pt idx="4">
                  <c:v>Tamil Nadu</c:v>
                </c:pt>
                <c:pt idx="5">
                  <c:v>Rajasthan</c:v>
                </c:pt>
                <c:pt idx="6">
                  <c:v>Uttar Pradesh</c:v>
                </c:pt>
                <c:pt idx="7">
                  <c:v>Telangana</c:v>
                </c:pt>
              </c:strCache>
            </c:strRef>
          </c:cat>
          <c:val>
            <c:numRef>
              <c:f>'Q1'!$E$92:$E$99</c:f>
              <c:numCache>
                <c:formatCode>_ [$₹-4009]\ * #,##0_ ;_ [$₹-4009]\ * \-#,##0_ ;_ [$₹-4009]\ * "-"??_ ;_ @_ </c:formatCode>
                <c:ptCount val="8"/>
                <c:pt idx="0">
                  <c:v>192000</c:v>
                </c:pt>
                <c:pt idx="1">
                  <c:v>335000</c:v>
                </c:pt>
                <c:pt idx="2">
                  <c:v>235000</c:v>
                </c:pt>
                <c:pt idx="3">
                  <c:v>182000</c:v>
                </c:pt>
                <c:pt idx="4">
                  <c:v>160000</c:v>
                </c:pt>
                <c:pt idx="5">
                  <c:v>128000</c:v>
                </c:pt>
                <c:pt idx="6">
                  <c:v>212000</c:v>
                </c:pt>
                <c:pt idx="7">
                  <c:v>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0D-4D26-B52C-8889B2854857}"/>
            </c:ext>
          </c:extLst>
        </c:ser>
        <c:ser>
          <c:idx val="4"/>
          <c:order val="4"/>
          <c:tx>
            <c:strRef>
              <c:f>'Q1'!$F$91</c:f>
              <c:strCache>
                <c:ptCount val="1"/>
                <c:pt idx="0">
                  <c:v>Charging Stations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54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tint val="54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tint val="54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'Q1'!$A$92:$A$99</c:f>
              <c:strCache>
                <c:ptCount val="8"/>
                <c:pt idx="0">
                  <c:v>Delhi</c:v>
                </c:pt>
                <c:pt idx="1">
                  <c:v>Maharashtra</c:v>
                </c:pt>
                <c:pt idx="2">
                  <c:v>Gujarat</c:v>
                </c:pt>
                <c:pt idx="3">
                  <c:v>Karnataka</c:v>
                </c:pt>
                <c:pt idx="4">
                  <c:v>Tamil Nadu</c:v>
                </c:pt>
                <c:pt idx="5">
                  <c:v>Rajasthan</c:v>
                </c:pt>
                <c:pt idx="6">
                  <c:v>Uttar Pradesh</c:v>
                </c:pt>
                <c:pt idx="7">
                  <c:v>Telangana</c:v>
                </c:pt>
              </c:strCache>
            </c:strRef>
          </c:cat>
          <c:val>
            <c:numRef>
              <c:f>'Q1'!$F$92:$F$99</c:f>
              <c:numCache>
                <c:formatCode>_ [$₹-4009]\ * #,##0_ ;_ [$₹-4009]\ * \-#,##0_ ;_ [$₹-4009]\ * "-"??_ ;_ @_ </c:formatCode>
                <c:ptCount val="8"/>
                <c:pt idx="0">
                  <c:v>2500</c:v>
                </c:pt>
                <c:pt idx="1">
                  <c:v>3200</c:v>
                </c:pt>
                <c:pt idx="2">
                  <c:v>1400</c:v>
                </c:pt>
                <c:pt idx="3">
                  <c:v>1800</c:v>
                </c:pt>
                <c:pt idx="4">
                  <c:v>1500</c:v>
                </c:pt>
                <c:pt idx="5">
                  <c:v>900</c:v>
                </c:pt>
                <c:pt idx="6">
                  <c:v>1700</c:v>
                </c:pt>
                <c:pt idx="7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0D-4D26-B52C-8889B285485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4103888"/>
        <c:axId val="94116848"/>
      </c:barChart>
      <c:catAx>
        <c:axId val="9410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116848"/>
        <c:crosses val="autoZero"/>
        <c:auto val="1"/>
        <c:lblAlgn val="ctr"/>
        <c:lblOffset val="100"/>
        <c:noMultiLvlLbl val="0"/>
      </c:catAx>
      <c:valAx>
        <c:axId val="94116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 [$₹-4009]\ * #,##0_ ;_ [$₹-4009]\ * \-#,##0_ ;_ [$₹-4009]\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103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C1F0C8">
        <a:alpha val="50000"/>
      </a:srgbClr>
    </a:solidFill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EV Charging Infrastructure vs EV Adoption – Top States (2025)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'Q1'!$H$123</c:f>
              <c:strCache>
                <c:ptCount val="1"/>
                <c:pt idx="0">
                  <c:v>Charging Stations</c:v>
                </c:pt>
              </c:strCache>
            </c:strRef>
          </c:tx>
          <c:spPr>
            <a:solidFill>
              <a:schemeClr val="accent3">
                <a:shade val="76000"/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'Q1'!$G$124:$G$129</c:f>
              <c:strCache>
                <c:ptCount val="6"/>
                <c:pt idx="0">
                  <c:v>Uttar Pradesh</c:v>
                </c:pt>
                <c:pt idx="1">
                  <c:v>Tamil Nadu</c:v>
                </c:pt>
                <c:pt idx="2">
                  <c:v>Maharashtra</c:v>
                </c:pt>
                <c:pt idx="3">
                  <c:v>Karnataka</c:v>
                </c:pt>
                <c:pt idx="4">
                  <c:v>Gujarat</c:v>
                </c:pt>
                <c:pt idx="5">
                  <c:v>Delhi*</c:v>
                </c:pt>
              </c:strCache>
            </c:strRef>
          </c:cat>
          <c:val>
            <c:numRef>
              <c:f>'Q1'!$H$124:$H$129</c:f>
              <c:numCache>
                <c:formatCode>#,##0</c:formatCode>
                <c:ptCount val="6"/>
                <c:pt idx="0">
                  <c:v>2901</c:v>
                </c:pt>
                <c:pt idx="1">
                  <c:v>2010</c:v>
                </c:pt>
                <c:pt idx="2">
                  <c:v>1972</c:v>
                </c:pt>
                <c:pt idx="3">
                  <c:v>1901</c:v>
                </c:pt>
                <c:pt idx="4">
                  <c:v>1470</c:v>
                </c:pt>
                <c:pt idx="5">
                  <c:v>1931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A-4B96-A631-4D71DE90B5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94023248"/>
        <c:axId val="94024208"/>
      </c:barChart>
      <c:lineChart>
        <c:grouping val="standard"/>
        <c:varyColors val="0"/>
        <c:ser>
          <c:idx val="1"/>
          <c:order val="1"/>
          <c:tx>
            <c:strRef>
              <c:f>'Q1'!$I$123</c:f>
              <c:strCache>
                <c:ptCount val="1"/>
                <c:pt idx="0">
                  <c:v>EV Penetration Rate (%)</c:v>
                </c:pt>
              </c:strCache>
            </c:strRef>
          </c:tx>
          <c:spPr>
            <a:ln w="28575" cap="rnd">
              <a:solidFill>
                <a:schemeClr val="accent3">
                  <a:tint val="77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'Q1'!$G$124:$G$129</c:f>
              <c:strCache>
                <c:ptCount val="6"/>
                <c:pt idx="0">
                  <c:v>Uttar Pradesh</c:v>
                </c:pt>
                <c:pt idx="1">
                  <c:v>Tamil Nadu</c:v>
                </c:pt>
                <c:pt idx="2">
                  <c:v>Maharashtra</c:v>
                </c:pt>
                <c:pt idx="3">
                  <c:v>Karnataka</c:v>
                </c:pt>
                <c:pt idx="4">
                  <c:v>Gujarat</c:v>
                </c:pt>
                <c:pt idx="5">
                  <c:v>Delhi*</c:v>
                </c:pt>
              </c:strCache>
            </c:strRef>
          </c:cat>
          <c:val>
            <c:numRef>
              <c:f>'Q1'!$I$124:$I$129</c:f>
              <c:numCache>
                <c:formatCode>General</c:formatCode>
                <c:ptCount val="6"/>
                <c:pt idx="0">
                  <c:v>6.5</c:v>
                </c:pt>
                <c:pt idx="1">
                  <c:v>7.5</c:v>
                </c:pt>
                <c:pt idx="2">
                  <c:v>8.5</c:v>
                </c:pt>
                <c:pt idx="3">
                  <c:v>9.9</c:v>
                </c:pt>
                <c:pt idx="4">
                  <c:v>6.5</c:v>
                </c:pt>
                <c:pt idx="5">
                  <c:v>11.5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1A-4B96-A631-4D71DE90B5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4021808"/>
        <c:axId val="94027568"/>
      </c:lineChart>
      <c:catAx>
        <c:axId val="94023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24208"/>
        <c:crosses val="autoZero"/>
        <c:auto val="1"/>
        <c:lblAlgn val="ctr"/>
        <c:lblOffset val="100"/>
        <c:noMultiLvlLbl val="0"/>
      </c:catAx>
      <c:valAx>
        <c:axId val="9402420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tx1">
                      <a:lumMod val="5000"/>
                      <a:lumOff val="95000"/>
                    </a:schemeClr>
                  </a:gs>
                  <a:gs pos="10000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23248"/>
        <c:crosses val="autoZero"/>
        <c:crossBetween val="between"/>
      </c:valAx>
      <c:valAx>
        <c:axId val="940275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21808"/>
        <c:crosses val="max"/>
        <c:crossBetween val="between"/>
      </c:valAx>
      <c:catAx>
        <c:axId val="9402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40275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C1F0C8">
        <a:alpha val="50000"/>
      </a:srgbClr>
    </a:solidFill>
    <a:ln w="9525" cap="flat" cmpd="sng" algn="ctr">
      <a:noFill/>
      <a:round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EV Manufacturing score</a:t>
            </a:r>
            <a:r>
              <a:rPr lang="en-US" baseline="0" dirty="0"/>
              <a:t> </a:t>
            </a:r>
            <a:r>
              <a:rPr lang="en-US" dirty="0"/>
              <a:t>by State (2025)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6683114610673666"/>
          <c:y val="0.19689814814814816"/>
          <c:w val="0.78439107611548553"/>
          <c:h val="0.603688028579760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'Q1'!$C$136</c:f>
              <c:strCache>
                <c:ptCount val="1"/>
                <c:pt idx="0">
                  <c:v>Subsidy Strength (0–10)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76000"/>
                    <a:shade val="51000"/>
                    <a:satMod val="130000"/>
                  </a:schemeClr>
                </a:gs>
                <a:gs pos="80000">
                  <a:schemeClr val="accent3">
                    <a:shade val="76000"/>
                    <a:shade val="93000"/>
                    <a:satMod val="130000"/>
                  </a:schemeClr>
                </a:gs>
                <a:gs pos="100000">
                  <a:schemeClr val="accent3">
                    <a:shade val="76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'Q1'!$A$137:$A$141</c:f>
              <c:strCache>
                <c:ptCount val="5"/>
                <c:pt idx="0">
                  <c:v>Tamil Nadu</c:v>
                </c:pt>
                <c:pt idx="1">
                  <c:v>Gujarat</c:v>
                </c:pt>
                <c:pt idx="2">
                  <c:v>Maharashtra</c:v>
                </c:pt>
                <c:pt idx="3">
                  <c:v>Karnataka</c:v>
                </c:pt>
                <c:pt idx="4">
                  <c:v>Delhi</c:v>
                </c:pt>
              </c:strCache>
              <c:extLst/>
            </c:strRef>
          </c:cat>
          <c:val>
            <c:numRef>
              <c:f>'Q1'!$C$137:$C$141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F1-4951-8CC1-42E0B2AB45A4}"/>
            </c:ext>
          </c:extLst>
        </c:ser>
        <c:ser>
          <c:idx val="1"/>
          <c:order val="1"/>
          <c:tx>
            <c:strRef>
              <c:f>'Q1'!$D$136</c:f>
              <c:strCache>
                <c:ptCount val="1"/>
                <c:pt idx="0">
                  <c:v>Governance Stability (0–10)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77000"/>
                    <a:shade val="51000"/>
                    <a:satMod val="130000"/>
                  </a:schemeClr>
                </a:gs>
                <a:gs pos="80000">
                  <a:schemeClr val="accent3">
                    <a:tint val="77000"/>
                    <a:shade val="93000"/>
                    <a:satMod val="130000"/>
                  </a:schemeClr>
                </a:gs>
                <a:gs pos="100000">
                  <a:schemeClr val="accent3">
                    <a:tint val="77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'Q1'!$A$137:$A$141</c:f>
              <c:strCache>
                <c:ptCount val="5"/>
                <c:pt idx="0">
                  <c:v>Tamil Nadu</c:v>
                </c:pt>
                <c:pt idx="1">
                  <c:v>Gujarat</c:v>
                </c:pt>
                <c:pt idx="2">
                  <c:v>Maharashtra</c:v>
                </c:pt>
                <c:pt idx="3">
                  <c:v>Karnataka</c:v>
                </c:pt>
                <c:pt idx="4">
                  <c:v>Delhi</c:v>
                </c:pt>
              </c:strCache>
              <c:extLst/>
            </c:strRef>
          </c:cat>
          <c:val>
            <c:numRef>
              <c:f>'Q1'!$D$137:$D$141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F1-4951-8CC1-42E0B2AB45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917575296"/>
        <c:axId val="1917593056"/>
      </c:barChart>
      <c:catAx>
        <c:axId val="1917575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593056"/>
        <c:crosses val="autoZero"/>
        <c:auto val="1"/>
        <c:lblAlgn val="ctr"/>
        <c:lblOffset val="100"/>
        <c:noMultiLvlLbl val="0"/>
      </c:catAx>
      <c:valAx>
        <c:axId val="1917593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575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C1F0C8">
        <a:alpha val="50000"/>
      </a:srgb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E7C4F3-144C-4B9C-AD10-F6A7F2096B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D8F2627-C0ED-4D28-AE81-E5C8BCC43F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Qn 2: Identify the top 5 states with the highest penetration rate in 2-wheeler and 4-wheeler EV sales in FY 2024. </a:t>
          </a:r>
          <a:endParaRPr lang="en-US"/>
        </a:p>
      </dgm:t>
    </dgm:pt>
    <dgm:pt modelId="{F45D4FE7-6C80-45C4-8263-17D17DA294A5}" type="parTrans" cxnId="{0E9C524C-32D1-4449-98E8-B9F84C7BE043}">
      <dgm:prSet/>
      <dgm:spPr/>
      <dgm:t>
        <a:bodyPr/>
        <a:lstStyle/>
        <a:p>
          <a:endParaRPr lang="en-US"/>
        </a:p>
      </dgm:t>
    </dgm:pt>
    <dgm:pt modelId="{FD257CAD-BFF6-48A3-B6D9-6F4B1C648F23}" type="sibTrans" cxnId="{0E9C524C-32D1-4449-98E8-B9F84C7BE043}">
      <dgm:prSet/>
      <dgm:spPr/>
      <dgm:t>
        <a:bodyPr/>
        <a:lstStyle/>
        <a:p>
          <a:endParaRPr lang="en-US"/>
        </a:p>
      </dgm:t>
    </dgm:pt>
    <dgm:pt modelId="{72D29C02-4161-4402-9018-1E4B92DDBB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 leads with the highest EV penetration (13.75%) </a:t>
          </a:r>
        </a:p>
      </dgm:t>
    </dgm:pt>
    <dgm:pt modelId="{52575B04-39C3-4840-95F5-C89C37E53C04}" type="parTrans" cxnId="{FEC95CF5-9BF0-4E81-B36D-D1A6299983DC}">
      <dgm:prSet/>
      <dgm:spPr/>
      <dgm:t>
        <a:bodyPr/>
        <a:lstStyle/>
        <a:p>
          <a:endParaRPr lang="en-US"/>
        </a:p>
      </dgm:t>
    </dgm:pt>
    <dgm:pt modelId="{0DF294D2-C0E6-4B9F-8D98-8D63C5A47DFA}" type="sibTrans" cxnId="{FEC95CF5-9BF0-4E81-B36D-D1A6299983DC}">
      <dgm:prSet/>
      <dgm:spPr/>
      <dgm:t>
        <a:bodyPr/>
        <a:lstStyle/>
        <a:p>
          <a:endParaRPr lang="en-US"/>
        </a:p>
      </dgm:t>
    </dgm:pt>
    <dgm:pt modelId="{BA259CB6-07AA-40BA-A439-D2A8D3D977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Southern states like Karnataka &amp; Kerala show strong adoption </a:t>
          </a:r>
        </a:p>
      </dgm:t>
    </dgm:pt>
    <dgm:pt modelId="{F1A0CB82-4BE2-48E6-9CC3-E0FB62422D0B}" type="parTrans" cxnId="{8E1608CE-C3A8-438E-8395-2769EC9171A3}">
      <dgm:prSet/>
      <dgm:spPr/>
      <dgm:t>
        <a:bodyPr/>
        <a:lstStyle/>
        <a:p>
          <a:endParaRPr lang="en-US"/>
        </a:p>
      </dgm:t>
    </dgm:pt>
    <dgm:pt modelId="{CE9B1186-0AF2-4985-9101-5427DFC67AE3}" type="sibTrans" cxnId="{8E1608CE-C3A8-438E-8395-2769EC9171A3}">
      <dgm:prSet/>
      <dgm:spPr/>
      <dgm:t>
        <a:bodyPr/>
        <a:lstStyle/>
        <a:p>
          <a:endParaRPr lang="en-US"/>
        </a:p>
      </dgm:t>
    </dgm:pt>
    <dgm:pt modelId="{53994A10-F9C2-48E2-B5DA-BC6DB69379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Large markets like Maharashtra &amp; Delhi have lower penetration % </a:t>
          </a:r>
        </a:p>
      </dgm:t>
    </dgm:pt>
    <dgm:pt modelId="{7F3E6747-2482-4119-A401-7E65B4B212FA}" type="parTrans" cxnId="{C511BFA5-88B0-482A-B41C-648E203A866A}">
      <dgm:prSet/>
      <dgm:spPr/>
      <dgm:t>
        <a:bodyPr/>
        <a:lstStyle/>
        <a:p>
          <a:endParaRPr lang="en-US"/>
        </a:p>
      </dgm:t>
    </dgm:pt>
    <dgm:pt modelId="{433F2D8F-6F2A-4CCE-A666-40B9054E7B70}" type="sibTrans" cxnId="{C511BFA5-88B0-482A-B41C-648E203A866A}">
      <dgm:prSet/>
      <dgm:spPr/>
      <dgm:t>
        <a:bodyPr/>
        <a:lstStyle/>
        <a:p>
          <a:endParaRPr lang="en-US"/>
        </a:p>
      </dgm:t>
    </dgm:pt>
    <dgm:pt modelId="{B2B8CC16-514C-4D14-9BEC-B064CF190F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Indicates untapped growth potential in metro markets </a:t>
          </a:r>
        </a:p>
      </dgm:t>
    </dgm:pt>
    <dgm:pt modelId="{5E696EA4-409A-4536-87AA-A4DD1510A680}" type="parTrans" cxnId="{6B117ACB-F63B-4D09-9627-17E91A7BBA96}">
      <dgm:prSet/>
      <dgm:spPr/>
      <dgm:t>
        <a:bodyPr/>
        <a:lstStyle/>
        <a:p>
          <a:endParaRPr lang="en-US"/>
        </a:p>
      </dgm:t>
    </dgm:pt>
    <dgm:pt modelId="{619B7339-1045-4473-88A7-4CEE2323EED2}" type="sibTrans" cxnId="{6B117ACB-F63B-4D09-9627-17E91A7BBA96}">
      <dgm:prSet/>
      <dgm:spPr/>
      <dgm:t>
        <a:bodyPr/>
        <a:lstStyle/>
        <a:p>
          <a:endParaRPr lang="en-US"/>
        </a:p>
      </dgm:t>
    </dgm:pt>
    <dgm:pt modelId="{02689C33-F254-4627-A88A-CAA8AAC07295}" type="pres">
      <dgm:prSet presAssocID="{C0E7C4F3-144C-4B9C-AD10-F6A7F2096BC6}" presName="root" presStyleCnt="0">
        <dgm:presLayoutVars>
          <dgm:dir/>
          <dgm:resizeHandles val="exact"/>
        </dgm:presLayoutVars>
      </dgm:prSet>
      <dgm:spPr/>
    </dgm:pt>
    <dgm:pt modelId="{EEA6CD00-257E-4F24-8F24-340C1BC555C7}" type="pres">
      <dgm:prSet presAssocID="{BD8F2627-C0ED-4D28-AE81-E5C8BCC43F2E}" presName="compNode" presStyleCnt="0"/>
      <dgm:spPr/>
    </dgm:pt>
    <dgm:pt modelId="{49E510BD-0AB6-41E7-BEA4-9EAAAE977E8D}" type="pres">
      <dgm:prSet presAssocID="{BD8F2627-C0ED-4D28-AE81-E5C8BCC43F2E}" presName="bgRect" presStyleLbl="bgShp" presStyleIdx="0" presStyleCnt="5"/>
      <dgm:spPr/>
    </dgm:pt>
    <dgm:pt modelId="{8551F1CA-D2D5-496A-BDFF-A0BC45F7D851}" type="pres">
      <dgm:prSet presAssocID="{BD8F2627-C0ED-4D28-AE81-E5C8BCC43F2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2D991AB0-112B-4615-8CCE-37F81F75B000}" type="pres">
      <dgm:prSet presAssocID="{BD8F2627-C0ED-4D28-AE81-E5C8BCC43F2E}" presName="spaceRect" presStyleCnt="0"/>
      <dgm:spPr/>
    </dgm:pt>
    <dgm:pt modelId="{736B7CBA-12F3-4D38-B3F2-00766DCB6566}" type="pres">
      <dgm:prSet presAssocID="{BD8F2627-C0ED-4D28-AE81-E5C8BCC43F2E}" presName="parTx" presStyleLbl="revTx" presStyleIdx="0" presStyleCnt="5">
        <dgm:presLayoutVars>
          <dgm:chMax val="0"/>
          <dgm:chPref val="0"/>
        </dgm:presLayoutVars>
      </dgm:prSet>
      <dgm:spPr/>
    </dgm:pt>
    <dgm:pt modelId="{320F0696-4511-48C9-BF21-81A4D39FFFB3}" type="pres">
      <dgm:prSet presAssocID="{FD257CAD-BFF6-48A3-B6D9-6F4B1C648F23}" presName="sibTrans" presStyleCnt="0"/>
      <dgm:spPr/>
    </dgm:pt>
    <dgm:pt modelId="{82E4B551-F4E2-443B-B335-23C7684677A3}" type="pres">
      <dgm:prSet presAssocID="{72D29C02-4161-4402-9018-1E4B92DDBB46}" presName="compNode" presStyleCnt="0"/>
      <dgm:spPr/>
    </dgm:pt>
    <dgm:pt modelId="{54E7E853-7153-432D-AC10-72D67033DFC9}" type="pres">
      <dgm:prSet presAssocID="{72D29C02-4161-4402-9018-1E4B92DDBB46}" presName="bgRect" presStyleLbl="bgShp" presStyleIdx="1" presStyleCnt="5"/>
      <dgm:spPr/>
    </dgm:pt>
    <dgm:pt modelId="{639EC888-2857-4739-B048-78DD2C8E5F61}" type="pres">
      <dgm:prSet presAssocID="{72D29C02-4161-4402-9018-1E4B92DDBB4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s"/>
        </a:ext>
      </dgm:extLst>
    </dgm:pt>
    <dgm:pt modelId="{79D51E55-4102-4FF9-8FF6-054B031C15BC}" type="pres">
      <dgm:prSet presAssocID="{72D29C02-4161-4402-9018-1E4B92DDBB46}" presName="spaceRect" presStyleCnt="0"/>
      <dgm:spPr/>
    </dgm:pt>
    <dgm:pt modelId="{FE759A3D-E005-4B9C-B82E-E2ECB524E9F2}" type="pres">
      <dgm:prSet presAssocID="{72D29C02-4161-4402-9018-1E4B92DDBB46}" presName="parTx" presStyleLbl="revTx" presStyleIdx="1" presStyleCnt="5">
        <dgm:presLayoutVars>
          <dgm:chMax val="0"/>
          <dgm:chPref val="0"/>
        </dgm:presLayoutVars>
      </dgm:prSet>
      <dgm:spPr/>
    </dgm:pt>
    <dgm:pt modelId="{664B40BD-D39E-442A-B41A-EBDDE01122FB}" type="pres">
      <dgm:prSet presAssocID="{0DF294D2-C0E6-4B9F-8D98-8D63C5A47DFA}" presName="sibTrans" presStyleCnt="0"/>
      <dgm:spPr/>
    </dgm:pt>
    <dgm:pt modelId="{4B526A8E-0004-4352-B1A8-BA501CD10747}" type="pres">
      <dgm:prSet presAssocID="{BA259CB6-07AA-40BA-A439-D2A8D3D9779A}" presName="compNode" presStyleCnt="0"/>
      <dgm:spPr/>
    </dgm:pt>
    <dgm:pt modelId="{D9CB700D-C120-4680-9058-122F01E31AD7}" type="pres">
      <dgm:prSet presAssocID="{BA259CB6-07AA-40BA-A439-D2A8D3D9779A}" presName="bgRect" presStyleLbl="bgShp" presStyleIdx="2" presStyleCnt="5"/>
      <dgm:spPr/>
    </dgm:pt>
    <dgm:pt modelId="{BB0FCC91-40CC-4539-A141-6605AA9B9E55}" type="pres">
      <dgm:prSet presAssocID="{BA259CB6-07AA-40BA-A439-D2A8D3D9779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4FEC37BF-CFCD-434F-88C7-70428B51B3A5}" type="pres">
      <dgm:prSet presAssocID="{BA259CB6-07AA-40BA-A439-D2A8D3D9779A}" presName="spaceRect" presStyleCnt="0"/>
      <dgm:spPr/>
    </dgm:pt>
    <dgm:pt modelId="{7B98DC81-B927-419B-9CD6-3F3F0EEFBBFE}" type="pres">
      <dgm:prSet presAssocID="{BA259CB6-07AA-40BA-A439-D2A8D3D9779A}" presName="parTx" presStyleLbl="revTx" presStyleIdx="2" presStyleCnt="5">
        <dgm:presLayoutVars>
          <dgm:chMax val="0"/>
          <dgm:chPref val="0"/>
        </dgm:presLayoutVars>
      </dgm:prSet>
      <dgm:spPr/>
    </dgm:pt>
    <dgm:pt modelId="{2EE2ECE9-119C-41CE-A653-0697EF6569E1}" type="pres">
      <dgm:prSet presAssocID="{CE9B1186-0AF2-4985-9101-5427DFC67AE3}" presName="sibTrans" presStyleCnt="0"/>
      <dgm:spPr/>
    </dgm:pt>
    <dgm:pt modelId="{137813F3-E2BF-4BF7-ACB3-58231D0491A6}" type="pres">
      <dgm:prSet presAssocID="{53994A10-F9C2-48E2-B5DA-BC6DB6937965}" presName="compNode" presStyleCnt="0"/>
      <dgm:spPr/>
    </dgm:pt>
    <dgm:pt modelId="{4F28690A-E2C6-44C0-BE09-792ADE232DD7}" type="pres">
      <dgm:prSet presAssocID="{53994A10-F9C2-48E2-B5DA-BC6DB6937965}" presName="bgRect" presStyleLbl="bgShp" presStyleIdx="3" presStyleCnt="5"/>
      <dgm:spPr/>
    </dgm:pt>
    <dgm:pt modelId="{16B7500E-C8D5-4E4C-8D0F-F17274194B74}" type="pres">
      <dgm:prSet presAssocID="{53994A10-F9C2-48E2-B5DA-BC6DB693796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ert scene"/>
        </a:ext>
      </dgm:extLst>
    </dgm:pt>
    <dgm:pt modelId="{9277F5A9-0DDA-45A1-8B3B-B0983E11ACAC}" type="pres">
      <dgm:prSet presAssocID="{53994A10-F9C2-48E2-B5DA-BC6DB6937965}" presName="spaceRect" presStyleCnt="0"/>
      <dgm:spPr/>
    </dgm:pt>
    <dgm:pt modelId="{9470C39C-62CC-469D-833A-45588FC21276}" type="pres">
      <dgm:prSet presAssocID="{53994A10-F9C2-48E2-B5DA-BC6DB6937965}" presName="parTx" presStyleLbl="revTx" presStyleIdx="3" presStyleCnt="5">
        <dgm:presLayoutVars>
          <dgm:chMax val="0"/>
          <dgm:chPref val="0"/>
        </dgm:presLayoutVars>
      </dgm:prSet>
      <dgm:spPr/>
    </dgm:pt>
    <dgm:pt modelId="{A76C8DC2-867B-4C71-920A-1048D8EE1A43}" type="pres">
      <dgm:prSet presAssocID="{433F2D8F-6F2A-4CCE-A666-40B9054E7B70}" presName="sibTrans" presStyleCnt="0"/>
      <dgm:spPr/>
    </dgm:pt>
    <dgm:pt modelId="{8807857C-000F-44CF-94AC-D59B7556759B}" type="pres">
      <dgm:prSet presAssocID="{B2B8CC16-514C-4D14-9BEC-B064CF190F93}" presName="compNode" presStyleCnt="0"/>
      <dgm:spPr/>
    </dgm:pt>
    <dgm:pt modelId="{BCFF913D-9E9C-4808-8A02-B9DFE2B1A5F4}" type="pres">
      <dgm:prSet presAssocID="{B2B8CC16-514C-4D14-9BEC-B064CF190F93}" presName="bgRect" presStyleLbl="bgShp" presStyleIdx="4" presStyleCnt="5"/>
      <dgm:spPr/>
    </dgm:pt>
    <dgm:pt modelId="{53976265-4609-4699-BC52-094C045E7105}" type="pres">
      <dgm:prSet presAssocID="{B2B8CC16-514C-4D14-9BEC-B064CF190F9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8CDAB88-B8EC-4B47-9616-5F497FE42481}" type="pres">
      <dgm:prSet presAssocID="{B2B8CC16-514C-4D14-9BEC-B064CF190F93}" presName="spaceRect" presStyleCnt="0"/>
      <dgm:spPr/>
    </dgm:pt>
    <dgm:pt modelId="{88581216-CD88-41BA-9B80-D7FBDE801835}" type="pres">
      <dgm:prSet presAssocID="{B2B8CC16-514C-4D14-9BEC-B064CF190F9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D32BF13-7471-4786-BF41-2F903AAF6F38}" type="presOf" srcId="{B2B8CC16-514C-4D14-9BEC-B064CF190F93}" destId="{88581216-CD88-41BA-9B80-D7FBDE801835}" srcOrd="0" destOrd="0" presId="urn:microsoft.com/office/officeart/2018/2/layout/IconVerticalSolidList"/>
    <dgm:cxn modelId="{2F47811C-482A-48CD-B44F-2017083225DF}" type="presOf" srcId="{BD8F2627-C0ED-4D28-AE81-E5C8BCC43F2E}" destId="{736B7CBA-12F3-4D38-B3F2-00766DCB6566}" srcOrd="0" destOrd="0" presId="urn:microsoft.com/office/officeart/2018/2/layout/IconVerticalSolidList"/>
    <dgm:cxn modelId="{E2ED2F2B-84D9-41F3-9D80-197904699DA5}" type="presOf" srcId="{BA259CB6-07AA-40BA-A439-D2A8D3D9779A}" destId="{7B98DC81-B927-419B-9CD6-3F3F0EEFBBFE}" srcOrd="0" destOrd="0" presId="urn:microsoft.com/office/officeart/2018/2/layout/IconVerticalSolidList"/>
    <dgm:cxn modelId="{B1846436-F41A-4EB1-B4E9-1161F000FA34}" type="presOf" srcId="{72D29C02-4161-4402-9018-1E4B92DDBB46}" destId="{FE759A3D-E005-4B9C-B82E-E2ECB524E9F2}" srcOrd="0" destOrd="0" presId="urn:microsoft.com/office/officeart/2018/2/layout/IconVerticalSolidList"/>
    <dgm:cxn modelId="{A73C6E47-F433-4AC5-AE55-0EDB4BC4DAAE}" type="presOf" srcId="{53994A10-F9C2-48E2-B5DA-BC6DB6937965}" destId="{9470C39C-62CC-469D-833A-45588FC21276}" srcOrd="0" destOrd="0" presId="urn:microsoft.com/office/officeart/2018/2/layout/IconVerticalSolidList"/>
    <dgm:cxn modelId="{0E9C524C-32D1-4449-98E8-B9F84C7BE043}" srcId="{C0E7C4F3-144C-4B9C-AD10-F6A7F2096BC6}" destId="{BD8F2627-C0ED-4D28-AE81-E5C8BCC43F2E}" srcOrd="0" destOrd="0" parTransId="{F45D4FE7-6C80-45C4-8263-17D17DA294A5}" sibTransId="{FD257CAD-BFF6-48A3-B6D9-6F4B1C648F23}"/>
    <dgm:cxn modelId="{C511BFA5-88B0-482A-B41C-648E203A866A}" srcId="{C0E7C4F3-144C-4B9C-AD10-F6A7F2096BC6}" destId="{53994A10-F9C2-48E2-B5DA-BC6DB6937965}" srcOrd="3" destOrd="0" parTransId="{7F3E6747-2482-4119-A401-7E65B4B212FA}" sibTransId="{433F2D8F-6F2A-4CCE-A666-40B9054E7B70}"/>
    <dgm:cxn modelId="{6B117ACB-F63B-4D09-9627-17E91A7BBA96}" srcId="{C0E7C4F3-144C-4B9C-AD10-F6A7F2096BC6}" destId="{B2B8CC16-514C-4D14-9BEC-B064CF190F93}" srcOrd="4" destOrd="0" parTransId="{5E696EA4-409A-4536-87AA-A4DD1510A680}" sibTransId="{619B7339-1045-4473-88A7-4CEE2323EED2}"/>
    <dgm:cxn modelId="{8E1608CE-C3A8-438E-8395-2769EC9171A3}" srcId="{C0E7C4F3-144C-4B9C-AD10-F6A7F2096BC6}" destId="{BA259CB6-07AA-40BA-A439-D2A8D3D9779A}" srcOrd="2" destOrd="0" parTransId="{F1A0CB82-4BE2-48E6-9CC3-E0FB62422D0B}" sibTransId="{CE9B1186-0AF2-4985-9101-5427DFC67AE3}"/>
    <dgm:cxn modelId="{8EAC8FD7-7D9B-4490-A479-8BE7937651BB}" type="presOf" srcId="{C0E7C4F3-144C-4B9C-AD10-F6A7F2096BC6}" destId="{02689C33-F254-4627-A88A-CAA8AAC07295}" srcOrd="0" destOrd="0" presId="urn:microsoft.com/office/officeart/2018/2/layout/IconVerticalSolidList"/>
    <dgm:cxn modelId="{FEC95CF5-9BF0-4E81-B36D-D1A6299983DC}" srcId="{C0E7C4F3-144C-4B9C-AD10-F6A7F2096BC6}" destId="{72D29C02-4161-4402-9018-1E4B92DDBB46}" srcOrd="1" destOrd="0" parTransId="{52575B04-39C3-4840-95F5-C89C37E53C04}" sibTransId="{0DF294D2-C0E6-4B9F-8D98-8D63C5A47DFA}"/>
    <dgm:cxn modelId="{0CE61D2B-485A-4411-83DD-60E8D881E567}" type="presParOf" srcId="{02689C33-F254-4627-A88A-CAA8AAC07295}" destId="{EEA6CD00-257E-4F24-8F24-340C1BC555C7}" srcOrd="0" destOrd="0" presId="urn:microsoft.com/office/officeart/2018/2/layout/IconVerticalSolidList"/>
    <dgm:cxn modelId="{2D4524FA-07CA-44F2-872E-92A88096102D}" type="presParOf" srcId="{EEA6CD00-257E-4F24-8F24-340C1BC555C7}" destId="{49E510BD-0AB6-41E7-BEA4-9EAAAE977E8D}" srcOrd="0" destOrd="0" presId="urn:microsoft.com/office/officeart/2018/2/layout/IconVerticalSolidList"/>
    <dgm:cxn modelId="{3D84D00F-0E24-490F-AFB1-4CEC6DC577BB}" type="presParOf" srcId="{EEA6CD00-257E-4F24-8F24-340C1BC555C7}" destId="{8551F1CA-D2D5-496A-BDFF-A0BC45F7D851}" srcOrd="1" destOrd="0" presId="urn:microsoft.com/office/officeart/2018/2/layout/IconVerticalSolidList"/>
    <dgm:cxn modelId="{CA16B353-84DF-48EC-94BE-EF8A0483B891}" type="presParOf" srcId="{EEA6CD00-257E-4F24-8F24-340C1BC555C7}" destId="{2D991AB0-112B-4615-8CCE-37F81F75B000}" srcOrd="2" destOrd="0" presId="urn:microsoft.com/office/officeart/2018/2/layout/IconVerticalSolidList"/>
    <dgm:cxn modelId="{806AF04A-8A76-4DF3-BF7A-9E070024D405}" type="presParOf" srcId="{EEA6CD00-257E-4F24-8F24-340C1BC555C7}" destId="{736B7CBA-12F3-4D38-B3F2-00766DCB6566}" srcOrd="3" destOrd="0" presId="urn:microsoft.com/office/officeart/2018/2/layout/IconVerticalSolidList"/>
    <dgm:cxn modelId="{949DDE79-8AD4-437E-B8BA-A3F4C1721FC7}" type="presParOf" srcId="{02689C33-F254-4627-A88A-CAA8AAC07295}" destId="{320F0696-4511-48C9-BF21-81A4D39FFFB3}" srcOrd="1" destOrd="0" presId="urn:microsoft.com/office/officeart/2018/2/layout/IconVerticalSolidList"/>
    <dgm:cxn modelId="{E30A2460-A8C4-428F-B1D3-777309E3265E}" type="presParOf" srcId="{02689C33-F254-4627-A88A-CAA8AAC07295}" destId="{82E4B551-F4E2-443B-B335-23C7684677A3}" srcOrd="2" destOrd="0" presId="urn:microsoft.com/office/officeart/2018/2/layout/IconVerticalSolidList"/>
    <dgm:cxn modelId="{961EF0EB-D501-4A35-9B42-8A3D30713FBA}" type="presParOf" srcId="{82E4B551-F4E2-443B-B335-23C7684677A3}" destId="{54E7E853-7153-432D-AC10-72D67033DFC9}" srcOrd="0" destOrd="0" presId="urn:microsoft.com/office/officeart/2018/2/layout/IconVerticalSolidList"/>
    <dgm:cxn modelId="{64AC2C80-FE28-4C9D-B489-0A44BFE6E8A4}" type="presParOf" srcId="{82E4B551-F4E2-443B-B335-23C7684677A3}" destId="{639EC888-2857-4739-B048-78DD2C8E5F61}" srcOrd="1" destOrd="0" presId="urn:microsoft.com/office/officeart/2018/2/layout/IconVerticalSolidList"/>
    <dgm:cxn modelId="{0EABD19F-A32E-42A2-B013-3C87573338F8}" type="presParOf" srcId="{82E4B551-F4E2-443B-B335-23C7684677A3}" destId="{79D51E55-4102-4FF9-8FF6-054B031C15BC}" srcOrd="2" destOrd="0" presId="urn:microsoft.com/office/officeart/2018/2/layout/IconVerticalSolidList"/>
    <dgm:cxn modelId="{E4262C35-3CA1-424D-811E-71A7CE29A48E}" type="presParOf" srcId="{82E4B551-F4E2-443B-B335-23C7684677A3}" destId="{FE759A3D-E005-4B9C-B82E-E2ECB524E9F2}" srcOrd="3" destOrd="0" presId="urn:microsoft.com/office/officeart/2018/2/layout/IconVerticalSolidList"/>
    <dgm:cxn modelId="{716532FB-6B5F-4614-9F47-1EBD047D0AE3}" type="presParOf" srcId="{02689C33-F254-4627-A88A-CAA8AAC07295}" destId="{664B40BD-D39E-442A-B41A-EBDDE01122FB}" srcOrd="3" destOrd="0" presId="urn:microsoft.com/office/officeart/2018/2/layout/IconVerticalSolidList"/>
    <dgm:cxn modelId="{BB7E8000-5337-418E-8630-EA6014B9D220}" type="presParOf" srcId="{02689C33-F254-4627-A88A-CAA8AAC07295}" destId="{4B526A8E-0004-4352-B1A8-BA501CD10747}" srcOrd="4" destOrd="0" presId="urn:microsoft.com/office/officeart/2018/2/layout/IconVerticalSolidList"/>
    <dgm:cxn modelId="{13A7B366-39A1-41FE-8613-1D9D6F3CC713}" type="presParOf" srcId="{4B526A8E-0004-4352-B1A8-BA501CD10747}" destId="{D9CB700D-C120-4680-9058-122F01E31AD7}" srcOrd="0" destOrd="0" presId="urn:microsoft.com/office/officeart/2018/2/layout/IconVerticalSolidList"/>
    <dgm:cxn modelId="{E1B10BAD-F750-4920-9848-2391A3E1BB68}" type="presParOf" srcId="{4B526A8E-0004-4352-B1A8-BA501CD10747}" destId="{BB0FCC91-40CC-4539-A141-6605AA9B9E55}" srcOrd="1" destOrd="0" presId="urn:microsoft.com/office/officeart/2018/2/layout/IconVerticalSolidList"/>
    <dgm:cxn modelId="{0EF340F3-B788-4434-8F1F-3F099A0B1D52}" type="presParOf" srcId="{4B526A8E-0004-4352-B1A8-BA501CD10747}" destId="{4FEC37BF-CFCD-434F-88C7-70428B51B3A5}" srcOrd="2" destOrd="0" presId="urn:microsoft.com/office/officeart/2018/2/layout/IconVerticalSolidList"/>
    <dgm:cxn modelId="{EE1BAFD5-A63B-40B6-ACEF-3077572224D1}" type="presParOf" srcId="{4B526A8E-0004-4352-B1A8-BA501CD10747}" destId="{7B98DC81-B927-419B-9CD6-3F3F0EEFBBFE}" srcOrd="3" destOrd="0" presId="urn:microsoft.com/office/officeart/2018/2/layout/IconVerticalSolidList"/>
    <dgm:cxn modelId="{2E52C7B5-958C-4479-BEB2-E43202AABE2B}" type="presParOf" srcId="{02689C33-F254-4627-A88A-CAA8AAC07295}" destId="{2EE2ECE9-119C-41CE-A653-0697EF6569E1}" srcOrd="5" destOrd="0" presId="urn:microsoft.com/office/officeart/2018/2/layout/IconVerticalSolidList"/>
    <dgm:cxn modelId="{4524BFF0-4305-4954-B9F0-73BEEB741C2F}" type="presParOf" srcId="{02689C33-F254-4627-A88A-CAA8AAC07295}" destId="{137813F3-E2BF-4BF7-ACB3-58231D0491A6}" srcOrd="6" destOrd="0" presId="urn:microsoft.com/office/officeart/2018/2/layout/IconVerticalSolidList"/>
    <dgm:cxn modelId="{74827E15-36C6-4C45-AD0D-BE48F8822245}" type="presParOf" srcId="{137813F3-E2BF-4BF7-ACB3-58231D0491A6}" destId="{4F28690A-E2C6-44C0-BE09-792ADE232DD7}" srcOrd="0" destOrd="0" presId="urn:microsoft.com/office/officeart/2018/2/layout/IconVerticalSolidList"/>
    <dgm:cxn modelId="{5850B8E1-E688-479C-9E68-A37C4E0268C0}" type="presParOf" srcId="{137813F3-E2BF-4BF7-ACB3-58231D0491A6}" destId="{16B7500E-C8D5-4E4C-8D0F-F17274194B74}" srcOrd="1" destOrd="0" presId="urn:microsoft.com/office/officeart/2018/2/layout/IconVerticalSolidList"/>
    <dgm:cxn modelId="{EFA237F5-075A-425F-BBB1-88550368090F}" type="presParOf" srcId="{137813F3-E2BF-4BF7-ACB3-58231D0491A6}" destId="{9277F5A9-0DDA-45A1-8B3B-B0983E11ACAC}" srcOrd="2" destOrd="0" presId="urn:microsoft.com/office/officeart/2018/2/layout/IconVerticalSolidList"/>
    <dgm:cxn modelId="{63DCFA36-F52E-4491-997F-5201E69920B3}" type="presParOf" srcId="{137813F3-E2BF-4BF7-ACB3-58231D0491A6}" destId="{9470C39C-62CC-469D-833A-45588FC21276}" srcOrd="3" destOrd="0" presId="urn:microsoft.com/office/officeart/2018/2/layout/IconVerticalSolidList"/>
    <dgm:cxn modelId="{83E0D594-7287-4A99-8EAF-186FA7D50A05}" type="presParOf" srcId="{02689C33-F254-4627-A88A-CAA8AAC07295}" destId="{A76C8DC2-867B-4C71-920A-1048D8EE1A43}" srcOrd="7" destOrd="0" presId="urn:microsoft.com/office/officeart/2018/2/layout/IconVerticalSolidList"/>
    <dgm:cxn modelId="{6E45706D-3632-4429-8B27-757CF1D2D90E}" type="presParOf" srcId="{02689C33-F254-4627-A88A-CAA8AAC07295}" destId="{8807857C-000F-44CF-94AC-D59B7556759B}" srcOrd="8" destOrd="0" presId="urn:microsoft.com/office/officeart/2018/2/layout/IconVerticalSolidList"/>
    <dgm:cxn modelId="{4E5AF9CE-AA0B-4298-8654-7B003DD4AB96}" type="presParOf" srcId="{8807857C-000F-44CF-94AC-D59B7556759B}" destId="{BCFF913D-9E9C-4808-8A02-B9DFE2B1A5F4}" srcOrd="0" destOrd="0" presId="urn:microsoft.com/office/officeart/2018/2/layout/IconVerticalSolidList"/>
    <dgm:cxn modelId="{A7B6786A-7982-42FA-9161-EE71BB65DF94}" type="presParOf" srcId="{8807857C-000F-44CF-94AC-D59B7556759B}" destId="{53976265-4609-4699-BC52-094C045E7105}" srcOrd="1" destOrd="0" presId="urn:microsoft.com/office/officeart/2018/2/layout/IconVerticalSolidList"/>
    <dgm:cxn modelId="{88FBA319-0716-40BA-8F24-C6589479B9A4}" type="presParOf" srcId="{8807857C-000F-44CF-94AC-D59B7556759B}" destId="{98CDAB88-B8EC-4B47-9616-5F497FE42481}" srcOrd="2" destOrd="0" presId="urn:microsoft.com/office/officeart/2018/2/layout/IconVerticalSolidList"/>
    <dgm:cxn modelId="{374F9857-AA8D-4DE0-A070-3A43FE1ABDC4}" type="presParOf" srcId="{8807857C-000F-44CF-94AC-D59B7556759B}" destId="{88581216-CD88-41BA-9B80-D7FBDE8018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510BD-0AB6-41E7-BEA4-9EAAAE977E8D}">
      <dsp:nvSpPr>
        <dsp:cNvPr id="0" name=""/>
        <dsp:cNvSpPr/>
      </dsp:nvSpPr>
      <dsp:spPr>
        <a:xfrm>
          <a:off x="0" y="4688"/>
          <a:ext cx="7471262" cy="9987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51F1CA-D2D5-496A-BDFF-A0BC45F7D851}">
      <dsp:nvSpPr>
        <dsp:cNvPr id="0" name=""/>
        <dsp:cNvSpPr/>
      </dsp:nvSpPr>
      <dsp:spPr>
        <a:xfrm>
          <a:off x="302114" y="229401"/>
          <a:ext cx="549298" cy="549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B7CBA-12F3-4D38-B3F2-00766DCB6566}">
      <dsp:nvSpPr>
        <dsp:cNvPr id="0" name=""/>
        <dsp:cNvSpPr/>
      </dsp:nvSpPr>
      <dsp:spPr>
        <a:xfrm>
          <a:off x="1153526" y="4688"/>
          <a:ext cx="6317735" cy="998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698" tIns="105698" rIns="105698" bIns="1056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Qn 2: Identify the top 5 states with the highest penetration rate in 2-wheeler and 4-wheeler EV sales in FY 2024. </a:t>
          </a:r>
          <a:endParaRPr lang="en-US" sz="1900" kern="1200"/>
        </a:p>
      </dsp:txBody>
      <dsp:txXfrm>
        <a:off x="1153526" y="4688"/>
        <a:ext cx="6317735" cy="998724"/>
      </dsp:txXfrm>
    </dsp:sp>
    <dsp:sp modelId="{54E7E853-7153-432D-AC10-72D67033DFC9}">
      <dsp:nvSpPr>
        <dsp:cNvPr id="0" name=""/>
        <dsp:cNvSpPr/>
      </dsp:nvSpPr>
      <dsp:spPr>
        <a:xfrm>
          <a:off x="0" y="1253094"/>
          <a:ext cx="7471262" cy="9987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EC888-2857-4739-B048-78DD2C8E5F61}">
      <dsp:nvSpPr>
        <dsp:cNvPr id="0" name=""/>
        <dsp:cNvSpPr/>
      </dsp:nvSpPr>
      <dsp:spPr>
        <a:xfrm>
          <a:off x="302114" y="1477807"/>
          <a:ext cx="549298" cy="549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59A3D-E005-4B9C-B82E-E2ECB524E9F2}">
      <dsp:nvSpPr>
        <dsp:cNvPr id="0" name=""/>
        <dsp:cNvSpPr/>
      </dsp:nvSpPr>
      <dsp:spPr>
        <a:xfrm>
          <a:off x="1153526" y="1253094"/>
          <a:ext cx="6317735" cy="998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698" tIns="105698" rIns="105698" bIns="1056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Goa leads with the highest EV penetration (13.75%) </a:t>
          </a:r>
        </a:p>
      </dsp:txBody>
      <dsp:txXfrm>
        <a:off x="1153526" y="1253094"/>
        <a:ext cx="6317735" cy="998724"/>
      </dsp:txXfrm>
    </dsp:sp>
    <dsp:sp modelId="{D9CB700D-C120-4680-9058-122F01E31AD7}">
      <dsp:nvSpPr>
        <dsp:cNvPr id="0" name=""/>
        <dsp:cNvSpPr/>
      </dsp:nvSpPr>
      <dsp:spPr>
        <a:xfrm>
          <a:off x="0" y="2501499"/>
          <a:ext cx="7471262" cy="9987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FCC91-40CC-4539-A141-6605AA9B9E55}">
      <dsp:nvSpPr>
        <dsp:cNvPr id="0" name=""/>
        <dsp:cNvSpPr/>
      </dsp:nvSpPr>
      <dsp:spPr>
        <a:xfrm>
          <a:off x="302114" y="2726212"/>
          <a:ext cx="549298" cy="549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8DC81-B927-419B-9CD6-3F3F0EEFBBFE}">
      <dsp:nvSpPr>
        <dsp:cNvPr id="0" name=""/>
        <dsp:cNvSpPr/>
      </dsp:nvSpPr>
      <dsp:spPr>
        <a:xfrm>
          <a:off x="1153526" y="2501499"/>
          <a:ext cx="6317735" cy="998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698" tIns="105698" rIns="105698" bIns="1056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Southern states like Karnataka &amp; Kerala show strong adoption </a:t>
          </a:r>
        </a:p>
      </dsp:txBody>
      <dsp:txXfrm>
        <a:off x="1153526" y="2501499"/>
        <a:ext cx="6317735" cy="998724"/>
      </dsp:txXfrm>
    </dsp:sp>
    <dsp:sp modelId="{4F28690A-E2C6-44C0-BE09-792ADE232DD7}">
      <dsp:nvSpPr>
        <dsp:cNvPr id="0" name=""/>
        <dsp:cNvSpPr/>
      </dsp:nvSpPr>
      <dsp:spPr>
        <a:xfrm>
          <a:off x="0" y="3749904"/>
          <a:ext cx="7471262" cy="9987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7500E-C8D5-4E4C-8D0F-F17274194B74}">
      <dsp:nvSpPr>
        <dsp:cNvPr id="0" name=""/>
        <dsp:cNvSpPr/>
      </dsp:nvSpPr>
      <dsp:spPr>
        <a:xfrm>
          <a:off x="302114" y="3974617"/>
          <a:ext cx="549298" cy="549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0C39C-62CC-469D-833A-45588FC21276}">
      <dsp:nvSpPr>
        <dsp:cNvPr id="0" name=""/>
        <dsp:cNvSpPr/>
      </dsp:nvSpPr>
      <dsp:spPr>
        <a:xfrm>
          <a:off x="1153526" y="3749904"/>
          <a:ext cx="6317735" cy="998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698" tIns="105698" rIns="105698" bIns="1056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Large markets like Maharashtra &amp; Delhi have lower penetration % </a:t>
          </a:r>
        </a:p>
      </dsp:txBody>
      <dsp:txXfrm>
        <a:off x="1153526" y="3749904"/>
        <a:ext cx="6317735" cy="998724"/>
      </dsp:txXfrm>
    </dsp:sp>
    <dsp:sp modelId="{BCFF913D-9E9C-4808-8A02-B9DFE2B1A5F4}">
      <dsp:nvSpPr>
        <dsp:cNvPr id="0" name=""/>
        <dsp:cNvSpPr/>
      </dsp:nvSpPr>
      <dsp:spPr>
        <a:xfrm>
          <a:off x="0" y="4998309"/>
          <a:ext cx="7471262" cy="9987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76265-4609-4699-BC52-094C045E7105}">
      <dsp:nvSpPr>
        <dsp:cNvPr id="0" name=""/>
        <dsp:cNvSpPr/>
      </dsp:nvSpPr>
      <dsp:spPr>
        <a:xfrm>
          <a:off x="302114" y="5223022"/>
          <a:ext cx="549298" cy="549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81216-CD88-41BA-9B80-D7FBDE801835}">
      <dsp:nvSpPr>
        <dsp:cNvPr id="0" name=""/>
        <dsp:cNvSpPr/>
      </dsp:nvSpPr>
      <dsp:spPr>
        <a:xfrm>
          <a:off x="1153526" y="4998309"/>
          <a:ext cx="6317735" cy="998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698" tIns="105698" rIns="105698" bIns="1056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Indicates untapped growth potential in metro markets </a:t>
          </a:r>
        </a:p>
      </dsp:txBody>
      <dsp:txXfrm>
        <a:off x="1153526" y="4998309"/>
        <a:ext cx="6317735" cy="998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E8FFF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E8FFF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1193680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4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6584" y="938841"/>
            <a:ext cx="13835380" cy="929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9632" y="3910609"/>
            <a:ext cx="8105775" cy="266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E8FFF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../Downloads/India-s-Electric-Vehicle-Revolution%20Research%20pdf.pdf" TargetMode="External"/><Relationship Id="rId4" Type="http://schemas.openxmlformats.org/officeDocument/2006/relationships/chart" Target="../charts/char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hyperlink" Target="https://hannahritchie.substack.com/p/ev-fossil-cars-climat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../Downloads/India-s-Electric-Vehicle-Revolution%20Research%20pdf.pdf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ef.org/industry/electric-vehicles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ize.data.gov.in/?inst=34609614-1e3f-4fc6-b5c5-e05f1c8ec362&amp;vid=111939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hart" Target="../charts/char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granjosh.com/general-knowledge/list-of-top-indian-states-in-business-environment-rankings-1820000858-1?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hart" Target="../charts/char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099073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bject 2"/>
          <p:cNvSpPr/>
          <p:nvPr/>
        </p:nvSpPr>
        <p:spPr>
          <a:xfrm>
            <a:off x="1055465" y="7878845"/>
            <a:ext cx="5637772" cy="2328689"/>
          </a:xfrm>
          <a:custGeom>
            <a:avLst/>
            <a:gdLst/>
            <a:ahLst/>
            <a:cxnLst/>
            <a:rect l="l" t="t" r="r" b="b"/>
            <a:pathLst>
              <a:path w="9636125" h="1366520">
                <a:moveTo>
                  <a:pt x="9635832" y="1366450"/>
                </a:moveTo>
                <a:lnTo>
                  <a:pt x="0" y="1366450"/>
                </a:lnTo>
                <a:lnTo>
                  <a:pt x="0" y="0"/>
                </a:lnTo>
                <a:lnTo>
                  <a:pt x="9635832" y="0"/>
                </a:lnTo>
                <a:lnTo>
                  <a:pt x="9635832" y="1366450"/>
                </a:lnTo>
                <a:close/>
              </a:path>
            </a:pathLst>
          </a:cu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AtliQ motors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89EB4D-65A7-3E19-EB8E-6E691E349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96"/>
          <a:stretch>
            <a:fillRect/>
          </a:stretch>
        </p:blipFill>
        <p:spPr>
          <a:xfrm>
            <a:off x="20" y="10"/>
            <a:ext cx="20104080" cy="7517178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46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7260" y="9017478"/>
            <a:ext cx="2261870" cy="30156"/>
          </a:xfrm>
          <a:custGeom>
            <a:avLst/>
            <a:gdLst>
              <a:gd name="csX0" fmla="*/ 0 w 2261870"/>
              <a:gd name="csY0" fmla="*/ 0 h 30156"/>
              <a:gd name="csX1" fmla="*/ 542849 w 2261870"/>
              <a:gd name="csY1" fmla="*/ 0 h 30156"/>
              <a:gd name="csX2" fmla="*/ 1085698 w 2261870"/>
              <a:gd name="csY2" fmla="*/ 0 h 30156"/>
              <a:gd name="csX3" fmla="*/ 1605928 w 2261870"/>
              <a:gd name="csY3" fmla="*/ 0 h 30156"/>
              <a:gd name="csX4" fmla="*/ 2261870 w 2261870"/>
              <a:gd name="csY4" fmla="*/ 0 h 30156"/>
              <a:gd name="csX5" fmla="*/ 2261870 w 2261870"/>
              <a:gd name="csY5" fmla="*/ 30156 h 30156"/>
              <a:gd name="csX6" fmla="*/ 1673784 w 2261870"/>
              <a:gd name="csY6" fmla="*/ 30156 h 30156"/>
              <a:gd name="csX7" fmla="*/ 1176172 w 2261870"/>
              <a:gd name="csY7" fmla="*/ 30156 h 30156"/>
              <a:gd name="csX8" fmla="*/ 610705 w 2261870"/>
              <a:gd name="csY8" fmla="*/ 30156 h 30156"/>
              <a:gd name="csX9" fmla="*/ 0 w 2261870"/>
              <a:gd name="csY9" fmla="*/ 30156 h 30156"/>
              <a:gd name="csX10" fmla="*/ 0 w 2261870"/>
              <a:gd name="csY10" fmla="*/ 0 h 30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261870" h="30156" fill="none" extrusionOk="0">
                <a:moveTo>
                  <a:pt x="0" y="0"/>
                </a:moveTo>
                <a:cubicBezTo>
                  <a:pt x="183455" y="26594"/>
                  <a:pt x="355938" y="15467"/>
                  <a:pt x="542849" y="0"/>
                </a:cubicBezTo>
                <a:cubicBezTo>
                  <a:pt x="729760" y="-15467"/>
                  <a:pt x="826779" y="8214"/>
                  <a:pt x="1085698" y="0"/>
                </a:cubicBezTo>
                <a:cubicBezTo>
                  <a:pt x="1344617" y="-8214"/>
                  <a:pt x="1354442" y="-903"/>
                  <a:pt x="1605928" y="0"/>
                </a:cubicBezTo>
                <a:cubicBezTo>
                  <a:pt x="1857414" y="903"/>
                  <a:pt x="2089462" y="10818"/>
                  <a:pt x="2261870" y="0"/>
                </a:cubicBezTo>
                <a:cubicBezTo>
                  <a:pt x="2262567" y="6783"/>
                  <a:pt x="2261113" y="16056"/>
                  <a:pt x="2261870" y="30156"/>
                </a:cubicBezTo>
                <a:cubicBezTo>
                  <a:pt x="2063662" y="23517"/>
                  <a:pt x="1890549" y="45414"/>
                  <a:pt x="1673784" y="30156"/>
                </a:cubicBezTo>
                <a:cubicBezTo>
                  <a:pt x="1457019" y="14898"/>
                  <a:pt x="1351797" y="42003"/>
                  <a:pt x="1176172" y="30156"/>
                </a:cubicBezTo>
                <a:cubicBezTo>
                  <a:pt x="1000547" y="18309"/>
                  <a:pt x="875721" y="56130"/>
                  <a:pt x="610705" y="30156"/>
                </a:cubicBezTo>
                <a:cubicBezTo>
                  <a:pt x="345689" y="4182"/>
                  <a:pt x="276230" y="8503"/>
                  <a:pt x="0" y="30156"/>
                </a:cubicBezTo>
                <a:cubicBezTo>
                  <a:pt x="-748" y="23668"/>
                  <a:pt x="78" y="8265"/>
                  <a:pt x="0" y="0"/>
                </a:cubicBezTo>
                <a:close/>
              </a:path>
              <a:path w="2261870" h="30156" stroke="0" extrusionOk="0">
                <a:moveTo>
                  <a:pt x="0" y="0"/>
                </a:moveTo>
                <a:cubicBezTo>
                  <a:pt x="226344" y="-1326"/>
                  <a:pt x="339773" y="-2271"/>
                  <a:pt x="497611" y="0"/>
                </a:cubicBezTo>
                <a:cubicBezTo>
                  <a:pt x="655449" y="2271"/>
                  <a:pt x="902250" y="-3446"/>
                  <a:pt x="1040460" y="0"/>
                </a:cubicBezTo>
                <a:cubicBezTo>
                  <a:pt x="1178670" y="3446"/>
                  <a:pt x="1346204" y="23229"/>
                  <a:pt x="1628546" y="0"/>
                </a:cubicBezTo>
                <a:cubicBezTo>
                  <a:pt x="1910888" y="-23229"/>
                  <a:pt x="2109634" y="-20527"/>
                  <a:pt x="2261870" y="0"/>
                </a:cubicBezTo>
                <a:cubicBezTo>
                  <a:pt x="2261884" y="12112"/>
                  <a:pt x="2262729" y="20479"/>
                  <a:pt x="2261870" y="30156"/>
                </a:cubicBezTo>
                <a:cubicBezTo>
                  <a:pt x="2061972" y="47706"/>
                  <a:pt x="1951518" y="13174"/>
                  <a:pt x="1651165" y="30156"/>
                </a:cubicBezTo>
                <a:cubicBezTo>
                  <a:pt x="1350812" y="47138"/>
                  <a:pt x="1275562" y="54245"/>
                  <a:pt x="1108316" y="30156"/>
                </a:cubicBezTo>
                <a:cubicBezTo>
                  <a:pt x="941070" y="6067"/>
                  <a:pt x="802103" y="37221"/>
                  <a:pt x="542849" y="30156"/>
                </a:cubicBezTo>
                <a:cubicBezTo>
                  <a:pt x="283595" y="23091"/>
                  <a:pt x="269357" y="14035"/>
                  <a:pt x="0" y="30156"/>
                </a:cubicBezTo>
                <a:cubicBezTo>
                  <a:pt x="-887" y="18628"/>
                  <a:pt x="506" y="78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bject 9"/>
          <p:cNvSpPr txBox="1"/>
          <p:nvPr/>
        </p:nvSpPr>
        <p:spPr>
          <a:xfrm>
            <a:off x="7674736" y="7878845"/>
            <a:ext cx="11373898" cy="2307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l" rtl="0">
              <a:lnSpc>
                <a:spcPct val="90000"/>
              </a:lnSpc>
              <a:spcBef>
                <a:spcPts val="844"/>
              </a:spcBef>
            </a:pPr>
            <a:r>
              <a:rPr lang="en-US" sz="2800" kern="1200" spc="-29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A</a:t>
            </a:r>
            <a:r>
              <a:rPr lang="en-US" sz="2800" kern="1200" spc="5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Data-Driven</a:t>
            </a:r>
            <a:r>
              <a:rPr lang="en-US" sz="2800" b="1" kern="1200" spc="-204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3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Blueprint</a:t>
            </a:r>
            <a:r>
              <a:rPr lang="en-US" sz="2800" b="1" kern="1200" spc="114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for</a:t>
            </a:r>
            <a:r>
              <a:rPr lang="en-US" sz="2800" b="1" kern="1200" spc="11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10" dirty="0" err="1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AtliQ</a:t>
            </a:r>
            <a:r>
              <a:rPr lang="en-US" sz="2800" b="1" kern="1200" spc="-4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2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Motors'</a:t>
            </a:r>
            <a:r>
              <a:rPr lang="en-US" sz="2800" b="1" kern="1200" spc="-3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1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India</a:t>
            </a:r>
            <a:r>
              <a:rPr lang="en-US" sz="2800" b="1" kern="1200" spc="-14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Entry</a:t>
            </a:r>
            <a:r>
              <a:rPr lang="en-US" sz="2800" b="1" kern="1200" spc="-6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1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.</a:t>
            </a:r>
            <a:endParaRPr lang="en-US" sz="2800" b="1" kern="1200" dirty="0">
              <a:solidFill>
                <a:schemeClr val="tx1"/>
              </a:solidFill>
              <a:latin typeface="Bahnschrift SemiBold" panose="020B0502040204020203" pitchFamily="34" charset="0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Bef>
                <a:spcPts val="765"/>
              </a:spcBef>
            </a:pPr>
            <a:r>
              <a:rPr lang="en-US" sz="2800" b="1" kern="1200" spc="-10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Unlocking</a:t>
            </a:r>
            <a:r>
              <a:rPr lang="en-US" sz="2800" b="1" kern="1200" spc="-114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1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the</a:t>
            </a:r>
            <a:r>
              <a:rPr lang="en-US" sz="2800" b="1" kern="1200" spc="-204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11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world's</a:t>
            </a:r>
            <a:r>
              <a:rPr lang="en-US" sz="2800" b="1" kern="1200" spc="-10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7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most</a:t>
            </a:r>
            <a:r>
              <a:rPr lang="en-US" sz="2800" b="1" kern="1200" spc="-14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6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dynamic</a:t>
            </a:r>
            <a:r>
              <a:rPr lang="en-US" sz="2800" b="1" kern="1200" spc="-15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41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EV</a:t>
            </a:r>
            <a:r>
              <a:rPr lang="en-US" sz="2800" b="1" kern="1200" spc="4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1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market</a:t>
            </a:r>
            <a:r>
              <a:rPr lang="en-US" sz="2800" b="1" kern="1200" spc="-10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9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through</a:t>
            </a:r>
            <a:r>
              <a:rPr lang="en-US" sz="2800" b="1" kern="1200" spc="-12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4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strategic</a:t>
            </a:r>
            <a:r>
              <a:rPr lang="en-US" sz="2800" b="1" kern="1200" spc="-65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4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disruption.</a:t>
            </a:r>
            <a:endParaRPr lang="en-US" sz="2800" b="1" kern="1200" dirty="0">
              <a:solidFill>
                <a:schemeClr val="tx1"/>
              </a:solidFill>
              <a:latin typeface="Bahnschrift SemiBold" panose="020B0502040204020203" pitchFamily="34" charset="0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Bef>
                <a:spcPts val="2110"/>
              </a:spcBef>
            </a:pPr>
            <a:endParaRPr lang="en-US" sz="28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22860" algn="l" rtl="0">
              <a:lnSpc>
                <a:spcPct val="90000"/>
              </a:lnSpc>
            </a:pPr>
            <a:r>
              <a:rPr lang="en-US" sz="2800" b="1" kern="1200" spc="-20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DETECT.</a:t>
            </a:r>
            <a:r>
              <a:rPr lang="en-US" sz="2800" b="1" kern="1200" spc="-5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10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ANALYZE.</a:t>
            </a:r>
            <a:r>
              <a:rPr lang="en-US" sz="2800" b="1" kern="1200" spc="-9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 </a:t>
            </a:r>
            <a:r>
              <a:rPr lang="en-US" sz="2800" b="1" kern="1200" spc="-10" dirty="0">
                <a:solidFill>
                  <a:schemeClr val="tx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AUTOMATE.</a:t>
            </a:r>
            <a:endParaRPr lang="en-US" sz="2800" b="1" kern="1200" dirty="0">
              <a:solidFill>
                <a:schemeClr val="tx1"/>
              </a:solidFill>
              <a:latin typeface="Bahnschrift SemiBold" panose="020B0502040204020203" pitchFamily="34" charset="0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F7651F3-B2F1-B7E8-1D63-E4484C9AF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BF3EF-4A21-6F31-BF7B-F5E36173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099073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4017" y="2772990"/>
            <a:ext cx="18093690" cy="30158"/>
          </a:xfrm>
          <a:custGeom>
            <a:avLst/>
            <a:gdLst>
              <a:gd name="csX0" fmla="*/ 0 w 18093690"/>
              <a:gd name="csY0" fmla="*/ 0 h 30158"/>
              <a:gd name="csX1" fmla="*/ 876848 w 18093690"/>
              <a:gd name="csY1" fmla="*/ 0 h 30158"/>
              <a:gd name="csX2" fmla="*/ 1391822 w 18093690"/>
              <a:gd name="csY2" fmla="*/ 0 h 30158"/>
              <a:gd name="csX3" fmla="*/ 1725860 w 18093690"/>
              <a:gd name="csY3" fmla="*/ 0 h 30158"/>
              <a:gd name="csX4" fmla="*/ 2602708 w 18093690"/>
              <a:gd name="csY4" fmla="*/ 0 h 30158"/>
              <a:gd name="csX5" fmla="*/ 2936745 w 18093690"/>
              <a:gd name="csY5" fmla="*/ 0 h 30158"/>
              <a:gd name="csX6" fmla="*/ 3994530 w 18093690"/>
              <a:gd name="csY6" fmla="*/ 0 h 30158"/>
              <a:gd name="csX7" fmla="*/ 4147630 w 18093690"/>
              <a:gd name="csY7" fmla="*/ 0 h 30158"/>
              <a:gd name="csX8" fmla="*/ 4481668 w 18093690"/>
              <a:gd name="csY8" fmla="*/ 0 h 30158"/>
              <a:gd name="csX9" fmla="*/ 4996642 w 18093690"/>
              <a:gd name="csY9" fmla="*/ 0 h 30158"/>
              <a:gd name="csX10" fmla="*/ 5511616 w 18093690"/>
              <a:gd name="csY10" fmla="*/ 0 h 30158"/>
              <a:gd name="csX11" fmla="*/ 6388464 w 18093690"/>
              <a:gd name="csY11" fmla="*/ 0 h 30158"/>
              <a:gd name="csX12" fmla="*/ 7446249 w 18093690"/>
              <a:gd name="csY12" fmla="*/ 0 h 30158"/>
              <a:gd name="csX13" fmla="*/ 8323097 w 18093690"/>
              <a:gd name="csY13" fmla="*/ 0 h 30158"/>
              <a:gd name="csX14" fmla="*/ 8657135 w 18093690"/>
              <a:gd name="csY14" fmla="*/ 0 h 30158"/>
              <a:gd name="csX15" fmla="*/ 8810235 w 18093690"/>
              <a:gd name="csY15" fmla="*/ 0 h 30158"/>
              <a:gd name="csX16" fmla="*/ 8963336 w 18093690"/>
              <a:gd name="csY16" fmla="*/ 0 h 30158"/>
              <a:gd name="csX17" fmla="*/ 9297373 w 18093690"/>
              <a:gd name="csY17" fmla="*/ 0 h 30158"/>
              <a:gd name="csX18" fmla="*/ 9812347 w 18093690"/>
              <a:gd name="csY18" fmla="*/ 0 h 30158"/>
              <a:gd name="csX19" fmla="*/ 10689195 w 18093690"/>
              <a:gd name="csY19" fmla="*/ 0 h 30158"/>
              <a:gd name="csX20" fmla="*/ 11023233 w 18093690"/>
              <a:gd name="csY20" fmla="*/ 0 h 30158"/>
              <a:gd name="csX21" fmla="*/ 11719144 w 18093690"/>
              <a:gd name="csY21" fmla="*/ 0 h 30158"/>
              <a:gd name="csX22" fmla="*/ 12776929 w 18093690"/>
              <a:gd name="csY22" fmla="*/ 0 h 30158"/>
              <a:gd name="csX23" fmla="*/ 13110966 w 18093690"/>
              <a:gd name="csY23" fmla="*/ 0 h 30158"/>
              <a:gd name="csX24" fmla="*/ 13806877 w 18093690"/>
              <a:gd name="csY24" fmla="*/ 0 h 30158"/>
              <a:gd name="csX25" fmla="*/ 14502788 w 18093690"/>
              <a:gd name="csY25" fmla="*/ 0 h 30158"/>
              <a:gd name="csX26" fmla="*/ 14655889 w 18093690"/>
              <a:gd name="csY26" fmla="*/ 0 h 30158"/>
              <a:gd name="csX27" fmla="*/ 14989926 w 18093690"/>
              <a:gd name="csY27" fmla="*/ 0 h 30158"/>
              <a:gd name="csX28" fmla="*/ 15323964 w 18093690"/>
              <a:gd name="csY28" fmla="*/ 0 h 30158"/>
              <a:gd name="csX29" fmla="*/ 16019875 w 18093690"/>
              <a:gd name="csY29" fmla="*/ 0 h 30158"/>
              <a:gd name="csX30" fmla="*/ 17077660 w 18093690"/>
              <a:gd name="csY30" fmla="*/ 0 h 30158"/>
              <a:gd name="csX31" fmla="*/ 17411697 w 18093690"/>
              <a:gd name="csY31" fmla="*/ 0 h 30158"/>
              <a:gd name="csX32" fmla="*/ 18093690 w 18093690"/>
              <a:gd name="csY32" fmla="*/ 0 h 30158"/>
              <a:gd name="csX33" fmla="*/ 18093690 w 18093690"/>
              <a:gd name="csY33" fmla="*/ 30158 h 30158"/>
              <a:gd name="csX34" fmla="*/ 17035905 w 18093690"/>
              <a:gd name="csY34" fmla="*/ 30158 h 30158"/>
              <a:gd name="csX35" fmla="*/ 16159057 w 18093690"/>
              <a:gd name="csY35" fmla="*/ 30158 h 30158"/>
              <a:gd name="csX36" fmla="*/ 15282209 w 18093690"/>
              <a:gd name="csY36" fmla="*/ 30158 h 30158"/>
              <a:gd name="csX37" fmla="*/ 14586298 w 18093690"/>
              <a:gd name="csY37" fmla="*/ 30158 h 30158"/>
              <a:gd name="csX38" fmla="*/ 14252260 w 18093690"/>
              <a:gd name="csY38" fmla="*/ 30158 h 30158"/>
              <a:gd name="csX39" fmla="*/ 13918223 w 18093690"/>
              <a:gd name="csY39" fmla="*/ 30158 h 30158"/>
              <a:gd name="csX40" fmla="*/ 13041375 w 18093690"/>
              <a:gd name="csY40" fmla="*/ 30158 h 30158"/>
              <a:gd name="csX41" fmla="*/ 12345464 w 18093690"/>
              <a:gd name="csY41" fmla="*/ 30158 h 30158"/>
              <a:gd name="csX42" fmla="*/ 12011427 w 18093690"/>
              <a:gd name="csY42" fmla="*/ 30158 h 30158"/>
              <a:gd name="csX43" fmla="*/ 11677389 w 18093690"/>
              <a:gd name="csY43" fmla="*/ 30158 h 30158"/>
              <a:gd name="csX44" fmla="*/ 11343352 w 18093690"/>
              <a:gd name="csY44" fmla="*/ 30158 h 30158"/>
              <a:gd name="csX45" fmla="*/ 10647441 w 18093690"/>
              <a:gd name="csY45" fmla="*/ 30158 h 30158"/>
              <a:gd name="csX46" fmla="*/ 10313403 w 18093690"/>
              <a:gd name="csY46" fmla="*/ 30158 h 30158"/>
              <a:gd name="csX47" fmla="*/ 9798429 w 18093690"/>
              <a:gd name="csY47" fmla="*/ 30158 h 30158"/>
              <a:gd name="csX48" fmla="*/ 9283455 w 18093690"/>
              <a:gd name="csY48" fmla="*/ 30158 h 30158"/>
              <a:gd name="csX49" fmla="*/ 8225670 w 18093690"/>
              <a:gd name="csY49" fmla="*/ 30158 h 30158"/>
              <a:gd name="csX50" fmla="*/ 7710696 w 18093690"/>
              <a:gd name="csY50" fmla="*/ 30158 h 30158"/>
              <a:gd name="csX51" fmla="*/ 7195721 w 18093690"/>
              <a:gd name="csY51" fmla="*/ 30158 h 30158"/>
              <a:gd name="csX52" fmla="*/ 6137936 w 18093690"/>
              <a:gd name="csY52" fmla="*/ 30158 h 30158"/>
              <a:gd name="csX53" fmla="*/ 5984836 w 18093690"/>
              <a:gd name="csY53" fmla="*/ 30158 h 30158"/>
              <a:gd name="csX54" fmla="*/ 5288925 w 18093690"/>
              <a:gd name="csY54" fmla="*/ 30158 h 30158"/>
              <a:gd name="csX55" fmla="*/ 4231140 w 18093690"/>
              <a:gd name="csY55" fmla="*/ 30158 h 30158"/>
              <a:gd name="csX56" fmla="*/ 4078039 w 18093690"/>
              <a:gd name="csY56" fmla="*/ 30158 h 30158"/>
              <a:gd name="csX57" fmla="*/ 3563065 w 18093690"/>
              <a:gd name="csY57" fmla="*/ 30158 h 30158"/>
              <a:gd name="csX58" fmla="*/ 3409965 w 18093690"/>
              <a:gd name="csY58" fmla="*/ 30158 h 30158"/>
              <a:gd name="csX59" fmla="*/ 2533117 w 18093690"/>
              <a:gd name="csY59" fmla="*/ 30158 h 30158"/>
              <a:gd name="csX60" fmla="*/ 1656269 w 18093690"/>
              <a:gd name="csY60" fmla="*/ 30158 h 30158"/>
              <a:gd name="csX61" fmla="*/ 960357 w 18093690"/>
              <a:gd name="csY61" fmla="*/ 30158 h 30158"/>
              <a:gd name="csX62" fmla="*/ 626320 w 18093690"/>
              <a:gd name="csY62" fmla="*/ 30158 h 30158"/>
              <a:gd name="csX63" fmla="*/ 0 w 18093690"/>
              <a:gd name="csY63" fmla="*/ 30158 h 30158"/>
              <a:gd name="csX64" fmla="*/ 0 w 18093690"/>
              <a:gd name="csY64" fmla="*/ 0 h 301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8093690" h="30158" fill="none" extrusionOk="0">
                <a:moveTo>
                  <a:pt x="0" y="0"/>
                </a:moveTo>
                <a:cubicBezTo>
                  <a:pt x="329347" y="4939"/>
                  <a:pt x="484088" y="34092"/>
                  <a:pt x="876848" y="0"/>
                </a:cubicBezTo>
                <a:cubicBezTo>
                  <a:pt x="1269608" y="-34092"/>
                  <a:pt x="1201620" y="8367"/>
                  <a:pt x="1391822" y="0"/>
                </a:cubicBezTo>
                <a:cubicBezTo>
                  <a:pt x="1582024" y="-8367"/>
                  <a:pt x="1569688" y="-189"/>
                  <a:pt x="1725860" y="0"/>
                </a:cubicBezTo>
                <a:cubicBezTo>
                  <a:pt x="1882032" y="189"/>
                  <a:pt x="2218716" y="1971"/>
                  <a:pt x="2602708" y="0"/>
                </a:cubicBezTo>
                <a:cubicBezTo>
                  <a:pt x="2986700" y="-1971"/>
                  <a:pt x="2772763" y="11244"/>
                  <a:pt x="2936745" y="0"/>
                </a:cubicBezTo>
                <a:cubicBezTo>
                  <a:pt x="3100727" y="-11244"/>
                  <a:pt x="3585210" y="46751"/>
                  <a:pt x="3994530" y="0"/>
                </a:cubicBezTo>
                <a:cubicBezTo>
                  <a:pt x="4403850" y="-46751"/>
                  <a:pt x="4111477" y="-5764"/>
                  <a:pt x="4147630" y="0"/>
                </a:cubicBezTo>
                <a:cubicBezTo>
                  <a:pt x="4183783" y="5764"/>
                  <a:pt x="4356200" y="10120"/>
                  <a:pt x="4481668" y="0"/>
                </a:cubicBezTo>
                <a:cubicBezTo>
                  <a:pt x="4607136" y="-10120"/>
                  <a:pt x="4879093" y="6942"/>
                  <a:pt x="4996642" y="0"/>
                </a:cubicBezTo>
                <a:cubicBezTo>
                  <a:pt x="5114191" y="-6942"/>
                  <a:pt x="5374325" y="22010"/>
                  <a:pt x="5511616" y="0"/>
                </a:cubicBezTo>
                <a:cubicBezTo>
                  <a:pt x="5648907" y="-22010"/>
                  <a:pt x="6000856" y="-6611"/>
                  <a:pt x="6388464" y="0"/>
                </a:cubicBezTo>
                <a:cubicBezTo>
                  <a:pt x="6776072" y="6611"/>
                  <a:pt x="7040147" y="30793"/>
                  <a:pt x="7446249" y="0"/>
                </a:cubicBezTo>
                <a:cubicBezTo>
                  <a:pt x="7852352" y="-30793"/>
                  <a:pt x="8074130" y="-21649"/>
                  <a:pt x="8323097" y="0"/>
                </a:cubicBezTo>
                <a:cubicBezTo>
                  <a:pt x="8572064" y="21649"/>
                  <a:pt x="8534261" y="-1131"/>
                  <a:pt x="8657135" y="0"/>
                </a:cubicBezTo>
                <a:cubicBezTo>
                  <a:pt x="8780009" y="1131"/>
                  <a:pt x="8759357" y="-6844"/>
                  <a:pt x="8810235" y="0"/>
                </a:cubicBezTo>
                <a:cubicBezTo>
                  <a:pt x="8861113" y="6844"/>
                  <a:pt x="8924202" y="6946"/>
                  <a:pt x="8963336" y="0"/>
                </a:cubicBezTo>
                <a:cubicBezTo>
                  <a:pt x="9002470" y="-6946"/>
                  <a:pt x="9131204" y="1259"/>
                  <a:pt x="9297373" y="0"/>
                </a:cubicBezTo>
                <a:cubicBezTo>
                  <a:pt x="9463542" y="-1259"/>
                  <a:pt x="9624268" y="-25122"/>
                  <a:pt x="9812347" y="0"/>
                </a:cubicBezTo>
                <a:cubicBezTo>
                  <a:pt x="10000426" y="25122"/>
                  <a:pt x="10267966" y="18466"/>
                  <a:pt x="10689195" y="0"/>
                </a:cubicBezTo>
                <a:cubicBezTo>
                  <a:pt x="11110424" y="-18466"/>
                  <a:pt x="10952340" y="-1294"/>
                  <a:pt x="11023233" y="0"/>
                </a:cubicBezTo>
                <a:cubicBezTo>
                  <a:pt x="11094126" y="1294"/>
                  <a:pt x="11376987" y="-20013"/>
                  <a:pt x="11719144" y="0"/>
                </a:cubicBezTo>
                <a:cubicBezTo>
                  <a:pt x="12061301" y="20013"/>
                  <a:pt x="12298454" y="-45052"/>
                  <a:pt x="12776929" y="0"/>
                </a:cubicBezTo>
                <a:cubicBezTo>
                  <a:pt x="13255404" y="45052"/>
                  <a:pt x="13015828" y="15368"/>
                  <a:pt x="13110966" y="0"/>
                </a:cubicBezTo>
                <a:cubicBezTo>
                  <a:pt x="13206104" y="-15368"/>
                  <a:pt x="13560601" y="-1630"/>
                  <a:pt x="13806877" y="0"/>
                </a:cubicBezTo>
                <a:cubicBezTo>
                  <a:pt x="14053153" y="1630"/>
                  <a:pt x="14261945" y="-223"/>
                  <a:pt x="14502788" y="0"/>
                </a:cubicBezTo>
                <a:cubicBezTo>
                  <a:pt x="14743631" y="223"/>
                  <a:pt x="14598259" y="6936"/>
                  <a:pt x="14655889" y="0"/>
                </a:cubicBezTo>
                <a:cubicBezTo>
                  <a:pt x="14713519" y="-6936"/>
                  <a:pt x="14868594" y="10422"/>
                  <a:pt x="14989926" y="0"/>
                </a:cubicBezTo>
                <a:cubicBezTo>
                  <a:pt x="15111258" y="-10422"/>
                  <a:pt x="15194837" y="7660"/>
                  <a:pt x="15323964" y="0"/>
                </a:cubicBezTo>
                <a:cubicBezTo>
                  <a:pt x="15453091" y="-7660"/>
                  <a:pt x="15869544" y="11463"/>
                  <a:pt x="16019875" y="0"/>
                </a:cubicBezTo>
                <a:cubicBezTo>
                  <a:pt x="16170206" y="-11463"/>
                  <a:pt x="16628983" y="-46071"/>
                  <a:pt x="17077660" y="0"/>
                </a:cubicBezTo>
                <a:cubicBezTo>
                  <a:pt x="17526337" y="46071"/>
                  <a:pt x="17287337" y="-13218"/>
                  <a:pt x="17411697" y="0"/>
                </a:cubicBezTo>
                <a:cubicBezTo>
                  <a:pt x="17536057" y="13218"/>
                  <a:pt x="17821081" y="370"/>
                  <a:pt x="18093690" y="0"/>
                </a:cubicBezTo>
                <a:cubicBezTo>
                  <a:pt x="18094643" y="12802"/>
                  <a:pt x="18093447" y="16272"/>
                  <a:pt x="18093690" y="30158"/>
                </a:cubicBezTo>
                <a:cubicBezTo>
                  <a:pt x="17867500" y="36690"/>
                  <a:pt x="17268213" y="-3193"/>
                  <a:pt x="17035905" y="30158"/>
                </a:cubicBezTo>
                <a:cubicBezTo>
                  <a:pt x="16803598" y="63509"/>
                  <a:pt x="16442548" y="40888"/>
                  <a:pt x="16159057" y="30158"/>
                </a:cubicBezTo>
                <a:cubicBezTo>
                  <a:pt x="15875566" y="19428"/>
                  <a:pt x="15586227" y="-1279"/>
                  <a:pt x="15282209" y="30158"/>
                </a:cubicBezTo>
                <a:cubicBezTo>
                  <a:pt x="14978191" y="61595"/>
                  <a:pt x="14862242" y="32878"/>
                  <a:pt x="14586298" y="30158"/>
                </a:cubicBezTo>
                <a:cubicBezTo>
                  <a:pt x="14310354" y="27438"/>
                  <a:pt x="14418256" y="21335"/>
                  <a:pt x="14252260" y="30158"/>
                </a:cubicBezTo>
                <a:cubicBezTo>
                  <a:pt x="14086264" y="38981"/>
                  <a:pt x="14078383" y="45485"/>
                  <a:pt x="13918223" y="30158"/>
                </a:cubicBezTo>
                <a:cubicBezTo>
                  <a:pt x="13758063" y="14831"/>
                  <a:pt x="13225352" y="39104"/>
                  <a:pt x="13041375" y="30158"/>
                </a:cubicBezTo>
                <a:cubicBezTo>
                  <a:pt x="12857398" y="21212"/>
                  <a:pt x="12577263" y="22531"/>
                  <a:pt x="12345464" y="30158"/>
                </a:cubicBezTo>
                <a:cubicBezTo>
                  <a:pt x="12113665" y="37785"/>
                  <a:pt x="12178333" y="39214"/>
                  <a:pt x="12011427" y="30158"/>
                </a:cubicBezTo>
                <a:cubicBezTo>
                  <a:pt x="11844521" y="21102"/>
                  <a:pt x="11748002" y="22727"/>
                  <a:pt x="11677389" y="30158"/>
                </a:cubicBezTo>
                <a:cubicBezTo>
                  <a:pt x="11606776" y="37589"/>
                  <a:pt x="11423355" y="46129"/>
                  <a:pt x="11343352" y="30158"/>
                </a:cubicBezTo>
                <a:cubicBezTo>
                  <a:pt x="11263349" y="14187"/>
                  <a:pt x="10897907" y="48666"/>
                  <a:pt x="10647441" y="30158"/>
                </a:cubicBezTo>
                <a:cubicBezTo>
                  <a:pt x="10396975" y="11650"/>
                  <a:pt x="10466632" y="46500"/>
                  <a:pt x="10313403" y="30158"/>
                </a:cubicBezTo>
                <a:cubicBezTo>
                  <a:pt x="10160174" y="13816"/>
                  <a:pt x="9956809" y="25955"/>
                  <a:pt x="9798429" y="30158"/>
                </a:cubicBezTo>
                <a:cubicBezTo>
                  <a:pt x="9640049" y="34361"/>
                  <a:pt x="9504460" y="34337"/>
                  <a:pt x="9283455" y="30158"/>
                </a:cubicBezTo>
                <a:cubicBezTo>
                  <a:pt x="9062450" y="25979"/>
                  <a:pt x="8746180" y="33061"/>
                  <a:pt x="8225670" y="30158"/>
                </a:cubicBezTo>
                <a:cubicBezTo>
                  <a:pt x="7705161" y="27255"/>
                  <a:pt x="7946012" y="10025"/>
                  <a:pt x="7710696" y="30158"/>
                </a:cubicBezTo>
                <a:cubicBezTo>
                  <a:pt x="7475380" y="50291"/>
                  <a:pt x="7351264" y="53946"/>
                  <a:pt x="7195721" y="30158"/>
                </a:cubicBezTo>
                <a:cubicBezTo>
                  <a:pt x="7040179" y="6370"/>
                  <a:pt x="6580729" y="78849"/>
                  <a:pt x="6137936" y="30158"/>
                </a:cubicBezTo>
                <a:cubicBezTo>
                  <a:pt x="5695143" y="-18533"/>
                  <a:pt x="6049091" y="27342"/>
                  <a:pt x="5984836" y="30158"/>
                </a:cubicBezTo>
                <a:cubicBezTo>
                  <a:pt x="5920581" y="32974"/>
                  <a:pt x="5507217" y="-1680"/>
                  <a:pt x="5288925" y="30158"/>
                </a:cubicBezTo>
                <a:cubicBezTo>
                  <a:pt x="5070633" y="61996"/>
                  <a:pt x="4755313" y="50293"/>
                  <a:pt x="4231140" y="30158"/>
                </a:cubicBezTo>
                <a:cubicBezTo>
                  <a:pt x="3706968" y="10023"/>
                  <a:pt x="4143690" y="35744"/>
                  <a:pt x="4078039" y="30158"/>
                </a:cubicBezTo>
                <a:cubicBezTo>
                  <a:pt x="4012388" y="24572"/>
                  <a:pt x="3682261" y="42081"/>
                  <a:pt x="3563065" y="30158"/>
                </a:cubicBezTo>
                <a:cubicBezTo>
                  <a:pt x="3443869" y="18235"/>
                  <a:pt x="3449452" y="31210"/>
                  <a:pt x="3409965" y="30158"/>
                </a:cubicBezTo>
                <a:cubicBezTo>
                  <a:pt x="3370478" y="29106"/>
                  <a:pt x="2953198" y="-12494"/>
                  <a:pt x="2533117" y="30158"/>
                </a:cubicBezTo>
                <a:cubicBezTo>
                  <a:pt x="2113036" y="72810"/>
                  <a:pt x="2070605" y="57027"/>
                  <a:pt x="1656269" y="30158"/>
                </a:cubicBezTo>
                <a:cubicBezTo>
                  <a:pt x="1241933" y="3289"/>
                  <a:pt x="1134715" y="15761"/>
                  <a:pt x="960357" y="30158"/>
                </a:cubicBezTo>
                <a:cubicBezTo>
                  <a:pt x="785999" y="44555"/>
                  <a:pt x="701203" y="28958"/>
                  <a:pt x="626320" y="30158"/>
                </a:cubicBezTo>
                <a:cubicBezTo>
                  <a:pt x="551437" y="31358"/>
                  <a:pt x="142126" y="10500"/>
                  <a:pt x="0" y="30158"/>
                </a:cubicBezTo>
                <a:cubicBezTo>
                  <a:pt x="-1076" y="17312"/>
                  <a:pt x="-556" y="9918"/>
                  <a:pt x="0" y="0"/>
                </a:cubicBezTo>
                <a:close/>
              </a:path>
              <a:path w="18093690" h="30158" stroke="0" extrusionOk="0">
                <a:moveTo>
                  <a:pt x="0" y="0"/>
                </a:moveTo>
                <a:cubicBezTo>
                  <a:pt x="115110" y="-12006"/>
                  <a:pt x="237080" y="1824"/>
                  <a:pt x="334037" y="0"/>
                </a:cubicBezTo>
                <a:cubicBezTo>
                  <a:pt x="430994" y="-1824"/>
                  <a:pt x="410769" y="1178"/>
                  <a:pt x="487138" y="0"/>
                </a:cubicBezTo>
                <a:cubicBezTo>
                  <a:pt x="563507" y="-1178"/>
                  <a:pt x="730389" y="-4175"/>
                  <a:pt x="821175" y="0"/>
                </a:cubicBezTo>
                <a:cubicBezTo>
                  <a:pt x="911961" y="4175"/>
                  <a:pt x="1202421" y="-27819"/>
                  <a:pt x="1517086" y="0"/>
                </a:cubicBezTo>
                <a:cubicBezTo>
                  <a:pt x="1831751" y="27819"/>
                  <a:pt x="1980707" y="-26486"/>
                  <a:pt x="2393934" y="0"/>
                </a:cubicBezTo>
                <a:cubicBezTo>
                  <a:pt x="2807161" y="26486"/>
                  <a:pt x="3135055" y="-23674"/>
                  <a:pt x="3451719" y="0"/>
                </a:cubicBezTo>
                <a:cubicBezTo>
                  <a:pt x="3768384" y="23674"/>
                  <a:pt x="4093406" y="8032"/>
                  <a:pt x="4509504" y="0"/>
                </a:cubicBezTo>
                <a:cubicBezTo>
                  <a:pt x="4925603" y="-8032"/>
                  <a:pt x="4771365" y="-18141"/>
                  <a:pt x="5024479" y="0"/>
                </a:cubicBezTo>
                <a:cubicBezTo>
                  <a:pt x="5277593" y="18141"/>
                  <a:pt x="5600290" y="-5668"/>
                  <a:pt x="5901327" y="0"/>
                </a:cubicBezTo>
                <a:cubicBezTo>
                  <a:pt x="6202364" y="5668"/>
                  <a:pt x="6256520" y="-9055"/>
                  <a:pt x="6597238" y="0"/>
                </a:cubicBezTo>
                <a:cubicBezTo>
                  <a:pt x="6937956" y="9055"/>
                  <a:pt x="6947215" y="-9747"/>
                  <a:pt x="7112212" y="0"/>
                </a:cubicBezTo>
                <a:cubicBezTo>
                  <a:pt x="7277209" y="9747"/>
                  <a:pt x="7738250" y="16201"/>
                  <a:pt x="7989060" y="0"/>
                </a:cubicBezTo>
                <a:cubicBezTo>
                  <a:pt x="8239870" y="-16201"/>
                  <a:pt x="8074516" y="3828"/>
                  <a:pt x="8142161" y="0"/>
                </a:cubicBezTo>
                <a:cubicBezTo>
                  <a:pt x="8209806" y="-3828"/>
                  <a:pt x="8458479" y="-23340"/>
                  <a:pt x="8657135" y="0"/>
                </a:cubicBezTo>
                <a:cubicBezTo>
                  <a:pt x="8855791" y="23340"/>
                  <a:pt x="9021348" y="-8498"/>
                  <a:pt x="9353046" y="0"/>
                </a:cubicBezTo>
                <a:cubicBezTo>
                  <a:pt x="9684744" y="8498"/>
                  <a:pt x="9799364" y="29125"/>
                  <a:pt x="10229894" y="0"/>
                </a:cubicBezTo>
                <a:cubicBezTo>
                  <a:pt x="10660424" y="-29125"/>
                  <a:pt x="10649876" y="13843"/>
                  <a:pt x="10925805" y="0"/>
                </a:cubicBezTo>
                <a:cubicBezTo>
                  <a:pt x="11201734" y="-13843"/>
                  <a:pt x="11757168" y="-10258"/>
                  <a:pt x="11983590" y="0"/>
                </a:cubicBezTo>
                <a:cubicBezTo>
                  <a:pt x="12210013" y="10258"/>
                  <a:pt x="12061785" y="1167"/>
                  <a:pt x="12136691" y="0"/>
                </a:cubicBezTo>
                <a:cubicBezTo>
                  <a:pt x="12211597" y="-1167"/>
                  <a:pt x="12690675" y="15880"/>
                  <a:pt x="12832602" y="0"/>
                </a:cubicBezTo>
                <a:cubicBezTo>
                  <a:pt x="12974529" y="-15880"/>
                  <a:pt x="12920801" y="4115"/>
                  <a:pt x="12985702" y="0"/>
                </a:cubicBezTo>
                <a:cubicBezTo>
                  <a:pt x="13050603" y="-4115"/>
                  <a:pt x="13560219" y="39549"/>
                  <a:pt x="14043487" y="0"/>
                </a:cubicBezTo>
                <a:cubicBezTo>
                  <a:pt x="14526756" y="-39549"/>
                  <a:pt x="14235968" y="-11315"/>
                  <a:pt x="14377524" y="0"/>
                </a:cubicBezTo>
                <a:cubicBezTo>
                  <a:pt x="14519080" y="11315"/>
                  <a:pt x="14470237" y="2294"/>
                  <a:pt x="14530625" y="0"/>
                </a:cubicBezTo>
                <a:cubicBezTo>
                  <a:pt x="14591013" y="-2294"/>
                  <a:pt x="15003973" y="8404"/>
                  <a:pt x="15226536" y="0"/>
                </a:cubicBezTo>
                <a:cubicBezTo>
                  <a:pt x="15449099" y="-8404"/>
                  <a:pt x="15399308" y="10795"/>
                  <a:pt x="15560573" y="0"/>
                </a:cubicBezTo>
                <a:cubicBezTo>
                  <a:pt x="15721838" y="-10795"/>
                  <a:pt x="16238872" y="-5550"/>
                  <a:pt x="16437421" y="0"/>
                </a:cubicBezTo>
                <a:cubicBezTo>
                  <a:pt x="16635970" y="5550"/>
                  <a:pt x="16696303" y="11714"/>
                  <a:pt x="16771459" y="0"/>
                </a:cubicBezTo>
                <a:cubicBezTo>
                  <a:pt x="16846615" y="-11714"/>
                  <a:pt x="17603042" y="11977"/>
                  <a:pt x="18093690" y="0"/>
                </a:cubicBezTo>
                <a:cubicBezTo>
                  <a:pt x="18093798" y="15069"/>
                  <a:pt x="18093785" y="17640"/>
                  <a:pt x="18093690" y="30158"/>
                </a:cubicBezTo>
                <a:cubicBezTo>
                  <a:pt x="17876814" y="28062"/>
                  <a:pt x="17560805" y="56128"/>
                  <a:pt x="17035905" y="30158"/>
                </a:cubicBezTo>
                <a:cubicBezTo>
                  <a:pt x="16511005" y="4188"/>
                  <a:pt x="16455699" y="-3484"/>
                  <a:pt x="16159057" y="30158"/>
                </a:cubicBezTo>
                <a:cubicBezTo>
                  <a:pt x="15862415" y="63800"/>
                  <a:pt x="15829330" y="52157"/>
                  <a:pt x="15644083" y="30158"/>
                </a:cubicBezTo>
                <a:cubicBezTo>
                  <a:pt x="15458836" y="8159"/>
                  <a:pt x="15469223" y="21735"/>
                  <a:pt x="15310045" y="30158"/>
                </a:cubicBezTo>
                <a:cubicBezTo>
                  <a:pt x="15150867" y="38581"/>
                  <a:pt x="15232533" y="23049"/>
                  <a:pt x="15156945" y="30158"/>
                </a:cubicBezTo>
                <a:cubicBezTo>
                  <a:pt x="15081357" y="37267"/>
                  <a:pt x="14632149" y="24293"/>
                  <a:pt x="14461034" y="30158"/>
                </a:cubicBezTo>
                <a:cubicBezTo>
                  <a:pt x="14289919" y="36023"/>
                  <a:pt x="13860736" y="53669"/>
                  <a:pt x="13584186" y="30158"/>
                </a:cubicBezTo>
                <a:cubicBezTo>
                  <a:pt x="13307636" y="6647"/>
                  <a:pt x="13227673" y="63115"/>
                  <a:pt x="12888275" y="30158"/>
                </a:cubicBezTo>
                <a:cubicBezTo>
                  <a:pt x="12548877" y="-2799"/>
                  <a:pt x="12076918" y="72526"/>
                  <a:pt x="11830490" y="30158"/>
                </a:cubicBezTo>
                <a:cubicBezTo>
                  <a:pt x="11584063" y="-12210"/>
                  <a:pt x="11423074" y="45361"/>
                  <a:pt x="11315515" y="30158"/>
                </a:cubicBezTo>
                <a:cubicBezTo>
                  <a:pt x="11207957" y="14955"/>
                  <a:pt x="11232660" y="37576"/>
                  <a:pt x="11162415" y="30158"/>
                </a:cubicBezTo>
                <a:cubicBezTo>
                  <a:pt x="11092170" y="22740"/>
                  <a:pt x="11076509" y="26432"/>
                  <a:pt x="11009314" y="30158"/>
                </a:cubicBezTo>
                <a:cubicBezTo>
                  <a:pt x="10942119" y="33884"/>
                  <a:pt x="10379435" y="13917"/>
                  <a:pt x="10132466" y="30158"/>
                </a:cubicBezTo>
                <a:cubicBezTo>
                  <a:pt x="9885497" y="46399"/>
                  <a:pt x="9727143" y="3445"/>
                  <a:pt x="9436555" y="30158"/>
                </a:cubicBezTo>
                <a:cubicBezTo>
                  <a:pt x="9145967" y="56871"/>
                  <a:pt x="8752231" y="14234"/>
                  <a:pt x="8378770" y="30158"/>
                </a:cubicBezTo>
                <a:cubicBezTo>
                  <a:pt x="8005310" y="46082"/>
                  <a:pt x="7990718" y="63382"/>
                  <a:pt x="7682859" y="30158"/>
                </a:cubicBezTo>
                <a:cubicBezTo>
                  <a:pt x="7375000" y="-3066"/>
                  <a:pt x="7127004" y="10752"/>
                  <a:pt x="6806011" y="30158"/>
                </a:cubicBezTo>
                <a:cubicBezTo>
                  <a:pt x="6485018" y="49564"/>
                  <a:pt x="6314356" y="64459"/>
                  <a:pt x="6110100" y="30158"/>
                </a:cubicBezTo>
                <a:cubicBezTo>
                  <a:pt x="5905844" y="-4143"/>
                  <a:pt x="5632593" y="50880"/>
                  <a:pt x="5414189" y="30158"/>
                </a:cubicBezTo>
                <a:cubicBezTo>
                  <a:pt x="5195785" y="9436"/>
                  <a:pt x="5046186" y="10226"/>
                  <a:pt x="4899215" y="30158"/>
                </a:cubicBezTo>
                <a:cubicBezTo>
                  <a:pt x="4752244" y="50090"/>
                  <a:pt x="4237686" y="31202"/>
                  <a:pt x="4022366" y="30158"/>
                </a:cubicBezTo>
                <a:cubicBezTo>
                  <a:pt x="3807046" y="29114"/>
                  <a:pt x="3655712" y="62750"/>
                  <a:pt x="3326455" y="30158"/>
                </a:cubicBezTo>
                <a:cubicBezTo>
                  <a:pt x="2997198" y="-2434"/>
                  <a:pt x="2844725" y="50183"/>
                  <a:pt x="2449607" y="30158"/>
                </a:cubicBezTo>
                <a:cubicBezTo>
                  <a:pt x="2054489" y="10133"/>
                  <a:pt x="2262910" y="23243"/>
                  <a:pt x="2115570" y="30158"/>
                </a:cubicBezTo>
                <a:cubicBezTo>
                  <a:pt x="1968230" y="37073"/>
                  <a:pt x="1806067" y="9951"/>
                  <a:pt x="1600596" y="30158"/>
                </a:cubicBezTo>
                <a:cubicBezTo>
                  <a:pt x="1395125" y="50365"/>
                  <a:pt x="1006348" y="33766"/>
                  <a:pt x="723748" y="30158"/>
                </a:cubicBezTo>
                <a:cubicBezTo>
                  <a:pt x="441148" y="26550"/>
                  <a:pt x="249537" y="26792"/>
                  <a:pt x="0" y="30158"/>
                </a:cubicBezTo>
                <a:cubicBezTo>
                  <a:pt x="8" y="22839"/>
                  <a:pt x="-486" y="14701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313A53-D87D-2E34-8DD4-3E3FEFCC337A}"/>
              </a:ext>
            </a:extLst>
          </p:cNvPr>
          <p:cNvSpPr txBox="1"/>
          <p:nvPr/>
        </p:nvSpPr>
        <p:spPr>
          <a:xfrm>
            <a:off x="944017" y="3415753"/>
            <a:ext cx="11070367" cy="6792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3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 Statement</a:t>
            </a:r>
          </a:p>
          <a:p>
            <a:pPr marL="34290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3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3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AtliQ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Motors is a leading automotive company based in the USA, specializing in </a:t>
            </a:r>
            <a:r>
              <a:rPr kumimoji="0" lang="en-US" altLang="en-US" sz="33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electric and hybrid vehicles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the past 5 years, the company has achieved a </a:t>
            </a:r>
            <a:r>
              <a:rPr kumimoji="0" lang="en-US" altLang="en-US" sz="33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25% market share in the North American EV segment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establishing itself as a key industry player </a:t>
            </a:r>
          </a:p>
          <a:p>
            <a:pPr marL="34290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part of its global expansion strategy, </a:t>
            </a:r>
            <a:r>
              <a:rPr kumimoji="0" lang="en-US" altLang="en-US" sz="33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AtliQ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Motors plans to </a:t>
            </a:r>
            <a:r>
              <a:rPr kumimoji="0" lang="en-US" altLang="en-US" sz="33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 the Indian market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where its current market share is </a:t>
            </a:r>
            <a:r>
              <a:rPr kumimoji="0" lang="en-US" altLang="en-US" sz="33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below 2%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support this expansion, </a:t>
            </a:r>
            <a:r>
              <a:rPr kumimoji="0" lang="en-US" altLang="en-US" sz="33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Bruce Haryali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Head of </a:t>
            </a:r>
            <a:r>
              <a:rPr kumimoji="0" lang="en-US" altLang="en-US" sz="33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AtliQ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Motors India, has initiated a </a:t>
            </a:r>
            <a:r>
              <a:rPr kumimoji="0" lang="en-US" altLang="en-US" sz="33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comprehensive analysis of the Indian EV market</a:t>
            </a:r>
            <a:r>
              <a:rPr kumimoji="0" lang="en-US" altLang="en-US" sz="3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3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A16B93-3391-0725-A74D-99776B937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0" r="2584" b="2"/>
          <a:stretch>
            <a:fillRect/>
          </a:stretch>
        </p:blipFill>
        <p:spPr>
          <a:xfrm>
            <a:off x="12656840" y="3453121"/>
            <a:ext cx="6498650" cy="67554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0E016E-E032-B216-F134-10C18C530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13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F745C-CF0B-B21C-8A97-40482CF5E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762EF-72C0-4AF7-63A7-0FF17C588AE5}"/>
              </a:ext>
            </a:extLst>
          </p:cNvPr>
          <p:cNvSpPr txBox="1"/>
          <p:nvPr/>
        </p:nvSpPr>
        <p:spPr>
          <a:xfrm>
            <a:off x="678513" y="1628546"/>
            <a:ext cx="7396998" cy="17944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Objective &amp; Scope of Analysis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70537" y="639772"/>
            <a:ext cx="120633" cy="9046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513" y="3769783"/>
            <a:ext cx="7237476" cy="3015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83DB5D-C836-3263-6698-F85A8EE15178}"/>
              </a:ext>
            </a:extLst>
          </p:cNvPr>
          <p:cNvSpPr txBox="1"/>
          <p:nvPr/>
        </p:nvSpPr>
        <p:spPr>
          <a:xfrm>
            <a:off x="678511" y="4433265"/>
            <a:ext cx="7418413" cy="59110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3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Objective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conduct a </a:t>
            </a:r>
            <a:r>
              <a:rPr lang="en-US" sz="3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comprehensive market study</a:t>
            </a: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EV/Hybrid industry in India and gain insights into current market dynamics.</a:t>
            </a: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b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3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 of Analysis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 sales trends (2022–2024) 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Penetration rates across states 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Market trends &amp; growth patterns 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business insights for expansion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D8AFA-0D1F-2184-7CC3-30D0933CE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0" r="-1" b="-1"/>
          <a:stretch>
            <a:fillRect/>
          </a:stretch>
        </p:blipFill>
        <p:spPr>
          <a:xfrm>
            <a:off x="8752756" y="10"/>
            <a:ext cx="11351344" cy="1130934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01AD8E-AE7A-ED74-6866-FC4CAFA7A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5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50004-A79D-E290-1E49-E65A31B0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487" y="502641"/>
            <a:ext cx="18299067" cy="259423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63875-B2D4-AD03-7156-CEAB85FAB2D9}"/>
              </a:ext>
            </a:extLst>
          </p:cNvPr>
          <p:cNvSpPr txBox="1"/>
          <p:nvPr/>
        </p:nvSpPr>
        <p:spPr>
          <a:xfrm>
            <a:off x="1432417" y="668823"/>
            <a:ext cx="8247707" cy="226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Data collection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878" y="1260591"/>
            <a:ext cx="211093" cy="10783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212645" y="1767537"/>
            <a:ext cx="1684460" cy="1507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3EA257-91BF-2405-D19B-F3731B413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52" y="3448370"/>
            <a:ext cx="8340019" cy="6936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2FD2B7-A8FE-5676-8CB8-20FEEBD5B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213" y="3637167"/>
            <a:ext cx="3695898" cy="133052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A349F00-AD51-3413-7AAB-0B5BA00AFBCA}"/>
              </a:ext>
            </a:extLst>
          </p:cNvPr>
          <p:cNvSpPr txBox="1"/>
          <p:nvPr/>
        </p:nvSpPr>
        <p:spPr>
          <a:xfrm>
            <a:off x="684861" y="3902253"/>
            <a:ext cx="12872389" cy="70518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IN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257957-89D3-F17F-2421-80A62080E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7F5E6-2BBC-CD47-5160-FA2347546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972" y="5237765"/>
            <a:ext cx="3296139" cy="2061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D50357-F858-F412-C5A9-97ECDFCE3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050" y="6947254"/>
            <a:ext cx="4552950" cy="19240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C74426-5BEF-60DE-7E7B-663625A59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8660" y="5116424"/>
            <a:ext cx="46863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43498-BA37-946F-D80D-18855FF1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56827C3C-D52F-46CE-A441-3CD6A1A6A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2" y="0"/>
            <a:ext cx="20104100" cy="1130935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52A8B51-0A89-497B-B882-6658E029A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50" y="1061123"/>
            <a:ext cx="5808535" cy="9187102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C17AAB-6565-5CD3-A8C1-3AF9B7BAA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574" y="2786100"/>
            <a:ext cx="4747488" cy="5737146"/>
          </a:xfrm>
          <a:prstGeom prst="rect">
            <a:avLst/>
          </a:prstGeom>
        </p:spPr>
      </p:pic>
      <p:sp>
        <p:nvSpPr>
          <p:cNvPr id="125" name="Rectangle 124">
            <a:extLst>
              <a:ext uri="{FF2B5EF4-FFF2-40B4-BE49-F238E27FC236}">
                <a16:creationId xmlns:a16="http://schemas.microsoft.com/office/drawing/2014/main" id="{EB1CEFBF-6F09-4052-862B-E219DA157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848" y="1061123"/>
            <a:ext cx="5808535" cy="9187102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0E66E-11B0-17EE-B7B4-A25311A10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318" y="2836760"/>
            <a:ext cx="4749594" cy="5637500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BCB5D417-2A71-445D-B4C7-9E814D633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29340" y="1061123"/>
            <a:ext cx="5808535" cy="9187102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E819FE-FD83-244F-2ABB-749C4B89D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8811" y="2852554"/>
            <a:ext cx="4749593" cy="56042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7309F7-A5BF-232C-C225-CAB759B3BB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806" y="-2"/>
            <a:ext cx="1085294" cy="10852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34C9F2-62CE-BC84-7FDD-42AAFED6657E}"/>
              </a:ext>
            </a:extLst>
          </p:cNvPr>
          <p:cNvSpPr txBox="1"/>
          <p:nvPr/>
        </p:nvSpPr>
        <p:spPr>
          <a:xfrm>
            <a:off x="2127250" y="1997075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State analysis</a:t>
            </a:r>
            <a:endParaRPr lang="en-IN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7DDD1D-0936-71ED-0863-41AFA897A1CD}"/>
              </a:ext>
            </a:extLst>
          </p:cNvPr>
          <p:cNvSpPr txBox="1"/>
          <p:nvPr/>
        </p:nvSpPr>
        <p:spPr>
          <a:xfrm>
            <a:off x="7967535" y="1997075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Maker analysis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7BEF0-3D10-7131-116B-0B61016CB6EB}"/>
              </a:ext>
            </a:extLst>
          </p:cNvPr>
          <p:cNvSpPr txBox="1"/>
          <p:nvPr/>
        </p:nvSpPr>
        <p:spPr>
          <a:xfrm>
            <a:off x="14395450" y="1997074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State </a:t>
            </a:r>
            <a:r>
              <a:rPr lang="en-US" sz="2400" b="1" dirty="0" err="1"/>
              <a:t>comparision</a:t>
            </a:r>
            <a:endParaRPr lang="en-IN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BA805-5117-5867-F67A-CE848CE56B0D}"/>
              </a:ext>
            </a:extLst>
          </p:cNvPr>
          <p:cNvSpPr txBox="1"/>
          <p:nvPr/>
        </p:nvSpPr>
        <p:spPr>
          <a:xfrm>
            <a:off x="146050" y="272096"/>
            <a:ext cx="571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Dashboard overview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71156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333D6-CC56-E0DB-34C0-24E45425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098" cy="1130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361099-43C3-B20D-0171-55F140731BC3}"/>
              </a:ext>
            </a:extLst>
          </p:cNvPr>
          <p:cNvSpPr txBox="1"/>
          <p:nvPr/>
        </p:nvSpPr>
        <p:spPr>
          <a:xfrm>
            <a:off x="15282395" y="3336258"/>
            <a:ext cx="4072307" cy="469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Model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662379" y="-1363672"/>
            <a:ext cx="2828950" cy="141537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125" y="1095493"/>
            <a:ext cx="13327923" cy="92353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3C18A7-C0D1-3439-393D-8CBEE226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74" y="1965129"/>
            <a:ext cx="12545777" cy="7496102"/>
          </a:xfrm>
          <a:prstGeom prst="rect">
            <a:avLst/>
          </a:prstGeom>
        </p:spPr>
      </p:pic>
      <p:sp>
        <p:nvSpPr>
          <p:cNvPr id="143" name="Rectangle 142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109856" y="5593828"/>
            <a:ext cx="2834877" cy="2512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E5B412-081D-38DD-EAB2-A77F33DB0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A48F0-0A9A-2822-33FC-BB29015F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098" cy="1130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5AF9B93-E2F5-C945-80CF-2902194521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8715" y="638076"/>
            <a:ext cx="16598616" cy="21412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1430" algn="l" rtl="0">
              <a:lnSpc>
                <a:spcPct val="90000"/>
              </a:lnSpc>
              <a:spcBef>
                <a:spcPct val="0"/>
              </a:spcBef>
            </a:pPr>
            <a:r>
              <a:rPr kumimoji="0" lang="en-US" sz="7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Primary Questions</a:t>
            </a:r>
            <a:endParaRPr lang="en-US" sz="79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3" y="3296243"/>
            <a:ext cx="18888149" cy="1289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33040"/>
            <a:ext cx="18770689" cy="70382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DE13E0-C3FF-DBCE-C18D-C8931D77C6EA}"/>
              </a:ext>
            </a:extLst>
          </p:cNvPr>
          <p:cNvSpPr txBox="1"/>
          <p:nvPr/>
        </p:nvSpPr>
        <p:spPr>
          <a:xfrm>
            <a:off x="1308713" y="4286782"/>
            <a:ext cx="7471262" cy="60017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Q1: Top &amp; Bottom 3 manufacturers (2W sales) – FY 2023 &amp; 2024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Q2: Top 5 states by EV penetration (2W &amp; 4W) – FY 2024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Q3: States with negative EV penetration growth (2022–2024)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Q4: Quarterly sales trends – Top 5 EV makers (4W) (2022–2024)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Q5: EV sales &amp; penetration comparison – Delhi vs Karnataka (2024)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Q6: CAGR analysis – Top 5 makers (4W) (2022–2024)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Q7: Top 10 states by CAGR in total vehicle sales (2022–2024)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Q8: Peak &amp; low EV sales months (2022–2024)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Q9: EV sales projection for 2030 (Top 10 states by penetration) 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Q10: Revenue growth analysis (2W &amp; 4W EVs)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7BEBB12-74C0-4968-78CA-92448382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3"/>
          <a:stretch>
            <a:fillRect/>
          </a:stretch>
        </p:blipFill>
        <p:spPr>
          <a:xfrm>
            <a:off x="9747869" y="4548919"/>
            <a:ext cx="8492593" cy="5220664"/>
          </a:xfrm>
          <a:prstGeom prst="rect">
            <a:avLst/>
          </a:prstGeom>
          <a:gradFill>
            <a:gsLst>
              <a:gs pos="0">
                <a:schemeClr val="bg1">
                  <a:alpha val="2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8514525" y="3814362"/>
            <a:ext cx="1289081" cy="2512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826AD2-42C7-C60C-471B-04773503E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1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AB885-4FDC-EDED-2E7A-62C6FEFE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208" y="602118"/>
            <a:ext cx="18414655" cy="344543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8662" y="1744289"/>
            <a:ext cx="211093" cy="11610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338" y="2309757"/>
            <a:ext cx="2412661" cy="3015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39E3A-D3C1-9A08-40E3-7460089D6D0B}"/>
              </a:ext>
            </a:extLst>
          </p:cNvPr>
          <p:cNvSpPr txBox="1"/>
          <p:nvPr/>
        </p:nvSpPr>
        <p:spPr>
          <a:xfrm>
            <a:off x="8657206" y="967712"/>
            <a:ext cx="10069763" cy="2714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Qn 1 : List the top 3 and bottom 3 makers for the fiscal years 2023 and 2024 in terms of the number of 2-wheelers sold. </a:t>
            </a: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OLA Electric dominates both years with strong growth </a:t>
            </a: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TVS and Ather entered top 3 in 2024 </a:t>
            </a: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Hero Electric dropped out of top 3 in 2024 </a:t>
            </a: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Bottom players show very low and declining sales </a:t>
            </a: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Market is becoming highly competitive and concentrated </a:t>
            </a: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B0DA51E-3F3A-08B6-EEA9-904283A75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91" b="1"/>
          <a:stretch>
            <a:fillRect/>
          </a:stretch>
        </p:blipFill>
        <p:spPr>
          <a:xfrm>
            <a:off x="919760" y="4609679"/>
            <a:ext cx="9038780" cy="552774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B0259CE-54AE-AF9F-CC43-DFA6A2D99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347" t="-30585" r="-2303" b="-20587"/>
          <a:stretch>
            <a:fillRect/>
          </a:stretch>
        </p:blipFill>
        <p:spPr>
          <a:xfrm>
            <a:off x="10221531" y="4894484"/>
            <a:ext cx="9107332" cy="49581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A7014F-18C1-425B-F109-381026ADA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85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C85F9-25AA-B8F4-7ABD-87C161A3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098" cy="1130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3" y="3296243"/>
            <a:ext cx="18888149" cy="1289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33040"/>
            <a:ext cx="18770689" cy="70382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A45A6315-A3B8-A7C4-364F-1A0D7DDF0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" t="-51" r="-445" b="6725"/>
          <a:stretch>
            <a:fillRect/>
          </a:stretch>
        </p:blipFill>
        <p:spPr>
          <a:xfrm>
            <a:off x="9747869" y="4147449"/>
            <a:ext cx="8492593" cy="6023605"/>
          </a:xfrm>
          <a:prstGeom prst="rect">
            <a:avLst/>
          </a:prstGeom>
        </p:spPr>
      </p:pic>
      <p:sp>
        <p:nvSpPr>
          <p:cNvPr id="125" name="Rectangle 1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8514525" y="3814362"/>
            <a:ext cx="1289081" cy="2512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D1A3A5-8C04-22E0-C0BF-3BB886E39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  <p:graphicFrame>
        <p:nvGraphicFramePr>
          <p:cNvPr id="69" name="TextBox 6">
            <a:extLst>
              <a:ext uri="{FF2B5EF4-FFF2-40B4-BE49-F238E27FC236}">
                <a16:creationId xmlns:a16="http://schemas.microsoft.com/office/drawing/2014/main" id="{D4F2429A-35E0-22FF-07DD-95842E8A9D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5329409"/>
              </p:ext>
            </p:extLst>
          </p:nvPr>
        </p:nvGraphicFramePr>
        <p:xfrm>
          <a:off x="1308713" y="4286782"/>
          <a:ext cx="7471262" cy="6001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76409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6049D-31F3-8E17-6582-F3F569EF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208" y="602118"/>
            <a:ext cx="18414655" cy="344543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8662" y="1744289"/>
            <a:ext cx="211093" cy="11610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338" y="2309757"/>
            <a:ext cx="2412661" cy="3015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AC252-0E89-4C3B-0DAD-D2D4B266BCC8}"/>
              </a:ext>
            </a:extLst>
          </p:cNvPr>
          <p:cNvSpPr txBox="1"/>
          <p:nvPr/>
        </p:nvSpPr>
        <p:spPr>
          <a:xfrm>
            <a:off x="8823846" y="967712"/>
            <a:ext cx="9898097" cy="2714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Q4: Quarterly sales trends – Top 5 EV makers (4W) (2022–2024) 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1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34290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 upward growth across all quarters from 2022 to 2024, with 2024 marking a rapid acceleration phase in EV adoption </a:t>
            </a:r>
          </a:p>
          <a:p>
            <a:pPr marL="34290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Tata Motors dominates the market, showing significantly higher sales volumes and consistent leadership throughout all quarters </a:t>
            </a:r>
          </a:p>
          <a:p>
            <a:pPr marL="34290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Clear seasonality observed, with Q4 peaking each year, supported by festive demand and year-end purchase trends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1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2C74A-6987-2948-253B-20F2996D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62" y="4688723"/>
            <a:ext cx="18410330" cy="53850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0ABD8C-7BEE-1AE3-9FFC-C3CF6E562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055" y="86169"/>
            <a:ext cx="1085294" cy="108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07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56B34-60EC-E5F9-EF40-CB6B3972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70" y="1044884"/>
            <a:ext cx="7454795" cy="9063188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822" y="1948440"/>
            <a:ext cx="211093" cy="11610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888" y="3603912"/>
            <a:ext cx="6073422" cy="15080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D7D3C-3531-1C58-0CB5-6CB42CF606C5}"/>
              </a:ext>
            </a:extLst>
          </p:cNvPr>
          <p:cNvSpPr txBox="1"/>
          <p:nvPr/>
        </p:nvSpPr>
        <p:spPr>
          <a:xfrm>
            <a:off x="1382156" y="3905495"/>
            <a:ext cx="6136777" cy="5775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Q5: EV sales &amp; penetration comparison – Delhi vs Karnataka (2024)</a:t>
            </a:r>
          </a:p>
          <a:p>
            <a:pPr mar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Karnataka leads in 2-wheeler EV adoption with a penetration rate of 11.57%, compared to 9.40% in Delhi </a:t>
            </a:r>
          </a:p>
          <a:p>
            <a:pPr marL="34290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 sales volume is significantly higher in Karnataka across both segments, indicating a larger and more mature EV market </a:t>
            </a:r>
          </a:p>
          <a:p>
            <a:pPr marL="34290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4-wheeler EV penetration is nearly equal in both states (~4.3%), showing similar adoption levels in the premium segment </a:t>
            </a:r>
          </a:p>
          <a:p>
            <a:pPr marL="34290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Delhi shows strong adoption despite lower total volumes, indicating high potential in a dense urban market </a:t>
            </a:r>
          </a:p>
          <a:p>
            <a:pPr marL="34290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Both states demonstrate strong growth potential, with increasing adoption driven by infrastructure, awareness, and policy support 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0859E6-85C8-4FC2-103C-1A0DA8EF5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8" t="11102" r="1248" b="47574"/>
          <a:stretch>
            <a:fillRect/>
          </a:stretch>
        </p:blipFill>
        <p:spPr>
          <a:xfrm>
            <a:off x="8290451" y="3618992"/>
            <a:ext cx="9220200" cy="2554659"/>
          </a:xfrm>
          <a:prstGeom prst="rect">
            <a:avLst/>
          </a:prstGeom>
          <a:ln>
            <a:solidFill>
              <a:srgbClr val="7AAF8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EC4C4A-E659-1BAE-0F96-2380683A5C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" t="52344" r="1806" b="24218"/>
          <a:stretch>
            <a:fillRect/>
          </a:stretch>
        </p:blipFill>
        <p:spPr>
          <a:xfrm>
            <a:off x="8380186" y="6597123"/>
            <a:ext cx="11048544" cy="1839415"/>
          </a:xfrm>
          <a:prstGeom prst="rect">
            <a:avLst/>
          </a:prstGeom>
          <a:ln>
            <a:solidFill>
              <a:srgbClr val="7AAF8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CBDE2F-D549-F012-69B8-6AA35D897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9474" y="20447"/>
            <a:ext cx="1504670" cy="15046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3520EF-B000-D2CE-6781-7402639DBE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415" t="24296" r="2002" b="48438"/>
          <a:stretch>
            <a:fillRect/>
          </a:stretch>
        </p:blipFill>
        <p:spPr>
          <a:xfrm>
            <a:off x="17833891" y="3788004"/>
            <a:ext cx="1776105" cy="2216633"/>
          </a:xfrm>
          <a:prstGeom prst="rect">
            <a:avLst/>
          </a:prstGeom>
          <a:ln>
            <a:solidFill>
              <a:srgbClr val="7AAF81"/>
            </a:solidFill>
          </a:ln>
        </p:spPr>
      </p:pic>
    </p:spTree>
    <p:extLst>
      <p:ext uri="{BB962C8B-B14F-4D97-AF65-F5344CB8AC3E}">
        <p14:creationId xmlns:p14="http://schemas.microsoft.com/office/powerpoint/2010/main" val="558294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D790F-C1AA-908A-1874-461B48CD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9" name="Rectangle 15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9401933" cy="3400121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0559C-A8A4-104B-B9D9-28434949FCE1}"/>
              </a:ext>
            </a:extLst>
          </p:cNvPr>
          <p:cNvSpPr txBox="1"/>
          <p:nvPr/>
        </p:nvSpPr>
        <p:spPr>
          <a:xfrm>
            <a:off x="1874921" y="3625261"/>
            <a:ext cx="8177129" cy="6460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Q6: CAGR analysis – Top 5 makers (4W) (2022–2024) 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BMW India leads with an exceptional CAGR of 1141%, indicating explosive growth in the premium EV segment 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Volvo Auto India follows closely (971%), reinforcing strong momentum in luxury EV adoption 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BYD India shows robust growth (567%), highlighting increasing competition from global EV players 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Mass-market players like OLA ELECTRIC and TVS Motor Company show steady but lower CAGR, indicating more stable, volume-driven growth 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Overall trend shows rapid expansion across all players, with premium segment growing faster than mass market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A5FB3E-E2C7-CBCD-B593-BAC420A33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956" y="5091157"/>
            <a:ext cx="7896045" cy="3217638"/>
          </a:xfrm>
          <a:prstGeom prst="rect">
            <a:avLst/>
          </a:prstGeom>
        </p:spPr>
      </p:pic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874073" y="10239783"/>
            <a:ext cx="11230025" cy="1069567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ACFB-0A3B-C250-F6E4-EEC60AA94D66}"/>
              </a:ext>
            </a:extLst>
          </p:cNvPr>
          <p:cNvSpPr txBox="1"/>
          <p:nvPr/>
        </p:nvSpPr>
        <p:spPr>
          <a:xfrm>
            <a:off x="1040387" y="1054615"/>
            <a:ext cx="5654278" cy="28348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DEB2BE-7858-D27D-876D-9DDA429F6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9474" y="20447"/>
            <a:ext cx="1504670" cy="150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3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AC1B2-1038-FF41-6E35-AF0C17B2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50B319-B911-0691-8F47-89906256C3C3}"/>
              </a:ext>
            </a:extLst>
          </p:cNvPr>
          <p:cNvSpPr txBox="1"/>
          <p:nvPr/>
        </p:nvSpPr>
        <p:spPr>
          <a:xfrm>
            <a:off x="1040387" y="1054615"/>
            <a:ext cx="5654278" cy="28348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CAGR by State (2022–2024)</a:t>
            </a:r>
          </a:p>
        </p:txBody>
      </p:sp>
      <p:sp>
        <p:nvSpPr>
          <p:cNvPr id="14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738" y="4244314"/>
            <a:ext cx="5367516" cy="30158"/>
          </a:xfrm>
          <a:custGeom>
            <a:avLst/>
            <a:gdLst>
              <a:gd name="csX0" fmla="*/ 0 w 5367516"/>
              <a:gd name="csY0" fmla="*/ 0 h 30158"/>
              <a:gd name="csX1" fmla="*/ 563589 w 5367516"/>
              <a:gd name="csY1" fmla="*/ 0 h 30158"/>
              <a:gd name="csX2" fmla="*/ 1288204 w 5367516"/>
              <a:gd name="csY2" fmla="*/ 0 h 30158"/>
              <a:gd name="csX3" fmla="*/ 1905468 w 5367516"/>
              <a:gd name="csY3" fmla="*/ 0 h 30158"/>
              <a:gd name="csX4" fmla="*/ 2469057 w 5367516"/>
              <a:gd name="csY4" fmla="*/ 0 h 30158"/>
              <a:gd name="csX5" fmla="*/ 3193672 w 5367516"/>
              <a:gd name="csY5" fmla="*/ 0 h 30158"/>
              <a:gd name="csX6" fmla="*/ 3864612 w 5367516"/>
              <a:gd name="csY6" fmla="*/ 0 h 30158"/>
              <a:gd name="csX7" fmla="*/ 4535551 w 5367516"/>
              <a:gd name="csY7" fmla="*/ 0 h 30158"/>
              <a:gd name="csX8" fmla="*/ 5367516 w 5367516"/>
              <a:gd name="csY8" fmla="*/ 0 h 30158"/>
              <a:gd name="csX9" fmla="*/ 5367516 w 5367516"/>
              <a:gd name="csY9" fmla="*/ 30158 h 30158"/>
              <a:gd name="csX10" fmla="*/ 4803927 w 5367516"/>
              <a:gd name="csY10" fmla="*/ 30158 h 30158"/>
              <a:gd name="csX11" fmla="*/ 4294013 w 5367516"/>
              <a:gd name="csY11" fmla="*/ 30158 h 30158"/>
              <a:gd name="csX12" fmla="*/ 3569398 w 5367516"/>
              <a:gd name="csY12" fmla="*/ 30158 h 30158"/>
              <a:gd name="csX13" fmla="*/ 3005809 w 5367516"/>
              <a:gd name="csY13" fmla="*/ 30158 h 30158"/>
              <a:gd name="csX14" fmla="*/ 2281194 w 5367516"/>
              <a:gd name="csY14" fmla="*/ 30158 h 30158"/>
              <a:gd name="csX15" fmla="*/ 1502904 w 5367516"/>
              <a:gd name="csY15" fmla="*/ 30158 h 30158"/>
              <a:gd name="csX16" fmla="*/ 885640 w 5367516"/>
              <a:gd name="csY16" fmla="*/ 30158 h 30158"/>
              <a:gd name="csX17" fmla="*/ 0 w 5367516"/>
              <a:gd name="csY17" fmla="*/ 30158 h 30158"/>
              <a:gd name="csX18" fmla="*/ 0 w 5367516"/>
              <a:gd name="csY18" fmla="*/ 0 h 301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367516" h="30158" fill="none" extrusionOk="0">
                <a:moveTo>
                  <a:pt x="0" y="0"/>
                </a:moveTo>
                <a:cubicBezTo>
                  <a:pt x="253313" y="3635"/>
                  <a:pt x="358545" y="9068"/>
                  <a:pt x="563589" y="0"/>
                </a:cubicBezTo>
                <a:cubicBezTo>
                  <a:pt x="768633" y="-9068"/>
                  <a:pt x="955676" y="-28467"/>
                  <a:pt x="1288204" y="0"/>
                </a:cubicBezTo>
                <a:cubicBezTo>
                  <a:pt x="1620733" y="28467"/>
                  <a:pt x="1741815" y="15179"/>
                  <a:pt x="1905468" y="0"/>
                </a:cubicBezTo>
                <a:cubicBezTo>
                  <a:pt x="2069121" y="-15179"/>
                  <a:pt x="2219321" y="-24992"/>
                  <a:pt x="2469057" y="0"/>
                </a:cubicBezTo>
                <a:cubicBezTo>
                  <a:pt x="2718793" y="24992"/>
                  <a:pt x="2932387" y="28192"/>
                  <a:pt x="3193672" y="0"/>
                </a:cubicBezTo>
                <a:cubicBezTo>
                  <a:pt x="3454958" y="-28192"/>
                  <a:pt x="3719217" y="-7351"/>
                  <a:pt x="3864612" y="0"/>
                </a:cubicBezTo>
                <a:cubicBezTo>
                  <a:pt x="4010007" y="7351"/>
                  <a:pt x="4316071" y="-21771"/>
                  <a:pt x="4535551" y="0"/>
                </a:cubicBezTo>
                <a:cubicBezTo>
                  <a:pt x="4755031" y="21771"/>
                  <a:pt x="5007966" y="22742"/>
                  <a:pt x="5367516" y="0"/>
                </a:cubicBezTo>
                <a:cubicBezTo>
                  <a:pt x="5366843" y="14065"/>
                  <a:pt x="5366418" y="20538"/>
                  <a:pt x="5367516" y="30158"/>
                </a:cubicBezTo>
                <a:cubicBezTo>
                  <a:pt x="5202237" y="37203"/>
                  <a:pt x="5053433" y="57478"/>
                  <a:pt x="4803927" y="30158"/>
                </a:cubicBezTo>
                <a:cubicBezTo>
                  <a:pt x="4554421" y="2838"/>
                  <a:pt x="4545949" y="36136"/>
                  <a:pt x="4294013" y="30158"/>
                </a:cubicBezTo>
                <a:cubicBezTo>
                  <a:pt x="4042077" y="24180"/>
                  <a:pt x="3809467" y="641"/>
                  <a:pt x="3569398" y="30158"/>
                </a:cubicBezTo>
                <a:cubicBezTo>
                  <a:pt x="3329329" y="59675"/>
                  <a:pt x="3129578" y="34366"/>
                  <a:pt x="3005809" y="30158"/>
                </a:cubicBezTo>
                <a:cubicBezTo>
                  <a:pt x="2882040" y="25950"/>
                  <a:pt x="2448132" y="61931"/>
                  <a:pt x="2281194" y="30158"/>
                </a:cubicBezTo>
                <a:cubicBezTo>
                  <a:pt x="2114256" y="-1615"/>
                  <a:pt x="1701306" y="8684"/>
                  <a:pt x="1502904" y="30158"/>
                </a:cubicBezTo>
                <a:cubicBezTo>
                  <a:pt x="1304502" y="51633"/>
                  <a:pt x="1021856" y="5201"/>
                  <a:pt x="885640" y="30158"/>
                </a:cubicBezTo>
                <a:cubicBezTo>
                  <a:pt x="749424" y="55115"/>
                  <a:pt x="230905" y="11248"/>
                  <a:pt x="0" y="30158"/>
                </a:cubicBezTo>
                <a:cubicBezTo>
                  <a:pt x="-1113" y="16022"/>
                  <a:pt x="-6" y="11202"/>
                  <a:pt x="0" y="0"/>
                </a:cubicBezTo>
                <a:close/>
              </a:path>
              <a:path w="5367516" h="30158" stroke="0" extrusionOk="0">
                <a:moveTo>
                  <a:pt x="0" y="0"/>
                </a:moveTo>
                <a:cubicBezTo>
                  <a:pt x="127910" y="-2767"/>
                  <a:pt x="364876" y="15258"/>
                  <a:pt x="617264" y="0"/>
                </a:cubicBezTo>
                <a:cubicBezTo>
                  <a:pt x="869652" y="-15258"/>
                  <a:pt x="882679" y="-11324"/>
                  <a:pt x="1127178" y="0"/>
                </a:cubicBezTo>
                <a:cubicBezTo>
                  <a:pt x="1371677" y="11324"/>
                  <a:pt x="1717883" y="20527"/>
                  <a:pt x="1905468" y="0"/>
                </a:cubicBezTo>
                <a:cubicBezTo>
                  <a:pt x="2093053" y="-20527"/>
                  <a:pt x="2377866" y="-19735"/>
                  <a:pt x="2522733" y="0"/>
                </a:cubicBezTo>
                <a:cubicBezTo>
                  <a:pt x="2667601" y="19735"/>
                  <a:pt x="2940082" y="24872"/>
                  <a:pt x="3139997" y="0"/>
                </a:cubicBezTo>
                <a:cubicBezTo>
                  <a:pt x="3339912" y="-24872"/>
                  <a:pt x="3742878" y="-21559"/>
                  <a:pt x="3918287" y="0"/>
                </a:cubicBezTo>
                <a:cubicBezTo>
                  <a:pt x="4093696" y="21559"/>
                  <a:pt x="4281140" y="-16296"/>
                  <a:pt x="4481876" y="0"/>
                </a:cubicBezTo>
                <a:cubicBezTo>
                  <a:pt x="4682612" y="16296"/>
                  <a:pt x="5153034" y="37069"/>
                  <a:pt x="5367516" y="0"/>
                </a:cubicBezTo>
                <a:cubicBezTo>
                  <a:pt x="5367227" y="13749"/>
                  <a:pt x="5367336" y="21215"/>
                  <a:pt x="5367516" y="30158"/>
                </a:cubicBezTo>
                <a:cubicBezTo>
                  <a:pt x="5154217" y="21966"/>
                  <a:pt x="4982525" y="8185"/>
                  <a:pt x="4803927" y="30158"/>
                </a:cubicBezTo>
                <a:cubicBezTo>
                  <a:pt x="4625329" y="52131"/>
                  <a:pt x="4379903" y="-871"/>
                  <a:pt x="4132987" y="30158"/>
                </a:cubicBezTo>
                <a:cubicBezTo>
                  <a:pt x="3886071" y="61187"/>
                  <a:pt x="3747221" y="27808"/>
                  <a:pt x="3515723" y="30158"/>
                </a:cubicBezTo>
                <a:cubicBezTo>
                  <a:pt x="3284225" y="32508"/>
                  <a:pt x="2980273" y="34304"/>
                  <a:pt x="2737433" y="30158"/>
                </a:cubicBezTo>
                <a:cubicBezTo>
                  <a:pt x="2494593" y="26013"/>
                  <a:pt x="2258053" y="33173"/>
                  <a:pt x="1959143" y="30158"/>
                </a:cubicBezTo>
                <a:cubicBezTo>
                  <a:pt x="1660233" y="27144"/>
                  <a:pt x="1542113" y="44803"/>
                  <a:pt x="1395554" y="30158"/>
                </a:cubicBezTo>
                <a:cubicBezTo>
                  <a:pt x="1248995" y="15513"/>
                  <a:pt x="869301" y="11079"/>
                  <a:pt x="724615" y="30158"/>
                </a:cubicBezTo>
                <a:cubicBezTo>
                  <a:pt x="579929" y="49237"/>
                  <a:pt x="172581" y="48822"/>
                  <a:pt x="0" y="30158"/>
                </a:cubicBezTo>
                <a:cubicBezTo>
                  <a:pt x="494" y="23584"/>
                  <a:pt x="27" y="81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A7572-F99A-873C-0181-F58161D37F86}"/>
              </a:ext>
            </a:extLst>
          </p:cNvPr>
          <p:cNvSpPr txBox="1"/>
          <p:nvPr/>
        </p:nvSpPr>
        <p:spPr>
          <a:xfrm>
            <a:off x="1040387" y="4629293"/>
            <a:ext cx="5654278" cy="56245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Q7: Top 10 states by CAGR in total vehicle sales (2022–2024)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Meghalaya leads with the highest CAGR (28.5%), followed by Goa and Karnataka, indicating strong growth in emerging and coastal markets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Mid-tier growth observed in Delhi, Rajasthan, and Gujarat, reflecting stable expansion in established markets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North-East states like Assam and Mizoram show consistent growth, highlighting rising EV adoption beyond metro regions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Lower CAGR in Andaman and Nicobar Islands and Mizoram, indicating slower but steady adoption phases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Overall trend shows EV growth expanding from metro to emerging regions, signaling market diversification and future scalability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F305B58-BEE0-AB8B-D3A2-DAB1AC614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4" t="10753" r="1563" b="9992"/>
          <a:stretch>
            <a:fillRect/>
          </a:stretch>
        </p:blipFill>
        <p:spPr>
          <a:xfrm>
            <a:off x="7674740" y="2529491"/>
            <a:ext cx="11383946" cy="62503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0C332F-7DB7-CE17-511E-3604880D4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9474" y="20447"/>
            <a:ext cx="1504670" cy="150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4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51ABA-0976-162A-6D45-0716642B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9" name="Rectangle 15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80358" y="2020605"/>
            <a:ext cx="2563453" cy="30156"/>
          </a:xfrm>
          <a:custGeom>
            <a:avLst/>
            <a:gdLst>
              <a:gd name="csX0" fmla="*/ 0 w 2563453"/>
              <a:gd name="csY0" fmla="*/ 0 h 30156"/>
              <a:gd name="csX1" fmla="*/ 615229 w 2563453"/>
              <a:gd name="csY1" fmla="*/ 0 h 30156"/>
              <a:gd name="csX2" fmla="*/ 1256092 w 2563453"/>
              <a:gd name="csY2" fmla="*/ 0 h 30156"/>
              <a:gd name="csX3" fmla="*/ 1896955 w 2563453"/>
              <a:gd name="csY3" fmla="*/ 0 h 30156"/>
              <a:gd name="csX4" fmla="*/ 2563453 w 2563453"/>
              <a:gd name="csY4" fmla="*/ 0 h 30156"/>
              <a:gd name="csX5" fmla="*/ 2563453 w 2563453"/>
              <a:gd name="csY5" fmla="*/ 30156 h 30156"/>
              <a:gd name="csX6" fmla="*/ 1922590 w 2563453"/>
              <a:gd name="csY6" fmla="*/ 30156 h 30156"/>
              <a:gd name="csX7" fmla="*/ 1332996 w 2563453"/>
              <a:gd name="csY7" fmla="*/ 30156 h 30156"/>
              <a:gd name="csX8" fmla="*/ 743401 w 2563453"/>
              <a:gd name="csY8" fmla="*/ 30156 h 30156"/>
              <a:gd name="csX9" fmla="*/ 0 w 2563453"/>
              <a:gd name="csY9" fmla="*/ 30156 h 30156"/>
              <a:gd name="csX10" fmla="*/ 0 w 2563453"/>
              <a:gd name="csY10" fmla="*/ 0 h 30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563453" h="30156" fill="none" extrusionOk="0">
                <a:moveTo>
                  <a:pt x="0" y="0"/>
                </a:moveTo>
                <a:cubicBezTo>
                  <a:pt x="230725" y="25042"/>
                  <a:pt x="334745" y="-17031"/>
                  <a:pt x="615229" y="0"/>
                </a:cubicBezTo>
                <a:cubicBezTo>
                  <a:pt x="895713" y="17031"/>
                  <a:pt x="1032438" y="-10780"/>
                  <a:pt x="1256092" y="0"/>
                </a:cubicBezTo>
                <a:cubicBezTo>
                  <a:pt x="1479746" y="10780"/>
                  <a:pt x="1697046" y="-25121"/>
                  <a:pt x="1896955" y="0"/>
                </a:cubicBezTo>
                <a:cubicBezTo>
                  <a:pt x="2096864" y="25121"/>
                  <a:pt x="2352925" y="-19711"/>
                  <a:pt x="2563453" y="0"/>
                </a:cubicBezTo>
                <a:cubicBezTo>
                  <a:pt x="2564253" y="10078"/>
                  <a:pt x="2563562" y="20884"/>
                  <a:pt x="2563453" y="30156"/>
                </a:cubicBezTo>
                <a:cubicBezTo>
                  <a:pt x="2279599" y="56750"/>
                  <a:pt x="2224705" y="2617"/>
                  <a:pt x="1922590" y="30156"/>
                </a:cubicBezTo>
                <a:cubicBezTo>
                  <a:pt x="1620475" y="57695"/>
                  <a:pt x="1572722" y="52668"/>
                  <a:pt x="1332996" y="30156"/>
                </a:cubicBezTo>
                <a:cubicBezTo>
                  <a:pt x="1093270" y="7644"/>
                  <a:pt x="933608" y="49475"/>
                  <a:pt x="743401" y="30156"/>
                </a:cubicBezTo>
                <a:cubicBezTo>
                  <a:pt x="553195" y="10837"/>
                  <a:pt x="281961" y="-2109"/>
                  <a:pt x="0" y="30156"/>
                </a:cubicBezTo>
                <a:cubicBezTo>
                  <a:pt x="-403" y="18886"/>
                  <a:pt x="683" y="11139"/>
                  <a:pt x="0" y="0"/>
                </a:cubicBezTo>
                <a:close/>
              </a:path>
              <a:path w="2563453" h="30156" stroke="0" extrusionOk="0">
                <a:moveTo>
                  <a:pt x="0" y="0"/>
                </a:moveTo>
                <a:cubicBezTo>
                  <a:pt x="180519" y="12478"/>
                  <a:pt x="346497" y="9599"/>
                  <a:pt x="615229" y="0"/>
                </a:cubicBezTo>
                <a:cubicBezTo>
                  <a:pt x="883961" y="-9599"/>
                  <a:pt x="1048925" y="12520"/>
                  <a:pt x="1179188" y="0"/>
                </a:cubicBezTo>
                <a:cubicBezTo>
                  <a:pt x="1309451" y="-12520"/>
                  <a:pt x="1719581" y="13449"/>
                  <a:pt x="1871321" y="0"/>
                </a:cubicBezTo>
                <a:cubicBezTo>
                  <a:pt x="2023061" y="-13449"/>
                  <a:pt x="2273280" y="-3626"/>
                  <a:pt x="2563453" y="0"/>
                </a:cubicBezTo>
                <a:cubicBezTo>
                  <a:pt x="2562794" y="13600"/>
                  <a:pt x="2564175" y="24089"/>
                  <a:pt x="2563453" y="30156"/>
                </a:cubicBezTo>
                <a:cubicBezTo>
                  <a:pt x="2398178" y="8942"/>
                  <a:pt x="2258449" y="43937"/>
                  <a:pt x="1973859" y="30156"/>
                </a:cubicBezTo>
                <a:cubicBezTo>
                  <a:pt x="1689269" y="16375"/>
                  <a:pt x="1545463" y="17688"/>
                  <a:pt x="1384265" y="30156"/>
                </a:cubicBezTo>
                <a:cubicBezTo>
                  <a:pt x="1223067" y="42624"/>
                  <a:pt x="1016154" y="9436"/>
                  <a:pt x="692132" y="30156"/>
                </a:cubicBezTo>
                <a:cubicBezTo>
                  <a:pt x="368110" y="50876"/>
                  <a:pt x="287097" y="19084"/>
                  <a:pt x="0" y="30156"/>
                </a:cubicBezTo>
                <a:cubicBezTo>
                  <a:pt x="-1482" y="23895"/>
                  <a:pt x="479" y="1186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E9D8A-ED18-C092-A114-B1740685C9BE}"/>
              </a:ext>
            </a:extLst>
          </p:cNvPr>
          <p:cNvSpPr txBox="1"/>
          <p:nvPr/>
        </p:nvSpPr>
        <p:spPr>
          <a:xfrm>
            <a:off x="7674738" y="829352"/>
            <a:ext cx="11368869" cy="2412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Q8: Peak &amp; low EV sales months (2022–2024)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/>
              <a:t>EV sales increase significantly from 2022 → 2024, showing rapid market expansion and rising adoption </a:t>
            </a:r>
            <a:br>
              <a:rPr lang="en-US" sz="2000" dirty="0"/>
            </a:br>
            <a:r>
              <a:rPr lang="en-US" sz="2000" dirty="0"/>
              <a:t>Sales generally start lower in early months and increase toward year-end, indicating a clear growth pattern </a:t>
            </a:r>
            <a:br>
              <a:rPr lang="en-US" sz="2000" dirty="0"/>
            </a:br>
            <a:r>
              <a:rPr lang="en-US" sz="2000" dirty="0"/>
              <a:t>Sales peak during October–March, driven by festive demand, offers, and financial year-end purchases </a:t>
            </a:r>
            <a:br>
              <a:rPr lang="en-US" sz="2000" dirty="0"/>
            </a:br>
            <a:r>
              <a:rPr lang="en-US" sz="2000" dirty="0"/>
              <a:t>March records the highest sales across all years </a:t>
            </a:r>
            <a:r>
              <a:rPr lang="en-US" sz="2000" i="1" dirty="0"/>
              <a:t>(peak: Mar 2024 – 1,38,343)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Especially May shows the lowest sales </a:t>
            </a:r>
            <a:r>
              <a:rPr lang="en-US" sz="2000" i="1" dirty="0"/>
              <a:t>(lowest: May 2022 – 1,499)</a:t>
            </a:r>
            <a:r>
              <a:rPr lang="en-US" sz="2000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4E276E-1209-82F8-5E11-85455C900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87" y="3982007"/>
            <a:ext cx="18003221" cy="61210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F16F357-0EEC-A619-7B6C-6708678EEBFC}"/>
              </a:ext>
            </a:extLst>
          </p:cNvPr>
          <p:cNvSpPr txBox="1"/>
          <p:nvPr/>
        </p:nvSpPr>
        <p:spPr>
          <a:xfrm>
            <a:off x="1040387" y="1054615"/>
            <a:ext cx="5654278" cy="28348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85DC65-4E2F-46FA-CECA-7EF26149E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9474" y="20447"/>
            <a:ext cx="1504670" cy="150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91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ED666-9A8F-BEB6-DAF2-2996E50F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6" name="Rectangle 16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80358" y="2020605"/>
            <a:ext cx="2563453" cy="30156"/>
          </a:xfrm>
          <a:custGeom>
            <a:avLst/>
            <a:gdLst>
              <a:gd name="csX0" fmla="*/ 0 w 2563453"/>
              <a:gd name="csY0" fmla="*/ 0 h 30156"/>
              <a:gd name="csX1" fmla="*/ 615229 w 2563453"/>
              <a:gd name="csY1" fmla="*/ 0 h 30156"/>
              <a:gd name="csX2" fmla="*/ 1256092 w 2563453"/>
              <a:gd name="csY2" fmla="*/ 0 h 30156"/>
              <a:gd name="csX3" fmla="*/ 1896955 w 2563453"/>
              <a:gd name="csY3" fmla="*/ 0 h 30156"/>
              <a:gd name="csX4" fmla="*/ 2563453 w 2563453"/>
              <a:gd name="csY4" fmla="*/ 0 h 30156"/>
              <a:gd name="csX5" fmla="*/ 2563453 w 2563453"/>
              <a:gd name="csY5" fmla="*/ 30156 h 30156"/>
              <a:gd name="csX6" fmla="*/ 1922590 w 2563453"/>
              <a:gd name="csY6" fmla="*/ 30156 h 30156"/>
              <a:gd name="csX7" fmla="*/ 1332996 w 2563453"/>
              <a:gd name="csY7" fmla="*/ 30156 h 30156"/>
              <a:gd name="csX8" fmla="*/ 743401 w 2563453"/>
              <a:gd name="csY8" fmla="*/ 30156 h 30156"/>
              <a:gd name="csX9" fmla="*/ 0 w 2563453"/>
              <a:gd name="csY9" fmla="*/ 30156 h 30156"/>
              <a:gd name="csX10" fmla="*/ 0 w 2563453"/>
              <a:gd name="csY10" fmla="*/ 0 h 30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563453" h="30156" fill="none" extrusionOk="0">
                <a:moveTo>
                  <a:pt x="0" y="0"/>
                </a:moveTo>
                <a:cubicBezTo>
                  <a:pt x="230725" y="25042"/>
                  <a:pt x="334745" y="-17031"/>
                  <a:pt x="615229" y="0"/>
                </a:cubicBezTo>
                <a:cubicBezTo>
                  <a:pt x="895713" y="17031"/>
                  <a:pt x="1032438" y="-10780"/>
                  <a:pt x="1256092" y="0"/>
                </a:cubicBezTo>
                <a:cubicBezTo>
                  <a:pt x="1479746" y="10780"/>
                  <a:pt x="1697046" y="-25121"/>
                  <a:pt x="1896955" y="0"/>
                </a:cubicBezTo>
                <a:cubicBezTo>
                  <a:pt x="2096864" y="25121"/>
                  <a:pt x="2352925" y="-19711"/>
                  <a:pt x="2563453" y="0"/>
                </a:cubicBezTo>
                <a:cubicBezTo>
                  <a:pt x="2564253" y="10078"/>
                  <a:pt x="2563562" y="20884"/>
                  <a:pt x="2563453" y="30156"/>
                </a:cubicBezTo>
                <a:cubicBezTo>
                  <a:pt x="2279599" y="56750"/>
                  <a:pt x="2224705" y="2617"/>
                  <a:pt x="1922590" y="30156"/>
                </a:cubicBezTo>
                <a:cubicBezTo>
                  <a:pt x="1620475" y="57695"/>
                  <a:pt x="1572722" y="52668"/>
                  <a:pt x="1332996" y="30156"/>
                </a:cubicBezTo>
                <a:cubicBezTo>
                  <a:pt x="1093270" y="7644"/>
                  <a:pt x="933608" y="49475"/>
                  <a:pt x="743401" y="30156"/>
                </a:cubicBezTo>
                <a:cubicBezTo>
                  <a:pt x="553195" y="10837"/>
                  <a:pt x="281961" y="-2109"/>
                  <a:pt x="0" y="30156"/>
                </a:cubicBezTo>
                <a:cubicBezTo>
                  <a:pt x="-403" y="18886"/>
                  <a:pt x="683" y="11139"/>
                  <a:pt x="0" y="0"/>
                </a:cubicBezTo>
                <a:close/>
              </a:path>
              <a:path w="2563453" h="30156" stroke="0" extrusionOk="0">
                <a:moveTo>
                  <a:pt x="0" y="0"/>
                </a:moveTo>
                <a:cubicBezTo>
                  <a:pt x="180519" y="12478"/>
                  <a:pt x="346497" y="9599"/>
                  <a:pt x="615229" y="0"/>
                </a:cubicBezTo>
                <a:cubicBezTo>
                  <a:pt x="883961" y="-9599"/>
                  <a:pt x="1048925" y="12520"/>
                  <a:pt x="1179188" y="0"/>
                </a:cubicBezTo>
                <a:cubicBezTo>
                  <a:pt x="1309451" y="-12520"/>
                  <a:pt x="1719581" y="13449"/>
                  <a:pt x="1871321" y="0"/>
                </a:cubicBezTo>
                <a:cubicBezTo>
                  <a:pt x="2023061" y="-13449"/>
                  <a:pt x="2273280" y="-3626"/>
                  <a:pt x="2563453" y="0"/>
                </a:cubicBezTo>
                <a:cubicBezTo>
                  <a:pt x="2562794" y="13600"/>
                  <a:pt x="2564175" y="24089"/>
                  <a:pt x="2563453" y="30156"/>
                </a:cubicBezTo>
                <a:cubicBezTo>
                  <a:pt x="2398178" y="8942"/>
                  <a:pt x="2258449" y="43937"/>
                  <a:pt x="1973859" y="30156"/>
                </a:cubicBezTo>
                <a:cubicBezTo>
                  <a:pt x="1689269" y="16375"/>
                  <a:pt x="1545463" y="17688"/>
                  <a:pt x="1384265" y="30156"/>
                </a:cubicBezTo>
                <a:cubicBezTo>
                  <a:pt x="1223067" y="42624"/>
                  <a:pt x="1016154" y="9436"/>
                  <a:pt x="692132" y="30156"/>
                </a:cubicBezTo>
                <a:cubicBezTo>
                  <a:pt x="368110" y="50876"/>
                  <a:pt x="287097" y="19084"/>
                  <a:pt x="0" y="30156"/>
                </a:cubicBezTo>
                <a:cubicBezTo>
                  <a:pt x="-1482" y="23895"/>
                  <a:pt x="479" y="1186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656A51-EAFD-65CC-6C5F-FB0FB52348E7}"/>
              </a:ext>
            </a:extLst>
          </p:cNvPr>
          <p:cNvSpPr txBox="1"/>
          <p:nvPr/>
        </p:nvSpPr>
        <p:spPr>
          <a:xfrm>
            <a:off x="7674738" y="829352"/>
            <a:ext cx="11368869" cy="2412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Q9: EV sales projection for 2030 (Top 10 states by penetration)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Peak Sales Performance (March): March is consistently the highest-performing month for EV sales across all analyzed years, significantly outperforming other months with a three-year aggregate of approximately 291,587 units.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 Sales Performance (June and May): The lowest sales typically occur in the first quarter of the fiscal year, with June and May recording the lowest aggregate volumes (approximately 106,709 and 159,869 units respectively).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Fiscal Year Consistency: The "Peak" in March remained stable from 2022 through 2024, while the "Low" period shifted slightly from May in fiscal years 2022 and 2023 to June in fiscal year 2024.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033A86-C591-28C4-E4FC-E3DE8CEE5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42" y="3777923"/>
            <a:ext cx="17766711" cy="65292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A7B400-B072-1FDC-A961-2BA8CC5276BF}"/>
              </a:ext>
            </a:extLst>
          </p:cNvPr>
          <p:cNvSpPr txBox="1"/>
          <p:nvPr/>
        </p:nvSpPr>
        <p:spPr>
          <a:xfrm>
            <a:off x="1040387" y="1054615"/>
            <a:ext cx="5654278" cy="28348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6CEEA7-0A70-3CA3-8955-375DA5D19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9474" y="20447"/>
            <a:ext cx="1504670" cy="150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85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7A4D4-929E-EED2-1250-77F96FC7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6" name="Rectangle 165">
            <a:extLst>
              <a:ext uri="{FF2B5EF4-FFF2-40B4-BE49-F238E27FC236}">
                <a16:creationId xmlns:a16="http://schemas.microsoft.com/office/drawing/2014/main" id="{F3F54823-4B27-EB63-335C-47A3B8EAB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sketch line">
            <a:extLst>
              <a:ext uri="{FF2B5EF4-FFF2-40B4-BE49-F238E27FC236}">
                <a16:creationId xmlns:a16="http://schemas.microsoft.com/office/drawing/2014/main" id="{5D967608-6928-967B-7947-57D27646F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80358" y="2020605"/>
            <a:ext cx="2563453" cy="30156"/>
          </a:xfrm>
          <a:custGeom>
            <a:avLst/>
            <a:gdLst>
              <a:gd name="csX0" fmla="*/ 0 w 2563453"/>
              <a:gd name="csY0" fmla="*/ 0 h 30156"/>
              <a:gd name="csX1" fmla="*/ 615229 w 2563453"/>
              <a:gd name="csY1" fmla="*/ 0 h 30156"/>
              <a:gd name="csX2" fmla="*/ 1256092 w 2563453"/>
              <a:gd name="csY2" fmla="*/ 0 h 30156"/>
              <a:gd name="csX3" fmla="*/ 1896955 w 2563453"/>
              <a:gd name="csY3" fmla="*/ 0 h 30156"/>
              <a:gd name="csX4" fmla="*/ 2563453 w 2563453"/>
              <a:gd name="csY4" fmla="*/ 0 h 30156"/>
              <a:gd name="csX5" fmla="*/ 2563453 w 2563453"/>
              <a:gd name="csY5" fmla="*/ 30156 h 30156"/>
              <a:gd name="csX6" fmla="*/ 1922590 w 2563453"/>
              <a:gd name="csY6" fmla="*/ 30156 h 30156"/>
              <a:gd name="csX7" fmla="*/ 1332996 w 2563453"/>
              <a:gd name="csY7" fmla="*/ 30156 h 30156"/>
              <a:gd name="csX8" fmla="*/ 743401 w 2563453"/>
              <a:gd name="csY8" fmla="*/ 30156 h 30156"/>
              <a:gd name="csX9" fmla="*/ 0 w 2563453"/>
              <a:gd name="csY9" fmla="*/ 30156 h 30156"/>
              <a:gd name="csX10" fmla="*/ 0 w 2563453"/>
              <a:gd name="csY10" fmla="*/ 0 h 30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563453" h="30156" fill="none" extrusionOk="0">
                <a:moveTo>
                  <a:pt x="0" y="0"/>
                </a:moveTo>
                <a:cubicBezTo>
                  <a:pt x="230725" y="25042"/>
                  <a:pt x="334745" y="-17031"/>
                  <a:pt x="615229" y="0"/>
                </a:cubicBezTo>
                <a:cubicBezTo>
                  <a:pt x="895713" y="17031"/>
                  <a:pt x="1032438" y="-10780"/>
                  <a:pt x="1256092" y="0"/>
                </a:cubicBezTo>
                <a:cubicBezTo>
                  <a:pt x="1479746" y="10780"/>
                  <a:pt x="1697046" y="-25121"/>
                  <a:pt x="1896955" y="0"/>
                </a:cubicBezTo>
                <a:cubicBezTo>
                  <a:pt x="2096864" y="25121"/>
                  <a:pt x="2352925" y="-19711"/>
                  <a:pt x="2563453" y="0"/>
                </a:cubicBezTo>
                <a:cubicBezTo>
                  <a:pt x="2564253" y="10078"/>
                  <a:pt x="2563562" y="20884"/>
                  <a:pt x="2563453" y="30156"/>
                </a:cubicBezTo>
                <a:cubicBezTo>
                  <a:pt x="2279599" y="56750"/>
                  <a:pt x="2224705" y="2617"/>
                  <a:pt x="1922590" y="30156"/>
                </a:cubicBezTo>
                <a:cubicBezTo>
                  <a:pt x="1620475" y="57695"/>
                  <a:pt x="1572722" y="52668"/>
                  <a:pt x="1332996" y="30156"/>
                </a:cubicBezTo>
                <a:cubicBezTo>
                  <a:pt x="1093270" y="7644"/>
                  <a:pt x="933608" y="49475"/>
                  <a:pt x="743401" y="30156"/>
                </a:cubicBezTo>
                <a:cubicBezTo>
                  <a:pt x="553195" y="10837"/>
                  <a:pt x="281961" y="-2109"/>
                  <a:pt x="0" y="30156"/>
                </a:cubicBezTo>
                <a:cubicBezTo>
                  <a:pt x="-403" y="18886"/>
                  <a:pt x="683" y="11139"/>
                  <a:pt x="0" y="0"/>
                </a:cubicBezTo>
                <a:close/>
              </a:path>
              <a:path w="2563453" h="30156" stroke="0" extrusionOk="0">
                <a:moveTo>
                  <a:pt x="0" y="0"/>
                </a:moveTo>
                <a:cubicBezTo>
                  <a:pt x="180519" y="12478"/>
                  <a:pt x="346497" y="9599"/>
                  <a:pt x="615229" y="0"/>
                </a:cubicBezTo>
                <a:cubicBezTo>
                  <a:pt x="883961" y="-9599"/>
                  <a:pt x="1048925" y="12520"/>
                  <a:pt x="1179188" y="0"/>
                </a:cubicBezTo>
                <a:cubicBezTo>
                  <a:pt x="1309451" y="-12520"/>
                  <a:pt x="1719581" y="13449"/>
                  <a:pt x="1871321" y="0"/>
                </a:cubicBezTo>
                <a:cubicBezTo>
                  <a:pt x="2023061" y="-13449"/>
                  <a:pt x="2273280" y="-3626"/>
                  <a:pt x="2563453" y="0"/>
                </a:cubicBezTo>
                <a:cubicBezTo>
                  <a:pt x="2562794" y="13600"/>
                  <a:pt x="2564175" y="24089"/>
                  <a:pt x="2563453" y="30156"/>
                </a:cubicBezTo>
                <a:cubicBezTo>
                  <a:pt x="2398178" y="8942"/>
                  <a:pt x="2258449" y="43937"/>
                  <a:pt x="1973859" y="30156"/>
                </a:cubicBezTo>
                <a:cubicBezTo>
                  <a:pt x="1689269" y="16375"/>
                  <a:pt x="1545463" y="17688"/>
                  <a:pt x="1384265" y="30156"/>
                </a:cubicBezTo>
                <a:cubicBezTo>
                  <a:pt x="1223067" y="42624"/>
                  <a:pt x="1016154" y="9436"/>
                  <a:pt x="692132" y="30156"/>
                </a:cubicBezTo>
                <a:cubicBezTo>
                  <a:pt x="368110" y="50876"/>
                  <a:pt x="287097" y="19084"/>
                  <a:pt x="0" y="30156"/>
                </a:cubicBezTo>
                <a:cubicBezTo>
                  <a:pt x="-1482" y="23895"/>
                  <a:pt x="479" y="1186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C3B4F-5A76-90A9-31C2-30C51DC30B76}"/>
              </a:ext>
            </a:extLst>
          </p:cNvPr>
          <p:cNvSpPr txBox="1"/>
          <p:nvPr/>
        </p:nvSpPr>
        <p:spPr>
          <a:xfrm>
            <a:off x="7674738" y="829352"/>
            <a:ext cx="11368869" cy="2412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Q10: Revenue growth analysis (2W &amp; 4W EVs)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2-Wheelers drive volume growth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sales rising significantly and dominating overall EV adoption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4-Wheelers lead in revenue and faster growth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strong expansion in the premium segment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split is clear: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2W = volume-driven, while 4W = value-driven with higher growth momentum </a:t>
            </a:r>
          </a:p>
          <a:p>
            <a:pPr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489A4-990C-5FAB-DBB6-92C27870A5AE}"/>
              </a:ext>
            </a:extLst>
          </p:cNvPr>
          <p:cNvSpPr txBox="1"/>
          <p:nvPr/>
        </p:nvSpPr>
        <p:spPr>
          <a:xfrm>
            <a:off x="1040387" y="1054615"/>
            <a:ext cx="5654278" cy="28348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756427-F00E-D99D-030F-D96A28109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9474" y="20447"/>
            <a:ext cx="1504670" cy="150467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320D211-7F31-FA8C-5FE5-8D0D277BE9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3475108"/>
              </p:ext>
            </p:extLst>
          </p:nvPr>
        </p:nvGraphicFramePr>
        <p:xfrm>
          <a:off x="2508250" y="3889492"/>
          <a:ext cx="10820400" cy="6032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14791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A4316-9AFD-2057-09AF-207EF3721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4E92D971-5569-CC5A-5066-197AFF3A86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4000"/>
          </a:blip>
          <a:stretch>
            <a:fillRect/>
          </a:stretch>
        </p:blipFill>
        <p:spPr>
          <a:xfrm>
            <a:off x="-9989" y="-10487"/>
            <a:ext cx="10062039" cy="11309350"/>
          </a:xfrm>
          <a:prstGeom prst="rect">
            <a:avLst/>
          </a:prstGeom>
          <a:gradFill>
            <a:gsLst>
              <a:gs pos="0">
                <a:schemeClr val="bg1">
                  <a:alpha val="2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3A85DDA-855F-4794-5D0C-80B1540D24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09250" y="549275"/>
            <a:ext cx="8534400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25"/>
              </a:spcBef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Secondary Research Questions</a:t>
            </a:r>
            <a:endParaRPr sz="8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D2C25E-9E06-F229-0FD2-EB90F3320920}"/>
              </a:ext>
            </a:extLst>
          </p:cNvPr>
          <p:cNvSpPr txBox="1"/>
          <p:nvPr/>
        </p:nvSpPr>
        <p:spPr>
          <a:xfrm>
            <a:off x="10509250" y="1844675"/>
            <a:ext cx="8763000" cy="8333820"/>
          </a:xfrm>
          <a:prstGeom prst="rect">
            <a:avLst/>
          </a:prstGeom>
          <a:solidFill>
            <a:srgbClr val="AEBE9A">
              <a:alpha val="10000"/>
            </a:srgbClr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What are the primary reasons for customers choosing 4-wheeler EVs in 2023 and 2024 (cost savings, environmental concerns, government incentives)?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How do government incentives and subsidies impact the adoption rates of 2-wheelers and 4-wheelers? Which states in India provided most subsidies?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How does the availability of charging stations infrastructure correlate with the EV sales and penetration rates in the top 5 states?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Who should be the brand ambassador if AtliQ Motors launches their EV/Hybrid vehicles in India and why?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Which state of India is ideal to start the manufacturing unit? (Based on subsidies provided, ease of doing business, stability in governance etc.)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top 3 recommendations for AtliQ Motors.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19405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92FBE-CEEC-2405-0D97-26DDBBAB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319139" y="2459538"/>
            <a:ext cx="5497599" cy="576987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D29B37-B724-708E-BE7C-E904006F15D1}"/>
              </a:ext>
            </a:extLst>
          </p:cNvPr>
          <p:cNvSpPr txBox="1"/>
          <p:nvPr/>
        </p:nvSpPr>
        <p:spPr>
          <a:xfrm>
            <a:off x="1696283" y="3244167"/>
            <a:ext cx="4334947" cy="42006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Qn 1: the primary reasons for customers choosing 4-wheeler EVs in 2023 and 2024 (cost savings, environmental concerns, government 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incentives)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84DA51-E9F6-EF08-2FED-1807C61CC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95" y="1138390"/>
            <a:ext cx="11181091" cy="902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45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A88CB-BC6B-2670-50AF-8A2762CA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0103597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" y="8293520"/>
            <a:ext cx="20163672" cy="3015826"/>
            <a:chOff x="-305" y="2987478"/>
            <a:chExt cx="12188952" cy="18288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9FAC39-1E20-9B30-03D1-A3734F244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32153"/>
              </p:ext>
            </p:extLst>
          </p:nvPr>
        </p:nvGraphicFramePr>
        <p:xfrm>
          <a:off x="374649" y="1384471"/>
          <a:ext cx="9982199" cy="77321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8326">
                  <a:extLst>
                    <a:ext uri="{9D8B030D-6E8A-4147-A177-3AD203B41FA5}">
                      <a16:colId xmlns:a16="http://schemas.microsoft.com/office/drawing/2014/main" val="3408083989"/>
                    </a:ext>
                  </a:extLst>
                </a:gridCol>
                <a:gridCol w="4469018">
                  <a:extLst>
                    <a:ext uri="{9D8B030D-6E8A-4147-A177-3AD203B41FA5}">
                      <a16:colId xmlns:a16="http://schemas.microsoft.com/office/drawing/2014/main" val="3228953838"/>
                    </a:ext>
                  </a:extLst>
                </a:gridCol>
                <a:gridCol w="3424855">
                  <a:extLst>
                    <a:ext uri="{9D8B030D-6E8A-4147-A177-3AD203B41FA5}">
                      <a16:colId xmlns:a16="http://schemas.microsoft.com/office/drawing/2014/main" val="1758710193"/>
                    </a:ext>
                  </a:extLst>
                </a:gridCol>
              </a:tblGrid>
              <a:tr h="738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+mn-lt"/>
                        </a:rPr>
                        <a:t>Factor</a:t>
                      </a:r>
                    </a:p>
                  </a:txBody>
                  <a:tcPr anchor="ctr">
                    <a:solidFill>
                      <a:srgbClr val="196B24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+mn-lt"/>
                        </a:rPr>
                        <a:t>Description</a:t>
                      </a:r>
                      <a:endParaRPr lang="en-IN" sz="2400" dirty="0">
                        <a:latin typeface="+mn-lt"/>
                      </a:endParaRPr>
                    </a:p>
                  </a:txBody>
                  <a:tcPr anchor="ctr">
                    <a:solidFill>
                      <a:srgbClr val="196B24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+mn-lt"/>
                        </a:rPr>
                        <a:t>Impact on Customers</a:t>
                      </a:r>
                      <a:endParaRPr lang="en-IN" sz="2400" dirty="0">
                        <a:latin typeface="+mn-lt"/>
                      </a:endParaRPr>
                    </a:p>
                  </a:txBody>
                  <a:tcPr anchor="ctr"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1408"/>
                  </a:ext>
                </a:extLst>
              </a:tr>
              <a:tr h="11014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latin typeface="+mn-lt"/>
                        </a:rPr>
                        <a:t>Lower Running Cost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Electricity is cheaper than petrol/diesel; fewer moving parts reduce servicing costs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Major cost savings in long-term ownership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71497"/>
                  </a:ext>
                </a:extLst>
              </a:tr>
              <a:tr h="1101471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+mn-lt"/>
                        </a:rPr>
                        <a:t>Environmental Awareness</a:t>
                      </a:r>
                    </a:p>
                  </a:txBody>
                  <a:tcPr>
                    <a:solidFill>
                      <a:schemeClr val="bg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+mn-lt"/>
                        </a:rPr>
                        <a:t>EVs produce zero tailpipe emissions and reduce carbon footprint</a:t>
                      </a:r>
                      <a:endParaRPr lang="en-IN" sz="1800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+mn-lt"/>
                        </a:rPr>
                        <a:t>Appeals to eco-conscious buyers</a:t>
                      </a:r>
                    </a:p>
                  </a:txBody>
                  <a:tcPr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362514"/>
                  </a:ext>
                </a:extLst>
              </a:tr>
              <a:tr h="734356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+mn-lt"/>
                        </a:rPr>
                        <a:t>Government Incentives</a:t>
                      </a:r>
                    </a:p>
                  </a:txBody>
                  <a:tcPr>
                    <a:solidFill>
                      <a:srgbClr val="C1F0C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+mn-lt"/>
                        </a:rPr>
                        <a:t>Subsidies under FAME II Scheme + tax benefits</a:t>
                      </a:r>
                      <a:endParaRPr lang="en-IN" sz="1800" dirty="0">
                        <a:latin typeface="+mn-lt"/>
                      </a:endParaRPr>
                    </a:p>
                  </a:txBody>
                  <a:tcPr>
                    <a:solidFill>
                      <a:srgbClr val="C1F0C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+mn-lt"/>
                        </a:rPr>
                        <a:t>Reduces initial purchase cost</a:t>
                      </a:r>
                    </a:p>
                  </a:txBody>
                  <a:tcPr>
                    <a:solidFill>
                      <a:srgbClr val="C1F0C8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56766"/>
                  </a:ext>
                </a:extLst>
              </a:tr>
              <a:tr h="738675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+mn-lt"/>
                        </a:rPr>
                        <a:t>Rising Fuel Prices</a:t>
                      </a:r>
                    </a:p>
                  </a:txBody>
                  <a:tcPr>
                    <a:solidFill>
                      <a:schemeClr val="bg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+mn-lt"/>
                        </a:rPr>
                        <a:t>Petrol/diesel prices continue to increase</a:t>
                      </a:r>
                      <a:endParaRPr lang="en-IN" sz="1800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+mn-lt"/>
                        </a:rPr>
                        <a:t>EVs become more economical over time</a:t>
                      </a:r>
                      <a:endParaRPr lang="en-IN" sz="1800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865820"/>
                  </a:ext>
                </a:extLst>
              </a:tr>
              <a:tr h="11014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latin typeface="+mn-lt"/>
                        </a:rPr>
                        <a:t> Tech Advancements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Better battery range, smart features, fast charging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latin typeface="+mn-lt"/>
                        </a:rPr>
                        <a:t>Improves driving experience &amp; trust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857166"/>
                  </a:ext>
                </a:extLst>
              </a:tr>
              <a:tr h="738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latin typeface="+mn-lt"/>
                        </a:rPr>
                        <a:t> Urban Suitability</a:t>
                      </a:r>
                    </a:p>
                  </a:txBody>
                  <a:tcPr anchor="ctr">
                    <a:solidFill>
                      <a:schemeClr val="bg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Ideal for daily commuting &amp; city travel</a:t>
                      </a:r>
                    </a:p>
                  </a:txBody>
                  <a:tcPr anchor="ctr">
                    <a:solidFill>
                      <a:schemeClr val="bg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Convenient for home charging users</a:t>
                      </a:r>
                    </a:p>
                  </a:txBody>
                  <a:tcPr anchor="ctr"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941334"/>
                  </a:ext>
                </a:extLst>
              </a:tr>
              <a:tr h="738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latin typeface="+mn-lt"/>
                        </a:rPr>
                        <a:t> Social Influence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Early adopters &amp; status symbol effect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latin typeface="+mn-lt"/>
                        </a:rPr>
                        <a:t>Attracts young professionals</a:t>
                      </a:r>
                    </a:p>
                  </a:txBody>
                  <a:tcPr anchor="ctr">
                    <a:solidFill>
                      <a:srgbClr val="C1F0C8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158536"/>
                  </a:ext>
                </a:extLst>
              </a:tr>
              <a:tr h="738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latin typeface="+mn-lt"/>
                        </a:rPr>
                        <a:t>Model Availability</a:t>
                      </a:r>
                    </a:p>
                  </a:txBody>
                  <a:tcPr anchor="ctr">
                    <a:solidFill>
                      <a:schemeClr val="bg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More EV options across price segments</a:t>
                      </a:r>
                    </a:p>
                  </a:txBody>
                  <a:tcPr anchor="ctr">
                    <a:solidFill>
                      <a:schemeClr val="bg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latin typeface="+mn-lt"/>
                        </a:rPr>
                        <a:t>Increased consumer choice</a:t>
                      </a:r>
                    </a:p>
                  </a:txBody>
                  <a:tcPr anchor="ctr">
                    <a:solidFill>
                      <a:schemeClr val="bg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235698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2A9B42D1-9170-9CDF-252E-4A666B093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49" y="1110031"/>
            <a:ext cx="9576065" cy="753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05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1EEEC-D4FD-108C-3CB8-25DF5031E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0D37CA-31BA-FCB1-A522-FF109507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2257" y="812896"/>
            <a:ext cx="8458200" cy="5124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E3B0EC-C2FD-FDBF-4CE7-54CA4B0874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32854" y="4203"/>
            <a:ext cx="20104100" cy="113009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B36A0A-0264-C6A9-5D6B-63B16724A9F4}"/>
              </a:ext>
            </a:extLst>
          </p:cNvPr>
          <p:cNvSpPr/>
          <p:nvPr/>
        </p:nvSpPr>
        <p:spPr>
          <a:xfrm>
            <a:off x="545414" y="558572"/>
            <a:ext cx="6172200" cy="838200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</a:rPr>
              <a:t>Lower Running Cost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429F10D-3DEF-9B3A-D2D3-9EBBFB5124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6120976"/>
              </p:ext>
            </p:extLst>
          </p:nvPr>
        </p:nvGraphicFramePr>
        <p:xfrm>
          <a:off x="516581" y="6451115"/>
          <a:ext cx="10301308" cy="3667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D9F686-DE20-B0EF-93C1-B7B1B80C699A}"/>
              </a:ext>
            </a:extLst>
          </p:cNvPr>
          <p:cNvSpPr/>
          <p:nvPr/>
        </p:nvSpPr>
        <p:spPr>
          <a:xfrm>
            <a:off x="12109450" y="6464072"/>
            <a:ext cx="6019800" cy="3402617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 Fuel savings dominate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: EVs cost about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₹1/km vs ₹6–8/km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 for ICE cars.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 Maintenance savings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: EVs are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30–40% cheaper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 annually.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 Policy support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: EVs enjoy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lower GST (5%)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, subsidies, and road tax exemptions.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 Overall ownership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: Over 5 years, EVs typically have a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lower total cost of ownership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 despite higher upfront prices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3D1AC-9823-CC4E-AD54-C9E3AB51D6ED}"/>
              </a:ext>
            </a:extLst>
          </p:cNvPr>
          <p:cNvSpPr txBox="1"/>
          <p:nvPr/>
        </p:nvSpPr>
        <p:spPr>
          <a:xfrm>
            <a:off x="17519650" y="10512329"/>
            <a:ext cx="102166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 action="ppaction://hlinkfile"/>
              </a:rPr>
              <a:t>Source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6FA111-FBC8-7AE8-54E3-32820A17E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755913"/>
              </p:ext>
            </p:extLst>
          </p:nvPr>
        </p:nvGraphicFramePr>
        <p:xfrm>
          <a:off x="516581" y="1616072"/>
          <a:ext cx="10268636" cy="4186394"/>
        </p:xfrm>
        <a:graphic>
          <a:graphicData uri="http://schemas.openxmlformats.org/drawingml/2006/table">
            <a:tbl>
              <a:tblPr/>
              <a:tblGrid>
                <a:gridCol w="2470285">
                  <a:extLst>
                    <a:ext uri="{9D8B030D-6E8A-4147-A177-3AD203B41FA5}">
                      <a16:colId xmlns:a16="http://schemas.microsoft.com/office/drawing/2014/main" val="2753979932"/>
                    </a:ext>
                  </a:extLst>
                </a:gridCol>
                <a:gridCol w="2276537">
                  <a:extLst>
                    <a:ext uri="{9D8B030D-6E8A-4147-A177-3AD203B41FA5}">
                      <a16:colId xmlns:a16="http://schemas.microsoft.com/office/drawing/2014/main" val="4049285314"/>
                    </a:ext>
                  </a:extLst>
                </a:gridCol>
                <a:gridCol w="2615597">
                  <a:extLst>
                    <a:ext uri="{9D8B030D-6E8A-4147-A177-3AD203B41FA5}">
                      <a16:colId xmlns:a16="http://schemas.microsoft.com/office/drawing/2014/main" val="2718567487"/>
                    </a:ext>
                  </a:extLst>
                </a:gridCol>
                <a:gridCol w="2906217">
                  <a:extLst>
                    <a:ext uri="{9D8B030D-6E8A-4147-A177-3AD203B41FA5}">
                      <a16:colId xmlns:a16="http://schemas.microsoft.com/office/drawing/2014/main" val="1118444784"/>
                    </a:ext>
                  </a:extLst>
                </a:gridCol>
              </a:tblGrid>
              <a:tr h="8056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EV Cost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ICE Cost(Internal Combustion Engine)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Notes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694170"/>
                  </a:ext>
                </a:extLst>
              </a:tr>
              <a:tr h="408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Running Cost (per km)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₹1 – ₹1.5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₹6 – ₹8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EVs are 4–6x cheaper per km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87116"/>
                  </a:ext>
                </a:extLst>
              </a:tr>
              <a:tr h="805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Maintenance Cost (annual)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₹10,000 – ₹15,000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₹15,000 – ₹25,000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EVs have fewer moving parts, reducing service costs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043059"/>
                  </a:ext>
                </a:extLst>
              </a:tr>
              <a:tr h="805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Government Incentives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GST 5%, subsidies available, tax benefits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GST 28%  no subsidies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EVs benefit from central/state incentives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57155"/>
                  </a:ext>
                </a:extLst>
              </a:tr>
              <a:tr h="408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Road Tax &amp; Registration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Exempt or minimal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Applicable (varies by state)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Many states waive EV road tax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615143"/>
                  </a:ext>
                </a:extLst>
              </a:tr>
              <a:tr h="805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Cost of Ownership (5 years)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Lower overall despite higher upfront cost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Higher due to fuel &amp; maintenance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EVs save money long‑term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3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641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0B7FD-75EB-D0DE-9FE0-7034935F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21D00B-B8A8-22CF-66F1-082AC9411C0F}"/>
              </a:ext>
            </a:extLst>
          </p:cNvPr>
          <p:cNvSpPr/>
          <p:nvPr/>
        </p:nvSpPr>
        <p:spPr>
          <a:xfrm>
            <a:off x="755650" y="549275"/>
            <a:ext cx="6172200" cy="838200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</a:rPr>
              <a:t>Environmental Awareness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4D33EC-E3E1-8816-D5A5-9F7383E13831}"/>
              </a:ext>
            </a:extLst>
          </p:cNvPr>
          <p:cNvSpPr/>
          <p:nvPr/>
        </p:nvSpPr>
        <p:spPr>
          <a:xfrm>
            <a:off x="12338050" y="6264275"/>
            <a:ext cx="6248400" cy="3657599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 zero tailpipe emissions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them far cleaner in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 accounting for battery production, EVs typically cut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lifetime CO₂ emissions by ~40%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ICE vehicles.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Environmental awareness is now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3 driver of EV adoption in India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~39% of surveyed buyers citing it as a key factor.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068EC6-FF60-D5A1-9247-FC6FFB443136}"/>
              </a:ext>
            </a:extLst>
          </p:cNvPr>
          <p:cNvSpPr txBox="1"/>
          <p:nvPr/>
        </p:nvSpPr>
        <p:spPr>
          <a:xfrm>
            <a:off x="17793386" y="10720345"/>
            <a:ext cx="102166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Source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C72992-9832-5395-AEF7-FC040C60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30263"/>
              </p:ext>
            </p:extLst>
          </p:nvPr>
        </p:nvGraphicFramePr>
        <p:xfrm>
          <a:off x="755650" y="1692275"/>
          <a:ext cx="10287000" cy="3553343"/>
        </p:xfrm>
        <a:graphic>
          <a:graphicData uri="http://schemas.openxmlformats.org/drawingml/2006/table">
            <a:tbl>
              <a:tblPr/>
              <a:tblGrid>
                <a:gridCol w="3451559">
                  <a:extLst>
                    <a:ext uri="{9D8B030D-6E8A-4147-A177-3AD203B41FA5}">
                      <a16:colId xmlns:a16="http://schemas.microsoft.com/office/drawing/2014/main" val="2430040366"/>
                    </a:ext>
                  </a:extLst>
                </a:gridCol>
                <a:gridCol w="3180848">
                  <a:extLst>
                    <a:ext uri="{9D8B030D-6E8A-4147-A177-3AD203B41FA5}">
                      <a16:colId xmlns:a16="http://schemas.microsoft.com/office/drawing/2014/main" val="564743991"/>
                    </a:ext>
                  </a:extLst>
                </a:gridCol>
                <a:gridCol w="3654593">
                  <a:extLst>
                    <a:ext uri="{9D8B030D-6E8A-4147-A177-3AD203B41FA5}">
                      <a16:colId xmlns:a16="http://schemas.microsoft.com/office/drawing/2014/main" val="4190942723"/>
                    </a:ext>
                  </a:extLst>
                </a:gridCol>
              </a:tblGrid>
              <a:tr h="29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Aspect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Electric Vehicles (EVs)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Petrol/Diesel Vehicles (ICE)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180505"/>
                  </a:ext>
                </a:extLst>
              </a:tr>
              <a:tr h="5957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Tailpipe Emissions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Zero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– no CO₂, NOx, or particulate matter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CO₂, NOx, PM emissions → urban air pollution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334496"/>
                  </a:ext>
                </a:extLst>
              </a:tr>
              <a:tr h="5957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Carbon Footprint (lifecycle)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30–50% lower (depends on electricity mix)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lifecycle emissions from fuel extraction, refining, combustion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958973"/>
                  </a:ext>
                </a:extLst>
              </a:tr>
              <a:tr h="297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Noise Pollution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low – quiet operation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Significant engine noise and vibration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475895"/>
                  </a:ext>
                </a:extLst>
              </a:tr>
              <a:tr h="5957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Climate Impact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Helps reduce greenhouse gases, supports climate goals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Major contributor to global warming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61"/>
                  </a:ext>
                </a:extLst>
              </a:tr>
              <a:tr h="5957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Air Quality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Improves urban air quality, reduces smog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Worsens air quality, linked to respiratory issues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101467"/>
                  </a:ext>
                </a:extLst>
              </a:tr>
              <a:tr h="297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Consumer Appeal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among eco‑conscious buyers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Increasingly seen as unsustainable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489338"/>
                  </a:ext>
                </a:extLst>
              </a:tr>
            </a:tbl>
          </a:graphicData>
        </a:graphic>
      </p:graphicFrame>
      <p:pic>
        <p:nvPicPr>
          <p:cNvPr id="2052" name="Picture 4" descr="Electric car vs petrol auto. Green energy transition. Vehicle charge at ...">
            <a:extLst>
              <a:ext uri="{FF2B5EF4-FFF2-40B4-BE49-F238E27FC236}">
                <a16:creationId xmlns:a16="http://schemas.microsoft.com/office/drawing/2014/main" id="{09FE9565-9A68-2316-C62A-A25157D43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49" y="1230954"/>
            <a:ext cx="8789801" cy="5014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805F65-D9B7-4708-3D0A-EA066836F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441173"/>
              </p:ext>
            </p:extLst>
          </p:nvPr>
        </p:nvGraphicFramePr>
        <p:xfrm>
          <a:off x="755650" y="5654675"/>
          <a:ext cx="10439400" cy="3505199"/>
        </p:xfrm>
        <a:graphic>
          <a:graphicData uri="http://schemas.openxmlformats.org/drawingml/2006/table">
            <a:tbl>
              <a:tblPr/>
              <a:tblGrid>
                <a:gridCol w="3502694">
                  <a:extLst>
                    <a:ext uri="{9D8B030D-6E8A-4147-A177-3AD203B41FA5}">
                      <a16:colId xmlns:a16="http://schemas.microsoft.com/office/drawing/2014/main" val="2823840825"/>
                    </a:ext>
                  </a:extLst>
                </a:gridCol>
                <a:gridCol w="3227972">
                  <a:extLst>
                    <a:ext uri="{9D8B030D-6E8A-4147-A177-3AD203B41FA5}">
                      <a16:colId xmlns:a16="http://schemas.microsoft.com/office/drawing/2014/main" val="393120677"/>
                    </a:ext>
                  </a:extLst>
                </a:gridCol>
                <a:gridCol w="3708734">
                  <a:extLst>
                    <a:ext uri="{9D8B030D-6E8A-4147-A177-3AD203B41FA5}">
                      <a16:colId xmlns:a16="http://schemas.microsoft.com/office/drawing/2014/main" val="2509171636"/>
                    </a:ext>
                  </a:extLst>
                </a:gridCol>
              </a:tblGrid>
              <a:tr h="4075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EV (Electric Vehicle)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Petrol/Diesel Vehicle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38565"/>
                  </a:ext>
                </a:extLst>
              </a:tr>
              <a:tr h="8518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Production Emissions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9–10 </a:t>
                      </a:r>
                      <a:r>
                        <a:rPr lang="en-IN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tCO₂e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6–7 </a:t>
                      </a:r>
                      <a:r>
                        <a:rPr lang="en-IN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tCO₂e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358738"/>
                  </a:ext>
                </a:extLst>
              </a:tr>
              <a:tr h="8518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Annual Driving Emissions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1.8 </a:t>
                      </a:r>
                      <a:r>
                        <a:rPr lang="en-IN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tCO₂e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4.5 </a:t>
                      </a:r>
                      <a:r>
                        <a:rPr lang="en-IN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tCO₂e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25847"/>
                  </a:ext>
                </a:extLst>
              </a:tr>
              <a:tr h="8518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Lifetime Emissions (10 yrs)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27–30 </a:t>
                      </a:r>
                      <a:r>
                        <a:rPr lang="en-IN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tCO₂e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50–55 </a:t>
                      </a:r>
                      <a:r>
                        <a:rPr lang="en-IN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tCO₂e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13141"/>
                  </a:ext>
                </a:extLst>
              </a:tr>
              <a:tr h="5420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Tailpipe Emissions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~4.5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tCO₂e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per year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179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793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B5580-DE79-104C-54BC-0C35D672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8724422-B864-BAD6-0F7C-30DEF120CCFE}"/>
              </a:ext>
            </a:extLst>
          </p:cNvPr>
          <p:cNvSpPr/>
          <p:nvPr/>
        </p:nvSpPr>
        <p:spPr>
          <a:xfrm>
            <a:off x="755650" y="549275"/>
            <a:ext cx="6172200" cy="838200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</a:rPr>
              <a:t>Government Incentives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830818-5E68-D3C9-A729-4D826BAA8DDE}"/>
              </a:ext>
            </a:extLst>
          </p:cNvPr>
          <p:cNvSpPr/>
          <p:nvPr/>
        </p:nvSpPr>
        <p:spPr>
          <a:xfrm>
            <a:off x="12338050" y="5121275"/>
            <a:ext cx="7010400" cy="5333999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FAME II Subsidy (20% cost reduction)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electric two‑wheelers, three‑wheelers, and four‑wheelers.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public transport (e‑buses) and shared mobility.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Directly lowers upfront purchase cost, making EVs more competitive with petrol/diesel.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 Benefit (80EEB, ~10% reduction)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individuals to claim up to ₹1.5 lakh deduction on interest paid for EV loans.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middle‑class buyers to finance EVs affordably.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long‑term ownership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Incentives (~8% reduction)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tax exemptions and registration fee waivers in states like Delhi, Maharashtra, Tamil Nadu.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states also offer additional subsidies for two‑wheelers and charging infrastructure.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1DF442-D9E2-A1D6-648D-B5BF9C8B8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35753"/>
              </p:ext>
            </p:extLst>
          </p:nvPr>
        </p:nvGraphicFramePr>
        <p:xfrm>
          <a:off x="755650" y="1692275"/>
          <a:ext cx="10287000" cy="1997825"/>
        </p:xfrm>
        <a:graphic>
          <a:graphicData uri="http://schemas.openxmlformats.org/drawingml/2006/table">
            <a:tbl>
              <a:tblPr/>
              <a:tblGrid>
                <a:gridCol w="3451559">
                  <a:extLst>
                    <a:ext uri="{9D8B030D-6E8A-4147-A177-3AD203B41FA5}">
                      <a16:colId xmlns:a16="http://schemas.microsoft.com/office/drawing/2014/main" val="2430040366"/>
                    </a:ext>
                  </a:extLst>
                </a:gridCol>
                <a:gridCol w="3180848">
                  <a:extLst>
                    <a:ext uri="{9D8B030D-6E8A-4147-A177-3AD203B41FA5}">
                      <a16:colId xmlns:a16="http://schemas.microsoft.com/office/drawing/2014/main" val="564743991"/>
                    </a:ext>
                  </a:extLst>
                </a:gridCol>
                <a:gridCol w="3654593">
                  <a:extLst>
                    <a:ext uri="{9D8B030D-6E8A-4147-A177-3AD203B41FA5}">
                      <a16:colId xmlns:a16="http://schemas.microsoft.com/office/drawing/2014/main" val="4190942723"/>
                    </a:ext>
                  </a:extLst>
                </a:gridCol>
              </a:tblGrid>
              <a:tr h="297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Incentive 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Impact on Buyers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180505"/>
                  </a:ext>
                </a:extLst>
              </a:tr>
              <a:tr h="595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FAME II Subsidy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Direct purchase subsidy (~20%)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Lowers upfront cost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334496"/>
                  </a:ext>
                </a:extLst>
              </a:tr>
              <a:tr h="595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Tax Benefit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₹1.5 lakh deduction on loan interest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Reduces financing burden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958973"/>
                  </a:ext>
                </a:extLst>
              </a:tr>
              <a:tr h="297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 Incentives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Road tax exemption, fee waiver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Improves affordability regionally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475895"/>
                  </a:ext>
                </a:extLst>
              </a:tr>
            </a:tbl>
          </a:graphicData>
        </a:graphic>
      </p:graphicFrame>
      <p:pic>
        <p:nvPicPr>
          <p:cNvPr id="3075" name="Picture 3" descr="EV Policies">
            <a:extLst>
              <a:ext uri="{FF2B5EF4-FFF2-40B4-BE49-F238E27FC236}">
                <a16:creationId xmlns:a16="http://schemas.microsoft.com/office/drawing/2014/main" id="{73EDAA5C-BE3D-49EA-0E25-9C9E0E4F61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21"/>
          <a:stretch>
            <a:fillRect/>
          </a:stretch>
        </p:blipFill>
        <p:spPr bwMode="auto">
          <a:xfrm>
            <a:off x="12242608" y="1270375"/>
            <a:ext cx="6434667" cy="346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83D1AE-1FA8-52C2-BA4E-C02D459EA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59375"/>
              </p:ext>
            </p:extLst>
          </p:nvPr>
        </p:nvGraphicFramePr>
        <p:xfrm>
          <a:off x="755650" y="4440412"/>
          <a:ext cx="10287001" cy="4774406"/>
        </p:xfrm>
        <a:graphic>
          <a:graphicData uri="http://schemas.openxmlformats.org/drawingml/2006/table">
            <a:tbl>
              <a:tblPr/>
              <a:tblGrid>
                <a:gridCol w="3451560">
                  <a:extLst>
                    <a:ext uri="{9D8B030D-6E8A-4147-A177-3AD203B41FA5}">
                      <a16:colId xmlns:a16="http://schemas.microsoft.com/office/drawing/2014/main" val="711656730"/>
                    </a:ext>
                  </a:extLst>
                </a:gridCol>
                <a:gridCol w="3180849">
                  <a:extLst>
                    <a:ext uri="{9D8B030D-6E8A-4147-A177-3AD203B41FA5}">
                      <a16:colId xmlns:a16="http://schemas.microsoft.com/office/drawing/2014/main" val="1595389872"/>
                    </a:ext>
                  </a:extLst>
                </a:gridCol>
                <a:gridCol w="3654592">
                  <a:extLst>
                    <a:ext uri="{9D8B030D-6E8A-4147-A177-3AD203B41FA5}">
                      <a16:colId xmlns:a16="http://schemas.microsoft.com/office/drawing/2014/main" val="4162799415"/>
                    </a:ext>
                  </a:extLst>
                </a:gridCol>
              </a:tblGrid>
              <a:tr h="3672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Factor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Electric Vehicles (EVs)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Petrol/Diesel Vehicles (ICE)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112601"/>
                  </a:ext>
                </a:extLst>
              </a:tr>
              <a:tr h="7345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National Subsidy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FAME II scheme: up to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20% cost reduction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99681"/>
                  </a:ext>
                </a:extLst>
              </a:tr>
              <a:tr h="7345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Tax Benefits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Section 80EEB: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₹1.5 lakh deduction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on EV loan interest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231751"/>
                  </a:ext>
                </a:extLst>
              </a:tr>
              <a:tr h="7345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State Incentives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Road tax exemption, registration fee waiver, extra subsidies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197494"/>
                  </a:ext>
                </a:extLst>
              </a:tr>
              <a:tr h="7345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Upfront Cost Impact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Reduced significantly due to combined incentives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 reduction; fuel taxes increase cost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144154"/>
                  </a:ext>
                </a:extLst>
              </a:tr>
              <a:tr h="7345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Policy Support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Strong central + state backing for adoption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 direct support, higher regulatory burden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416527"/>
                  </a:ext>
                </a:extLst>
              </a:tr>
              <a:tr h="7345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Market Effect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EV penetration rising 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6.5% of total sales in 2023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Petrol/diesel share declining gradually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47699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FC19BEE-B4CA-8570-220D-193B82537907}"/>
              </a:ext>
            </a:extLst>
          </p:cNvPr>
          <p:cNvSpPr txBox="1"/>
          <p:nvPr/>
        </p:nvSpPr>
        <p:spPr>
          <a:xfrm>
            <a:off x="18129250" y="10636199"/>
            <a:ext cx="102166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file"/>
              </a:rPr>
              <a:t>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980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9C1B3-141A-BA42-ADCD-B3F04A19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4AF7B3D0-B98E-89EE-A704-2648C4798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319139" y="2459538"/>
            <a:ext cx="5497599" cy="576987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CAFD5-9A83-738D-219E-E9C7E67FA746}"/>
              </a:ext>
            </a:extLst>
          </p:cNvPr>
          <p:cNvSpPr txBox="1"/>
          <p:nvPr/>
        </p:nvSpPr>
        <p:spPr>
          <a:xfrm>
            <a:off x="1696283" y="3244167"/>
            <a:ext cx="4334947" cy="42006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kern="1200" dirty="0">
                <a:solidFill>
                  <a:schemeClr val="bg1"/>
                </a:solidFill>
              </a:rPr>
              <a:t> Qn 2 : How do government incentives and subsidies impact the adoption rates of 2-wheelers and 4-wheelers? Which states in India provided most subsidies?</a:t>
            </a:r>
            <a:endParaRPr lang="en-IN" sz="3200" kern="1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EFBE5-49A3-9C5E-7256-DA831BEA9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95" y="1138390"/>
            <a:ext cx="11181091" cy="902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6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DF424-C08A-5839-2905-8F1431A1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7026EC6-23D6-3995-5AE1-FFBF87D4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0103597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9A91EC-E4DE-CA2D-9D39-32ADF9711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" y="8293520"/>
            <a:ext cx="20163672" cy="3015826"/>
            <a:chOff x="-305" y="2987478"/>
            <a:chExt cx="12188952" cy="18288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410170-E003-274D-B6F9-3329FEE5A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49B5977-351D-E644-2483-E94583CAD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7F2FC5-37A5-A91B-12EC-59E4C71A8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47D5B6-AF74-7A82-8528-5559E279E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7861C2-D0B8-794B-1348-3A2FF3F18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09646"/>
              </p:ext>
            </p:extLst>
          </p:nvPr>
        </p:nvGraphicFramePr>
        <p:xfrm>
          <a:off x="1261335" y="1319518"/>
          <a:ext cx="8382000" cy="5097157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138679808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52573440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937132981"/>
                    </a:ext>
                  </a:extLst>
                </a:gridCol>
              </a:tblGrid>
              <a:tr h="3729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Aspect</a:t>
                      </a:r>
                    </a:p>
                  </a:txBody>
                  <a:tcPr marL="3251" marR="3251" marT="3251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2-Wheeler EVs (2W)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4-Wheeler EVs (4W)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01536"/>
                  </a:ext>
                </a:extLst>
              </a:tr>
              <a:tr h="8702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Subsidy Impact</a:t>
                      </a:r>
                    </a:p>
                  </a:txBody>
                  <a:tcPr marL="3251" marR="3251" marT="3251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 impact – reduces price gap significantly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Moderate impact – still expensive even after subsidy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642559"/>
                  </a:ext>
                </a:extLst>
              </a:tr>
              <a:tr h="7459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Sales Growth</a:t>
                      </a:r>
                    </a:p>
                  </a:txBody>
                  <a:tcPr marL="3251" marR="3251" marT="3251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Strong growth due to subsidies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Gradual growth due to high upfront cost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451826"/>
                  </a:ext>
                </a:extLst>
              </a:tr>
              <a:tr h="6216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Adoption Sensitivity</a:t>
                      </a:r>
                    </a:p>
                  </a:txBody>
                  <a:tcPr marL="3251" marR="3251" marT="3251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Very sensitive to subsidy changes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Less sensitive (income segment higher)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29196"/>
                  </a:ext>
                </a:extLst>
              </a:tr>
              <a:tr h="7459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Key Scheme</a:t>
                      </a:r>
                    </a:p>
                  </a:txBody>
                  <a:tcPr marL="3251" marR="3251" marT="3251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FAME II Scheme boosted demand significantly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FAME-II + state incentives support adoption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210394"/>
                  </a:ext>
                </a:extLst>
              </a:tr>
              <a:tr h="8702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Data Insight</a:t>
                      </a:r>
                    </a:p>
                  </a:txBody>
                  <a:tcPr marL="3251" marR="3251" marT="3251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+12.7% sales increase per subsidy boost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211% higher growth in states with incentives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314572"/>
                  </a:ext>
                </a:extLst>
              </a:tr>
              <a:tr h="8702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State Policy Effect</a:t>
                      </a:r>
                    </a:p>
                  </a:txBody>
                  <a:tcPr marL="3251" marR="3251" marT="3251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54.5% higher sales in states with incentives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Strong growth where state subsidies exist</a:t>
                      </a:r>
                    </a:p>
                  </a:txBody>
                  <a:tcPr marL="3251" marR="3251" marT="3251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23747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99F216-ECF8-3ABC-3420-E79A1B84E563}"/>
              </a:ext>
            </a:extLst>
          </p:cNvPr>
          <p:cNvSpPr/>
          <p:nvPr/>
        </p:nvSpPr>
        <p:spPr>
          <a:xfrm>
            <a:off x="1060451" y="274937"/>
            <a:ext cx="12725400" cy="838200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Impact of Government Incentives on EV Adoption (2W vs 4W)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14EC28-35E3-7A38-C9DB-ACD85CE981E6}"/>
              </a:ext>
            </a:extLst>
          </p:cNvPr>
          <p:cNvSpPr/>
          <p:nvPr/>
        </p:nvSpPr>
        <p:spPr>
          <a:xfrm>
            <a:off x="12795250" y="6812589"/>
            <a:ext cx="6019800" cy="3402617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Subsidies directly reduce upfront cost → biggest barrier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2W EV adoption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subsidies.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4W EV adoption depends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+ technology + infrastructure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States with incentives recorded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 to 54.5% higher EV adoption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in 2‑wheelers.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C6D02B-E8FF-51C4-4E75-9B0F5371C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457" y="1192752"/>
            <a:ext cx="6019800" cy="5524440"/>
          </a:xfrm>
          <a:prstGeom prst="rect">
            <a:avLst/>
          </a:prstGeom>
          <a:gradFill>
            <a:gsLst>
              <a:gs pos="0">
                <a:srgbClr val="92D050">
                  <a:alpha val="50000"/>
                </a:srgbClr>
              </a:gs>
              <a:gs pos="100000">
                <a:srgbClr val="259F36"/>
              </a:gs>
            </a:gsLst>
            <a:lin ang="16200000" scaled="0"/>
          </a:gradFill>
        </p:spPr>
      </p:pic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D054708A-4906-9715-20EB-A72BC6C8B68E}"/>
              </a:ext>
            </a:extLst>
          </p:cNvPr>
          <p:cNvSpPr/>
          <p:nvPr/>
        </p:nvSpPr>
        <p:spPr>
          <a:xfrm>
            <a:off x="14861381" y="2835275"/>
            <a:ext cx="143669" cy="84138"/>
          </a:xfrm>
          <a:custGeom>
            <a:avLst/>
            <a:gdLst>
              <a:gd name="csX0" fmla="*/ 66675 w 119063"/>
              <a:gd name="csY0" fmla="*/ 0 h 100013"/>
              <a:gd name="csX1" fmla="*/ 66675 w 119063"/>
              <a:gd name="csY1" fmla="*/ 0 h 100013"/>
              <a:gd name="csX2" fmla="*/ 42863 w 119063"/>
              <a:gd name="csY2" fmla="*/ 9525 h 100013"/>
              <a:gd name="csX3" fmla="*/ 19050 w 119063"/>
              <a:gd name="csY3" fmla="*/ 14288 h 100013"/>
              <a:gd name="csX4" fmla="*/ 0 w 119063"/>
              <a:gd name="csY4" fmla="*/ 38100 h 100013"/>
              <a:gd name="csX5" fmla="*/ 4763 w 119063"/>
              <a:gd name="csY5" fmla="*/ 57150 h 100013"/>
              <a:gd name="csX6" fmla="*/ 33338 w 119063"/>
              <a:gd name="csY6" fmla="*/ 95250 h 100013"/>
              <a:gd name="csX7" fmla="*/ 76200 w 119063"/>
              <a:gd name="csY7" fmla="*/ 100013 h 100013"/>
              <a:gd name="csX8" fmla="*/ 100013 w 119063"/>
              <a:gd name="csY8" fmla="*/ 90488 h 100013"/>
              <a:gd name="csX9" fmla="*/ 109538 w 119063"/>
              <a:gd name="csY9" fmla="*/ 80963 h 100013"/>
              <a:gd name="csX10" fmla="*/ 119063 w 119063"/>
              <a:gd name="csY10" fmla="*/ 76200 h 100013"/>
              <a:gd name="csX11" fmla="*/ 100013 w 119063"/>
              <a:gd name="csY11" fmla="*/ 19050 h 100013"/>
              <a:gd name="csX12" fmla="*/ 95250 w 119063"/>
              <a:gd name="csY12" fmla="*/ 9525 h 100013"/>
              <a:gd name="csX13" fmla="*/ 66675 w 119063"/>
              <a:gd name="csY13" fmla="*/ 0 h 100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19063" h="100013">
                <a:moveTo>
                  <a:pt x="66675" y="0"/>
                </a:moveTo>
                <a:lnTo>
                  <a:pt x="66675" y="0"/>
                </a:lnTo>
                <a:cubicBezTo>
                  <a:pt x="58738" y="3175"/>
                  <a:pt x="51051" y="7068"/>
                  <a:pt x="42863" y="9525"/>
                </a:cubicBezTo>
                <a:cubicBezTo>
                  <a:pt x="35110" y="11851"/>
                  <a:pt x="25785" y="9798"/>
                  <a:pt x="19050" y="14288"/>
                </a:cubicBezTo>
                <a:cubicBezTo>
                  <a:pt x="10592" y="19926"/>
                  <a:pt x="6350" y="30163"/>
                  <a:pt x="0" y="38100"/>
                </a:cubicBezTo>
                <a:cubicBezTo>
                  <a:pt x="1588" y="44450"/>
                  <a:pt x="2465" y="51021"/>
                  <a:pt x="4763" y="57150"/>
                </a:cubicBezTo>
                <a:cubicBezTo>
                  <a:pt x="8153" y="66190"/>
                  <a:pt x="22108" y="94002"/>
                  <a:pt x="33338" y="95250"/>
                </a:cubicBezTo>
                <a:lnTo>
                  <a:pt x="76200" y="100013"/>
                </a:lnTo>
                <a:cubicBezTo>
                  <a:pt x="84138" y="96838"/>
                  <a:pt x="92590" y="94729"/>
                  <a:pt x="100013" y="90488"/>
                </a:cubicBezTo>
                <a:cubicBezTo>
                  <a:pt x="103912" y="88260"/>
                  <a:pt x="105946" y="83657"/>
                  <a:pt x="109538" y="80963"/>
                </a:cubicBezTo>
                <a:cubicBezTo>
                  <a:pt x="112378" y="78833"/>
                  <a:pt x="115888" y="77788"/>
                  <a:pt x="119063" y="76200"/>
                </a:cubicBezTo>
                <a:cubicBezTo>
                  <a:pt x="111873" y="11495"/>
                  <a:pt x="125253" y="50601"/>
                  <a:pt x="100013" y="19050"/>
                </a:cubicBezTo>
                <a:cubicBezTo>
                  <a:pt x="97795" y="16278"/>
                  <a:pt x="98332" y="11286"/>
                  <a:pt x="95250" y="9525"/>
                </a:cubicBezTo>
                <a:cubicBezTo>
                  <a:pt x="86533" y="4544"/>
                  <a:pt x="71437" y="1587"/>
                  <a:pt x="66675" y="0"/>
                </a:cubicBezTo>
                <a:close/>
              </a:path>
            </a:pathLst>
          </a:cu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E0424875-8568-73FE-7199-94DA2DC7B5BD}"/>
              </a:ext>
            </a:extLst>
          </p:cNvPr>
          <p:cNvSpPr/>
          <p:nvPr/>
        </p:nvSpPr>
        <p:spPr>
          <a:xfrm>
            <a:off x="13404850" y="3504122"/>
            <a:ext cx="1066908" cy="901700"/>
          </a:xfrm>
          <a:custGeom>
            <a:avLst/>
            <a:gdLst>
              <a:gd name="csX0" fmla="*/ 463658 w 1066908"/>
              <a:gd name="csY0" fmla="*/ 25400 h 850900"/>
              <a:gd name="csX1" fmla="*/ 463658 w 1066908"/>
              <a:gd name="csY1" fmla="*/ 25400 h 850900"/>
              <a:gd name="csX2" fmla="*/ 438258 w 1066908"/>
              <a:gd name="csY2" fmla="*/ 69850 h 850900"/>
              <a:gd name="csX3" fmla="*/ 406508 w 1066908"/>
              <a:gd name="csY3" fmla="*/ 82550 h 850900"/>
              <a:gd name="csX4" fmla="*/ 387458 w 1066908"/>
              <a:gd name="csY4" fmla="*/ 95250 h 850900"/>
              <a:gd name="csX5" fmla="*/ 374758 w 1066908"/>
              <a:gd name="csY5" fmla="*/ 88900 h 850900"/>
              <a:gd name="csX6" fmla="*/ 355708 w 1066908"/>
              <a:gd name="csY6" fmla="*/ 76200 h 850900"/>
              <a:gd name="csX7" fmla="*/ 336658 w 1066908"/>
              <a:gd name="csY7" fmla="*/ 69850 h 850900"/>
              <a:gd name="csX8" fmla="*/ 292208 w 1066908"/>
              <a:gd name="csY8" fmla="*/ 76200 h 850900"/>
              <a:gd name="csX9" fmla="*/ 254108 w 1066908"/>
              <a:gd name="csY9" fmla="*/ 88900 h 850900"/>
              <a:gd name="csX10" fmla="*/ 228708 w 1066908"/>
              <a:gd name="csY10" fmla="*/ 95250 h 850900"/>
              <a:gd name="csX11" fmla="*/ 171558 w 1066908"/>
              <a:gd name="csY11" fmla="*/ 82550 h 850900"/>
              <a:gd name="csX12" fmla="*/ 158858 w 1066908"/>
              <a:gd name="csY12" fmla="*/ 76200 h 850900"/>
              <a:gd name="csX13" fmla="*/ 120758 w 1066908"/>
              <a:gd name="csY13" fmla="*/ 63500 h 850900"/>
              <a:gd name="csX14" fmla="*/ 101708 w 1066908"/>
              <a:gd name="csY14" fmla="*/ 57150 h 850900"/>
              <a:gd name="csX15" fmla="*/ 63608 w 1066908"/>
              <a:gd name="csY15" fmla="*/ 76200 h 850900"/>
              <a:gd name="csX16" fmla="*/ 50908 w 1066908"/>
              <a:gd name="csY16" fmla="*/ 82550 h 850900"/>
              <a:gd name="csX17" fmla="*/ 38208 w 1066908"/>
              <a:gd name="csY17" fmla="*/ 88900 h 850900"/>
              <a:gd name="csX18" fmla="*/ 19158 w 1066908"/>
              <a:gd name="csY18" fmla="*/ 152400 h 850900"/>
              <a:gd name="csX19" fmla="*/ 6458 w 1066908"/>
              <a:gd name="csY19" fmla="*/ 171450 h 850900"/>
              <a:gd name="csX20" fmla="*/ 6458 w 1066908"/>
              <a:gd name="csY20" fmla="*/ 241300 h 850900"/>
              <a:gd name="csX21" fmla="*/ 12808 w 1066908"/>
              <a:gd name="csY21" fmla="*/ 254000 h 850900"/>
              <a:gd name="csX22" fmla="*/ 25508 w 1066908"/>
              <a:gd name="csY22" fmla="*/ 266700 h 850900"/>
              <a:gd name="csX23" fmla="*/ 31858 w 1066908"/>
              <a:gd name="csY23" fmla="*/ 279400 h 850900"/>
              <a:gd name="csX24" fmla="*/ 57258 w 1066908"/>
              <a:gd name="csY24" fmla="*/ 285750 h 850900"/>
              <a:gd name="csX25" fmla="*/ 292208 w 1066908"/>
              <a:gd name="csY25" fmla="*/ 285750 h 850900"/>
              <a:gd name="csX26" fmla="*/ 311258 w 1066908"/>
              <a:gd name="csY26" fmla="*/ 292100 h 850900"/>
              <a:gd name="csX27" fmla="*/ 311258 w 1066908"/>
              <a:gd name="csY27" fmla="*/ 349250 h 850900"/>
              <a:gd name="csX28" fmla="*/ 304908 w 1066908"/>
              <a:gd name="csY28" fmla="*/ 361950 h 850900"/>
              <a:gd name="csX29" fmla="*/ 292208 w 1066908"/>
              <a:gd name="csY29" fmla="*/ 368300 h 850900"/>
              <a:gd name="csX30" fmla="*/ 254108 w 1066908"/>
              <a:gd name="csY30" fmla="*/ 381000 h 850900"/>
              <a:gd name="csX31" fmla="*/ 235058 w 1066908"/>
              <a:gd name="csY31" fmla="*/ 387350 h 850900"/>
              <a:gd name="csX32" fmla="*/ 165208 w 1066908"/>
              <a:gd name="csY32" fmla="*/ 381000 h 850900"/>
              <a:gd name="csX33" fmla="*/ 63608 w 1066908"/>
              <a:gd name="csY33" fmla="*/ 400050 h 850900"/>
              <a:gd name="csX34" fmla="*/ 50908 w 1066908"/>
              <a:gd name="csY34" fmla="*/ 412750 h 850900"/>
              <a:gd name="csX35" fmla="*/ 63608 w 1066908"/>
              <a:gd name="csY35" fmla="*/ 438150 h 850900"/>
              <a:gd name="csX36" fmla="*/ 82658 w 1066908"/>
              <a:gd name="csY36" fmla="*/ 469900 h 850900"/>
              <a:gd name="csX37" fmla="*/ 108058 w 1066908"/>
              <a:gd name="csY37" fmla="*/ 495300 h 850900"/>
              <a:gd name="csX38" fmla="*/ 127108 w 1066908"/>
              <a:gd name="csY38" fmla="*/ 514350 h 850900"/>
              <a:gd name="csX39" fmla="*/ 165208 w 1066908"/>
              <a:gd name="csY39" fmla="*/ 539750 h 850900"/>
              <a:gd name="csX40" fmla="*/ 184258 w 1066908"/>
              <a:gd name="csY40" fmla="*/ 552450 h 850900"/>
              <a:gd name="csX41" fmla="*/ 196958 w 1066908"/>
              <a:gd name="csY41" fmla="*/ 565150 h 850900"/>
              <a:gd name="csX42" fmla="*/ 209658 w 1066908"/>
              <a:gd name="csY42" fmla="*/ 571500 h 850900"/>
              <a:gd name="csX43" fmla="*/ 228708 w 1066908"/>
              <a:gd name="csY43" fmla="*/ 584200 h 850900"/>
              <a:gd name="csX44" fmla="*/ 235058 w 1066908"/>
              <a:gd name="csY44" fmla="*/ 609600 h 850900"/>
              <a:gd name="csX45" fmla="*/ 241408 w 1066908"/>
              <a:gd name="csY45" fmla="*/ 622300 h 850900"/>
              <a:gd name="csX46" fmla="*/ 247758 w 1066908"/>
              <a:gd name="csY46" fmla="*/ 647700 h 850900"/>
              <a:gd name="csX47" fmla="*/ 260458 w 1066908"/>
              <a:gd name="csY47" fmla="*/ 654050 h 850900"/>
              <a:gd name="csX48" fmla="*/ 266808 w 1066908"/>
              <a:gd name="csY48" fmla="*/ 673100 h 850900"/>
              <a:gd name="csX49" fmla="*/ 304908 w 1066908"/>
              <a:gd name="csY49" fmla="*/ 685800 h 850900"/>
              <a:gd name="csX50" fmla="*/ 330308 w 1066908"/>
              <a:gd name="csY50" fmla="*/ 692150 h 850900"/>
              <a:gd name="csX51" fmla="*/ 343008 w 1066908"/>
              <a:gd name="csY51" fmla="*/ 698500 h 850900"/>
              <a:gd name="csX52" fmla="*/ 381108 w 1066908"/>
              <a:gd name="csY52" fmla="*/ 704850 h 850900"/>
              <a:gd name="csX53" fmla="*/ 425558 w 1066908"/>
              <a:gd name="csY53" fmla="*/ 698500 h 850900"/>
              <a:gd name="csX54" fmla="*/ 444608 w 1066908"/>
              <a:gd name="csY54" fmla="*/ 692150 h 850900"/>
              <a:gd name="csX55" fmla="*/ 476358 w 1066908"/>
              <a:gd name="csY55" fmla="*/ 685800 h 850900"/>
              <a:gd name="csX56" fmla="*/ 501758 w 1066908"/>
              <a:gd name="csY56" fmla="*/ 666750 h 850900"/>
              <a:gd name="csX57" fmla="*/ 520808 w 1066908"/>
              <a:gd name="csY57" fmla="*/ 654050 h 850900"/>
              <a:gd name="csX58" fmla="*/ 571608 w 1066908"/>
              <a:gd name="csY58" fmla="*/ 609600 h 850900"/>
              <a:gd name="csX59" fmla="*/ 590658 w 1066908"/>
              <a:gd name="csY59" fmla="*/ 577850 h 850900"/>
              <a:gd name="csX60" fmla="*/ 616058 w 1066908"/>
              <a:gd name="csY60" fmla="*/ 527050 h 850900"/>
              <a:gd name="csX61" fmla="*/ 635108 w 1066908"/>
              <a:gd name="csY61" fmla="*/ 508000 h 850900"/>
              <a:gd name="csX62" fmla="*/ 660508 w 1066908"/>
              <a:gd name="csY62" fmla="*/ 476250 h 850900"/>
              <a:gd name="csX63" fmla="*/ 704958 w 1066908"/>
              <a:gd name="csY63" fmla="*/ 450850 h 850900"/>
              <a:gd name="csX64" fmla="*/ 730358 w 1066908"/>
              <a:gd name="csY64" fmla="*/ 457200 h 850900"/>
              <a:gd name="csX65" fmla="*/ 736708 w 1066908"/>
              <a:gd name="csY65" fmla="*/ 508000 h 850900"/>
              <a:gd name="csX66" fmla="*/ 724008 w 1066908"/>
              <a:gd name="csY66" fmla="*/ 539750 h 850900"/>
              <a:gd name="csX67" fmla="*/ 717658 w 1066908"/>
              <a:gd name="csY67" fmla="*/ 558800 h 850900"/>
              <a:gd name="csX68" fmla="*/ 724008 w 1066908"/>
              <a:gd name="csY68" fmla="*/ 698500 h 850900"/>
              <a:gd name="csX69" fmla="*/ 736708 w 1066908"/>
              <a:gd name="csY69" fmla="*/ 717550 h 850900"/>
              <a:gd name="csX70" fmla="*/ 749408 w 1066908"/>
              <a:gd name="csY70" fmla="*/ 819150 h 850900"/>
              <a:gd name="csX71" fmla="*/ 755758 w 1066908"/>
              <a:gd name="csY71" fmla="*/ 838200 h 850900"/>
              <a:gd name="csX72" fmla="*/ 774808 w 1066908"/>
              <a:gd name="csY72" fmla="*/ 850900 h 850900"/>
              <a:gd name="csX73" fmla="*/ 787508 w 1066908"/>
              <a:gd name="csY73" fmla="*/ 844550 h 850900"/>
              <a:gd name="csX74" fmla="*/ 844658 w 1066908"/>
              <a:gd name="csY74" fmla="*/ 825500 h 850900"/>
              <a:gd name="csX75" fmla="*/ 882758 w 1066908"/>
              <a:gd name="csY75" fmla="*/ 800100 h 850900"/>
              <a:gd name="csX76" fmla="*/ 895458 w 1066908"/>
              <a:gd name="csY76" fmla="*/ 781050 h 850900"/>
              <a:gd name="csX77" fmla="*/ 920858 w 1066908"/>
              <a:gd name="csY77" fmla="*/ 749300 h 850900"/>
              <a:gd name="csX78" fmla="*/ 927208 w 1066908"/>
              <a:gd name="csY78" fmla="*/ 711200 h 850900"/>
              <a:gd name="csX79" fmla="*/ 939908 w 1066908"/>
              <a:gd name="csY79" fmla="*/ 679450 h 850900"/>
              <a:gd name="csX80" fmla="*/ 946258 w 1066908"/>
              <a:gd name="csY80" fmla="*/ 660400 h 850900"/>
              <a:gd name="csX81" fmla="*/ 965308 w 1066908"/>
              <a:gd name="csY81" fmla="*/ 635000 h 850900"/>
              <a:gd name="csX82" fmla="*/ 978008 w 1066908"/>
              <a:gd name="csY82" fmla="*/ 615950 h 850900"/>
              <a:gd name="csX83" fmla="*/ 997058 w 1066908"/>
              <a:gd name="csY83" fmla="*/ 603250 h 850900"/>
              <a:gd name="csX84" fmla="*/ 1003408 w 1066908"/>
              <a:gd name="csY84" fmla="*/ 590550 h 850900"/>
              <a:gd name="csX85" fmla="*/ 965308 w 1066908"/>
              <a:gd name="csY85" fmla="*/ 558800 h 850900"/>
              <a:gd name="csX86" fmla="*/ 952608 w 1066908"/>
              <a:gd name="csY86" fmla="*/ 552450 h 850900"/>
              <a:gd name="csX87" fmla="*/ 971658 w 1066908"/>
              <a:gd name="csY87" fmla="*/ 508000 h 850900"/>
              <a:gd name="csX88" fmla="*/ 978008 w 1066908"/>
              <a:gd name="csY88" fmla="*/ 495300 h 850900"/>
              <a:gd name="csX89" fmla="*/ 1009758 w 1066908"/>
              <a:gd name="csY89" fmla="*/ 482600 h 850900"/>
              <a:gd name="csX90" fmla="*/ 1016108 w 1066908"/>
              <a:gd name="csY90" fmla="*/ 463550 h 850900"/>
              <a:gd name="csX91" fmla="*/ 1022458 w 1066908"/>
              <a:gd name="csY91" fmla="*/ 450850 h 850900"/>
              <a:gd name="csX92" fmla="*/ 1028808 w 1066908"/>
              <a:gd name="csY92" fmla="*/ 412750 h 850900"/>
              <a:gd name="csX93" fmla="*/ 1041508 w 1066908"/>
              <a:gd name="csY93" fmla="*/ 393700 h 850900"/>
              <a:gd name="csX94" fmla="*/ 1066908 w 1066908"/>
              <a:gd name="csY94" fmla="*/ 361950 h 850900"/>
              <a:gd name="csX95" fmla="*/ 1022458 w 1066908"/>
              <a:gd name="csY95" fmla="*/ 330200 h 850900"/>
              <a:gd name="csX96" fmla="*/ 1003408 w 1066908"/>
              <a:gd name="csY96" fmla="*/ 317500 h 850900"/>
              <a:gd name="csX97" fmla="*/ 978008 w 1066908"/>
              <a:gd name="csY97" fmla="*/ 304800 h 850900"/>
              <a:gd name="csX98" fmla="*/ 952608 w 1066908"/>
              <a:gd name="csY98" fmla="*/ 273050 h 850900"/>
              <a:gd name="csX99" fmla="*/ 939908 w 1066908"/>
              <a:gd name="csY99" fmla="*/ 298450 h 850900"/>
              <a:gd name="csX100" fmla="*/ 927208 w 1066908"/>
              <a:gd name="csY100" fmla="*/ 247650 h 850900"/>
              <a:gd name="csX101" fmla="*/ 914508 w 1066908"/>
              <a:gd name="csY101" fmla="*/ 241300 h 850900"/>
              <a:gd name="csX102" fmla="*/ 901808 w 1066908"/>
              <a:gd name="csY102" fmla="*/ 228600 h 850900"/>
              <a:gd name="csX103" fmla="*/ 876408 w 1066908"/>
              <a:gd name="csY103" fmla="*/ 165100 h 850900"/>
              <a:gd name="csX104" fmla="*/ 870058 w 1066908"/>
              <a:gd name="csY104" fmla="*/ 152400 h 850900"/>
              <a:gd name="csX105" fmla="*/ 844658 w 1066908"/>
              <a:gd name="csY105" fmla="*/ 139700 h 850900"/>
              <a:gd name="csX106" fmla="*/ 838308 w 1066908"/>
              <a:gd name="csY106" fmla="*/ 127000 h 850900"/>
              <a:gd name="csX107" fmla="*/ 825608 w 1066908"/>
              <a:gd name="csY107" fmla="*/ 107950 h 850900"/>
              <a:gd name="csX108" fmla="*/ 812908 w 1066908"/>
              <a:gd name="csY108" fmla="*/ 69850 h 850900"/>
              <a:gd name="csX109" fmla="*/ 800208 w 1066908"/>
              <a:gd name="csY109" fmla="*/ 63500 h 850900"/>
              <a:gd name="csX110" fmla="*/ 787508 w 1066908"/>
              <a:gd name="csY110" fmla="*/ 50800 h 850900"/>
              <a:gd name="csX111" fmla="*/ 730358 w 1066908"/>
              <a:gd name="csY111" fmla="*/ 25400 h 850900"/>
              <a:gd name="csX112" fmla="*/ 673208 w 1066908"/>
              <a:gd name="csY112" fmla="*/ 0 h 850900"/>
              <a:gd name="csX113" fmla="*/ 635108 w 1066908"/>
              <a:gd name="csY113" fmla="*/ 31750 h 850900"/>
              <a:gd name="csX114" fmla="*/ 622408 w 1066908"/>
              <a:gd name="csY114" fmla="*/ 25400 h 850900"/>
              <a:gd name="csX115" fmla="*/ 603358 w 1066908"/>
              <a:gd name="csY115" fmla="*/ 6350 h 850900"/>
              <a:gd name="csX116" fmla="*/ 463658 w 1066908"/>
              <a:gd name="csY116" fmla="*/ 25400 h 850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</a:cxnLst>
            <a:rect l="l" t="t" r="r" b="b"/>
            <a:pathLst>
              <a:path w="1066908" h="850900">
                <a:moveTo>
                  <a:pt x="463658" y="25400"/>
                </a:moveTo>
                <a:lnTo>
                  <a:pt x="463658" y="25400"/>
                </a:lnTo>
                <a:cubicBezTo>
                  <a:pt x="455191" y="40217"/>
                  <a:pt x="450325" y="57783"/>
                  <a:pt x="438258" y="69850"/>
                </a:cubicBezTo>
                <a:cubicBezTo>
                  <a:pt x="430198" y="77910"/>
                  <a:pt x="416703" y="77452"/>
                  <a:pt x="406508" y="82550"/>
                </a:cubicBezTo>
                <a:cubicBezTo>
                  <a:pt x="399682" y="85963"/>
                  <a:pt x="393808" y="91017"/>
                  <a:pt x="387458" y="95250"/>
                </a:cubicBezTo>
                <a:cubicBezTo>
                  <a:pt x="383225" y="93133"/>
                  <a:pt x="378817" y="91335"/>
                  <a:pt x="374758" y="88900"/>
                </a:cubicBezTo>
                <a:cubicBezTo>
                  <a:pt x="368214" y="84973"/>
                  <a:pt x="362534" y="79613"/>
                  <a:pt x="355708" y="76200"/>
                </a:cubicBezTo>
                <a:cubicBezTo>
                  <a:pt x="349721" y="73207"/>
                  <a:pt x="343008" y="71967"/>
                  <a:pt x="336658" y="69850"/>
                </a:cubicBezTo>
                <a:cubicBezTo>
                  <a:pt x="321841" y="71967"/>
                  <a:pt x="306792" y="72835"/>
                  <a:pt x="292208" y="76200"/>
                </a:cubicBezTo>
                <a:cubicBezTo>
                  <a:pt x="279164" y="79210"/>
                  <a:pt x="266930" y="85053"/>
                  <a:pt x="254108" y="88900"/>
                </a:cubicBezTo>
                <a:cubicBezTo>
                  <a:pt x="245749" y="91408"/>
                  <a:pt x="237175" y="93133"/>
                  <a:pt x="228708" y="95250"/>
                </a:cubicBezTo>
                <a:cubicBezTo>
                  <a:pt x="216126" y="92734"/>
                  <a:pt x="185010" y="87034"/>
                  <a:pt x="171558" y="82550"/>
                </a:cubicBezTo>
                <a:cubicBezTo>
                  <a:pt x="167068" y="81053"/>
                  <a:pt x="163290" y="77862"/>
                  <a:pt x="158858" y="76200"/>
                </a:cubicBezTo>
                <a:cubicBezTo>
                  <a:pt x="146323" y="71500"/>
                  <a:pt x="133458" y="67733"/>
                  <a:pt x="120758" y="63500"/>
                </a:cubicBezTo>
                <a:lnTo>
                  <a:pt x="101708" y="57150"/>
                </a:lnTo>
                <a:lnTo>
                  <a:pt x="63608" y="76200"/>
                </a:lnTo>
                <a:lnTo>
                  <a:pt x="50908" y="82550"/>
                </a:lnTo>
                <a:lnTo>
                  <a:pt x="38208" y="88900"/>
                </a:lnTo>
                <a:cubicBezTo>
                  <a:pt x="34658" y="103099"/>
                  <a:pt x="25342" y="143124"/>
                  <a:pt x="19158" y="152400"/>
                </a:cubicBezTo>
                <a:lnTo>
                  <a:pt x="6458" y="171450"/>
                </a:lnTo>
                <a:cubicBezTo>
                  <a:pt x="585" y="212559"/>
                  <a:pt x="-4520" y="208366"/>
                  <a:pt x="6458" y="241300"/>
                </a:cubicBezTo>
                <a:cubicBezTo>
                  <a:pt x="7955" y="245790"/>
                  <a:pt x="9968" y="250214"/>
                  <a:pt x="12808" y="254000"/>
                </a:cubicBezTo>
                <a:cubicBezTo>
                  <a:pt x="16400" y="258789"/>
                  <a:pt x="21916" y="261911"/>
                  <a:pt x="25508" y="266700"/>
                </a:cubicBezTo>
                <a:cubicBezTo>
                  <a:pt x="28348" y="270486"/>
                  <a:pt x="27799" y="276965"/>
                  <a:pt x="31858" y="279400"/>
                </a:cubicBezTo>
                <a:cubicBezTo>
                  <a:pt x="39342" y="283890"/>
                  <a:pt x="48791" y="283633"/>
                  <a:pt x="57258" y="285750"/>
                </a:cubicBezTo>
                <a:cubicBezTo>
                  <a:pt x="151120" y="282621"/>
                  <a:pt x="211150" y="269538"/>
                  <a:pt x="292208" y="285750"/>
                </a:cubicBezTo>
                <a:cubicBezTo>
                  <a:pt x="298772" y="287063"/>
                  <a:pt x="304908" y="289983"/>
                  <a:pt x="311258" y="292100"/>
                </a:cubicBezTo>
                <a:cubicBezTo>
                  <a:pt x="317933" y="325476"/>
                  <a:pt x="321347" y="318984"/>
                  <a:pt x="311258" y="349250"/>
                </a:cubicBezTo>
                <a:cubicBezTo>
                  <a:pt x="309761" y="353740"/>
                  <a:pt x="308255" y="358603"/>
                  <a:pt x="304908" y="361950"/>
                </a:cubicBezTo>
                <a:cubicBezTo>
                  <a:pt x="301561" y="365297"/>
                  <a:pt x="296640" y="366638"/>
                  <a:pt x="292208" y="368300"/>
                </a:cubicBezTo>
                <a:cubicBezTo>
                  <a:pt x="279673" y="373000"/>
                  <a:pt x="266808" y="376767"/>
                  <a:pt x="254108" y="381000"/>
                </a:cubicBezTo>
                <a:lnTo>
                  <a:pt x="235058" y="387350"/>
                </a:lnTo>
                <a:cubicBezTo>
                  <a:pt x="211775" y="385233"/>
                  <a:pt x="188565" y="379984"/>
                  <a:pt x="165208" y="381000"/>
                </a:cubicBezTo>
                <a:cubicBezTo>
                  <a:pt x="130987" y="382488"/>
                  <a:pt x="96845" y="391741"/>
                  <a:pt x="63608" y="400050"/>
                </a:cubicBezTo>
                <a:cubicBezTo>
                  <a:pt x="59375" y="404283"/>
                  <a:pt x="50908" y="406763"/>
                  <a:pt x="50908" y="412750"/>
                </a:cubicBezTo>
                <a:cubicBezTo>
                  <a:pt x="50908" y="422216"/>
                  <a:pt x="59375" y="429683"/>
                  <a:pt x="63608" y="438150"/>
                </a:cubicBezTo>
                <a:cubicBezTo>
                  <a:pt x="78123" y="467180"/>
                  <a:pt x="59670" y="431586"/>
                  <a:pt x="82658" y="469900"/>
                </a:cubicBezTo>
                <a:cubicBezTo>
                  <a:pt x="99178" y="497433"/>
                  <a:pt x="74175" y="467064"/>
                  <a:pt x="108058" y="495300"/>
                </a:cubicBezTo>
                <a:cubicBezTo>
                  <a:pt x="114957" y="501049"/>
                  <a:pt x="120019" y="508837"/>
                  <a:pt x="127108" y="514350"/>
                </a:cubicBezTo>
                <a:cubicBezTo>
                  <a:pt x="139156" y="523721"/>
                  <a:pt x="152508" y="531283"/>
                  <a:pt x="165208" y="539750"/>
                </a:cubicBezTo>
                <a:cubicBezTo>
                  <a:pt x="171558" y="543983"/>
                  <a:pt x="178862" y="547054"/>
                  <a:pt x="184258" y="552450"/>
                </a:cubicBezTo>
                <a:cubicBezTo>
                  <a:pt x="188491" y="556683"/>
                  <a:pt x="192169" y="561558"/>
                  <a:pt x="196958" y="565150"/>
                </a:cubicBezTo>
                <a:cubicBezTo>
                  <a:pt x="200744" y="567990"/>
                  <a:pt x="205599" y="569065"/>
                  <a:pt x="209658" y="571500"/>
                </a:cubicBezTo>
                <a:cubicBezTo>
                  <a:pt x="216202" y="575427"/>
                  <a:pt x="222358" y="579967"/>
                  <a:pt x="228708" y="584200"/>
                </a:cubicBezTo>
                <a:cubicBezTo>
                  <a:pt x="230825" y="592667"/>
                  <a:pt x="232298" y="601321"/>
                  <a:pt x="235058" y="609600"/>
                </a:cubicBezTo>
                <a:cubicBezTo>
                  <a:pt x="236555" y="614090"/>
                  <a:pt x="239911" y="617810"/>
                  <a:pt x="241408" y="622300"/>
                </a:cubicBezTo>
                <a:cubicBezTo>
                  <a:pt x="244168" y="630579"/>
                  <a:pt x="243268" y="640216"/>
                  <a:pt x="247758" y="647700"/>
                </a:cubicBezTo>
                <a:cubicBezTo>
                  <a:pt x="250193" y="651759"/>
                  <a:pt x="256225" y="651933"/>
                  <a:pt x="260458" y="654050"/>
                </a:cubicBezTo>
                <a:cubicBezTo>
                  <a:pt x="262575" y="660400"/>
                  <a:pt x="261361" y="669209"/>
                  <a:pt x="266808" y="673100"/>
                </a:cubicBezTo>
                <a:cubicBezTo>
                  <a:pt x="277701" y="680881"/>
                  <a:pt x="291921" y="682553"/>
                  <a:pt x="304908" y="685800"/>
                </a:cubicBezTo>
                <a:cubicBezTo>
                  <a:pt x="313375" y="687917"/>
                  <a:pt x="322029" y="689390"/>
                  <a:pt x="330308" y="692150"/>
                </a:cubicBezTo>
                <a:cubicBezTo>
                  <a:pt x="334798" y="693647"/>
                  <a:pt x="338416" y="697352"/>
                  <a:pt x="343008" y="698500"/>
                </a:cubicBezTo>
                <a:cubicBezTo>
                  <a:pt x="355499" y="701623"/>
                  <a:pt x="368408" y="702733"/>
                  <a:pt x="381108" y="704850"/>
                </a:cubicBezTo>
                <a:cubicBezTo>
                  <a:pt x="395925" y="702733"/>
                  <a:pt x="410882" y="701435"/>
                  <a:pt x="425558" y="698500"/>
                </a:cubicBezTo>
                <a:cubicBezTo>
                  <a:pt x="432122" y="697187"/>
                  <a:pt x="438114" y="693773"/>
                  <a:pt x="444608" y="692150"/>
                </a:cubicBezTo>
                <a:cubicBezTo>
                  <a:pt x="455079" y="689532"/>
                  <a:pt x="465775" y="687917"/>
                  <a:pt x="476358" y="685800"/>
                </a:cubicBezTo>
                <a:cubicBezTo>
                  <a:pt x="502870" y="672544"/>
                  <a:pt x="475013" y="688146"/>
                  <a:pt x="501758" y="666750"/>
                </a:cubicBezTo>
                <a:cubicBezTo>
                  <a:pt x="507717" y="661982"/>
                  <a:pt x="514703" y="658629"/>
                  <a:pt x="520808" y="654050"/>
                </a:cubicBezTo>
                <a:cubicBezTo>
                  <a:pt x="551818" y="630793"/>
                  <a:pt x="548111" y="633097"/>
                  <a:pt x="571608" y="609600"/>
                </a:cubicBezTo>
                <a:cubicBezTo>
                  <a:pt x="589597" y="555634"/>
                  <a:pt x="564508" y="621433"/>
                  <a:pt x="590658" y="577850"/>
                </a:cubicBezTo>
                <a:cubicBezTo>
                  <a:pt x="600398" y="561616"/>
                  <a:pt x="602671" y="540437"/>
                  <a:pt x="616058" y="527050"/>
                </a:cubicBezTo>
                <a:cubicBezTo>
                  <a:pt x="622408" y="520700"/>
                  <a:pt x="629359" y="514899"/>
                  <a:pt x="635108" y="508000"/>
                </a:cubicBezTo>
                <a:cubicBezTo>
                  <a:pt x="651610" y="488197"/>
                  <a:pt x="642034" y="491029"/>
                  <a:pt x="660508" y="476250"/>
                </a:cubicBezTo>
                <a:cubicBezTo>
                  <a:pt x="675467" y="464283"/>
                  <a:pt x="687575" y="459541"/>
                  <a:pt x="704958" y="450850"/>
                </a:cubicBezTo>
                <a:cubicBezTo>
                  <a:pt x="713425" y="452967"/>
                  <a:pt x="723654" y="451613"/>
                  <a:pt x="730358" y="457200"/>
                </a:cubicBezTo>
                <a:cubicBezTo>
                  <a:pt x="750349" y="473859"/>
                  <a:pt x="742230" y="488672"/>
                  <a:pt x="736708" y="508000"/>
                </a:cubicBezTo>
                <a:cubicBezTo>
                  <a:pt x="726178" y="544856"/>
                  <a:pt x="735249" y="511648"/>
                  <a:pt x="724008" y="539750"/>
                </a:cubicBezTo>
                <a:cubicBezTo>
                  <a:pt x="721522" y="545965"/>
                  <a:pt x="719775" y="552450"/>
                  <a:pt x="717658" y="558800"/>
                </a:cubicBezTo>
                <a:cubicBezTo>
                  <a:pt x="712593" y="629713"/>
                  <a:pt x="702617" y="639675"/>
                  <a:pt x="724008" y="698500"/>
                </a:cubicBezTo>
                <a:cubicBezTo>
                  <a:pt x="726616" y="705672"/>
                  <a:pt x="732475" y="711200"/>
                  <a:pt x="736708" y="717550"/>
                </a:cubicBezTo>
                <a:cubicBezTo>
                  <a:pt x="754408" y="806051"/>
                  <a:pt x="727427" y="665280"/>
                  <a:pt x="749408" y="819150"/>
                </a:cubicBezTo>
                <a:cubicBezTo>
                  <a:pt x="750355" y="825776"/>
                  <a:pt x="751577" y="832973"/>
                  <a:pt x="755758" y="838200"/>
                </a:cubicBezTo>
                <a:cubicBezTo>
                  <a:pt x="760526" y="844159"/>
                  <a:pt x="768458" y="846667"/>
                  <a:pt x="774808" y="850900"/>
                </a:cubicBezTo>
                <a:cubicBezTo>
                  <a:pt x="779041" y="848783"/>
                  <a:pt x="783018" y="846047"/>
                  <a:pt x="787508" y="844550"/>
                </a:cubicBezTo>
                <a:cubicBezTo>
                  <a:pt x="807557" y="837867"/>
                  <a:pt x="827068" y="836494"/>
                  <a:pt x="844658" y="825500"/>
                </a:cubicBezTo>
                <a:cubicBezTo>
                  <a:pt x="857601" y="817410"/>
                  <a:pt x="882758" y="800100"/>
                  <a:pt x="882758" y="800100"/>
                </a:cubicBezTo>
                <a:cubicBezTo>
                  <a:pt x="886991" y="793750"/>
                  <a:pt x="890572" y="786913"/>
                  <a:pt x="895458" y="781050"/>
                </a:cubicBezTo>
                <a:cubicBezTo>
                  <a:pt x="923454" y="747455"/>
                  <a:pt x="907541" y="775934"/>
                  <a:pt x="920858" y="749300"/>
                </a:cubicBezTo>
                <a:cubicBezTo>
                  <a:pt x="922975" y="736600"/>
                  <a:pt x="924415" y="723769"/>
                  <a:pt x="927208" y="711200"/>
                </a:cubicBezTo>
                <a:cubicBezTo>
                  <a:pt x="932473" y="687507"/>
                  <a:pt x="932390" y="698245"/>
                  <a:pt x="939908" y="679450"/>
                </a:cubicBezTo>
                <a:cubicBezTo>
                  <a:pt x="942394" y="673235"/>
                  <a:pt x="942937" y="666212"/>
                  <a:pt x="946258" y="660400"/>
                </a:cubicBezTo>
                <a:cubicBezTo>
                  <a:pt x="951509" y="651211"/>
                  <a:pt x="959157" y="643612"/>
                  <a:pt x="965308" y="635000"/>
                </a:cubicBezTo>
                <a:cubicBezTo>
                  <a:pt x="969744" y="628790"/>
                  <a:pt x="972612" y="621346"/>
                  <a:pt x="978008" y="615950"/>
                </a:cubicBezTo>
                <a:cubicBezTo>
                  <a:pt x="983404" y="610554"/>
                  <a:pt x="990708" y="607483"/>
                  <a:pt x="997058" y="603250"/>
                </a:cubicBezTo>
                <a:cubicBezTo>
                  <a:pt x="999175" y="599017"/>
                  <a:pt x="1004186" y="595219"/>
                  <a:pt x="1003408" y="590550"/>
                </a:cubicBezTo>
                <a:cubicBezTo>
                  <a:pt x="997973" y="557941"/>
                  <a:pt x="989595" y="566896"/>
                  <a:pt x="965308" y="558800"/>
                </a:cubicBezTo>
                <a:cubicBezTo>
                  <a:pt x="960818" y="557303"/>
                  <a:pt x="956841" y="554567"/>
                  <a:pt x="952608" y="552450"/>
                </a:cubicBezTo>
                <a:cubicBezTo>
                  <a:pt x="958958" y="537633"/>
                  <a:pt x="965111" y="522731"/>
                  <a:pt x="971658" y="508000"/>
                </a:cubicBezTo>
                <a:cubicBezTo>
                  <a:pt x="973580" y="503675"/>
                  <a:pt x="974661" y="498647"/>
                  <a:pt x="978008" y="495300"/>
                </a:cubicBezTo>
                <a:cubicBezTo>
                  <a:pt x="982680" y="490628"/>
                  <a:pt x="1006038" y="483840"/>
                  <a:pt x="1009758" y="482600"/>
                </a:cubicBezTo>
                <a:cubicBezTo>
                  <a:pt x="1011875" y="476250"/>
                  <a:pt x="1013622" y="469765"/>
                  <a:pt x="1016108" y="463550"/>
                </a:cubicBezTo>
                <a:cubicBezTo>
                  <a:pt x="1017866" y="459156"/>
                  <a:pt x="1021310" y="455442"/>
                  <a:pt x="1022458" y="450850"/>
                </a:cubicBezTo>
                <a:cubicBezTo>
                  <a:pt x="1025581" y="438359"/>
                  <a:pt x="1024737" y="424964"/>
                  <a:pt x="1028808" y="412750"/>
                </a:cubicBezTo>
                <a:cubicBezTo>
                  <a:pt x="1031221" y="405510"/>
                  <a:pt x="1037581" y="400244"/>
                  <a:pt x="1041508" y="393700"/>
                </a:cubicBezTo>
                <a:cubicBezTo>
                  <a:pt x="1057057" y="367785"/>
                  <a:pt x="1034677" y="394181"/>
                  <a:pt x="1066908" y="361950"/>
                </a:cubicBezTo>
                <a:cubicBezTo>
                  <a:pt x="1053150" y="320675"/>
                  <a:pt x="1073258" y="364067"/>
                  <a:pt x="1022458" y="330200"/>
                </a:cubicBezTo>
                <a:cubicBezTo>
                  <a:pt x="1016108" y="325967"/>
                  <a:pt x="1010034" y="321286"/>
                  <a:pt x="1003408" y="317500"/>
                </a:cubicBezTo>
                <a:cubicBezTo>
                  <a:pt x="995189" y="312804"/>
                  <a:pt x="985711" y="310302"/>
                  <a:pt x="978008" y="304800"/>
                </a:cubicBezTo>
                <a:cubicBezTo>
                  <a:pt x="960588" y="292357"/>
                  <a:pt x="960351" y="288536"/>
                  <a:pt x="952608" y="273050"/>
                </a:cubicBezTo>
                <a:cubicBezTo>
                  <a:pt x="948375" y="281517"/>
                  <a:pt x="946601" y="305143"/>
                  <a:pt x="939908" y="298450"/>
                </a:cubicBezTo>
                <a:cubicBezTo>
                  <a:pt x="927566" y="286108"/>
                  <a:pt x="934297" y="263600"/>
                  <a:pt x="927208" y="247650"/>
                </a:cubicBezTo>
                <a:cubicBezTo>
                  <a:pt x="925286" y="243325"/>
                  <a:pt x="918294" y="244140"/>
                  <a:pt x="914508" y="241300"/>
                </a:cubicBezTo>
                <a:cubicBezTo>
                  <a:pt x="909719" y="237708"/>
                  <a:pt x="904981" y="233677"/>
                  <a:pt x="901808" y="228600"/>
                </a:cubicBezTo>
                <a:cubicBezTo>
                  <a:pt x="874031" y="184157"/>
                  <a:pt x="889167" y="203376"/>
                  <a:pt x="876408" y="165100"/>
                </a:cubicBezTo>
                <a:cubicBezTo>
                  <a:pt x="874911" y="160610"/>
                  <a:pt x="873754" y="155357"/>
                  <a:pt x="870058" y="152400"/>
                </a:cubicBezTo>
                <a:cubicBezTo>
                  <a:pt x="862666" y="146487"/>
                  <a:pt x="844658" y="139700"/>
                  <a:pt x="844658" y="139700"/>
                </a:cubicBezTo>
                <a:cubicBezTo>
                  <a:pt x="842541" y="135467"/>
                  <a:pt x="840743" y="131059"/>
                  <a:pt x="838308" y="127000"/>
                </a:cubicBezTo>
                <a:cubicBezTo>
                  <a:pt x="834381" y="120456"/>
                  <a:pt x="828614" y="114965"/>
                  <a:pt x="825608" y="107950"/>
                </a:cubicBezTo>
                <a:cubicBezTo>
                  <a:pt x="822917" y="101671"/>
                  <a:pt x="820554" y="77496"/>
                  <a:pt x="812908" y="69850"/>
                </a:cubicBezTo>
                <a:cubicBezTo>
                  <a:pt x="809561" y="66503"/>
                  <a:pt x="803994" y="66340"/>
                  <a:pt x="800208" y="63500"/>
                </a:cubicBezTo>
                <a:cubicBezTo>
                  <a:pt x="795419" y="59908"/>
                  <a:pt x="792489" y="54121"/>
                  <a:pt x="787508" y="50800"/>
                </a:cubicBezTo>
                <a:cubicBezTo>
                  <a:pt x="771876" y="40379"/>
                  <a:pt x="746858" y="32733"/>
                  <a:pt x="730358" y="25400"/>
                </a:cubicBezTo>
                <a:cubicBezTo>
                  <a:pt x="650269" y="-10195"/>
                  <a:pt x="767325" y="37647"/>
                  <a:pt x="673208" y="0"/>
                </a:cubicBezTo>
                <a:cubicBezTo>
                  <a:pt x="660508" y="10583"/>
                  <a:pt x="649894" y="24357"/>
                  <a:pt x="635108" y="31750"/>
                </a:cubicBezTo>
                <a:cubicBezTo>
                  <a:pt x="630875" y="33867"/>
                  <a:pt x="625755" y="28747"/>
                  <a:pt x="622408" y="25400"/>
                </a:cubicBezTo>
                <a:cubicBezTo>
                  <a:pt x="608297" y="11289"/>
                  <a:pt x="625936" y="11994"/>
                  <a:pt x="603358" y="6350"/>
                </a:cubicBezTo>
                <a:cubicBezTo>
                  <a:pt x="561255" y="-4176"/>
                  <a:pt x="486941" y="22225"/>
                  <a:pt x="463658" y="25400"/>
                </a:cubicBezTo>
                <a:close/>
              </a:path>
            </a:pathLst>
          </a:custGeom>
          <a:gradFill>
            <a:gsLst>
              <a:gs pos="0">
                <a:srgbClr val="C1F0C8">
                  <a:alpha val="50000"/>
                  <a:lumMod val="80000"/>
                  <a:lumOff val="20000"/>
                </a:srgbClr>
              </a:gs>
              <a:gs pos="100000">
                <a:srgbClr val="196B24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728B75C5-2B22-7CA7-AF68-05A195208545}"/>
              </a:ext>
            </a:extLst>
          </p:cNvPr>
          <p:cNvSpPr/>
          <p:nvPr/>
        </p:nvSpPr>
        <p:spPr>
          <a:xfrm>
            <a:off x="14122669" y="4054475"/>
            <a:ext cx="1568181" cy="1103313"/>
          </a:xfrm>
          <a:custGeom>
            <a:avLst/>
            <a:gdLst>
              <a:gd name="csX0" fmla="*/ 48150 w 1505475"/>
              <a:gd name="csY0" fmla="*/ 338138 h 1090613"/>
              <a:gd name="csX1" fmla="*/ 48150 w 1505475"/>
              <a:gd name="csY1" fmla="*/ 338138 h 1090613"/>
              <a:gd name="csX2" fmla="*/ 5287 w 1505475"/>
              <a:gd name="csY2" fmla="*/ 414338 h 1090613"/>
              <a:gd name="csX3" fmla="*/ 10050 w 1505475"/>
              <a:gd name="csY3" fmla="*/ 681038 h 1090613"/>
              <a:gd name="csX4" fmla="*/ 14812 w 1505475"/>
              <a:gd name="csY4" fmla="*/ 700088 h 1090613"/>
              <a:gd name="csX5" fmla="*/ 19575 w 1505475"/>
              <a:gd name="csY5" fmla="*/ 762000 h 1090613"/>
              <a:gd name="csX6" fmla="*/ 29100 w 1505475"/>
              <a:gd name="csY6" fmla="*/ 819150 h 1090613"/>
              <a:gd name="csX7" fmla="*/ 33862 w 1505475"/>
              <a:gd name="csY7" fmla="*/ 852488 h 1090613"/>
              <a:gd name="csX8" fmla="*/ 43387 w 1505475"/>
              <a:gd name="csY8" fmla="*/ 885825 h 1090613"/>
              <a:gd name="csX9" fmla="*/ 57675 w 1505475"/>
              <a:gd name="csY9" fmla="*/ 952500 h 1090613"/>
              <a:gd name="csX10" fmla="*/ 62437 w 1505475"/>
              <a:gd name="csY10" fmla="*/ 976313 h 1090613"/>
              <a:gd name="csX11" fmla="*/ 76725 w 1505475"/>
              <a:gd name="csY11" fmla="*/ 1009650 h 1090613"/>
              <a:gd name="csX12" fmla="*/ 86250 w 1505475"/>
              <a:gd name="csY12" fmla="*/ 1023938 h 1090613"/>
              <a:gd name="csX13" fmla="*/ 91012 w 1505475"/>
              <a:gd name="csY13" fmla="*/ 1038225 h 1090613"/>
              <a:gd name="csX14" fmla="*/ 114825 w 1505475"/>
              <a:gd name="csY14" fmla="*/ 1062038 h 1090613"/>
              <a:gd name="csX15" fmla="*/ 138637 w 1505475"/>
              <a:gd name="csY15" fmla="*/ 1076325 h 1090613"/>
              <a:gd name="csX16" fmla="*/ 152925 w 1505475"/>
              <a:gd name="csY16" fmla="*/ 1085850 h 1090613"/>
              <a:gd name="csX17" fmla="*/ 210075 w 1505475"/>
              <a:gd name="csY17" fmla="*/ 1090613 h 1090613"/>
              <a:gd name="csX18" fmla="*/ 248175 w 1505475"/>
              <a:gd name="csY18" fmla="*/ 1085850 h 1090613"/>
              <a:gd name="csX19" fmla="*/ 267225 w 1505475"/>
              <a:gd name="csY19" fmla="*/ 1062038 h 1090613"/>
              <a:gd name="csX20" fmla="*/ 276750 w 1505475"/>
              <a:gd name="csY20" fmla="*/ 1052513 h 1090613"/>
              <a:gd name="csX21" fmla="*/ 281512 w 1505475"/>
              <a:gd name="csY21" fmla="*/ 1033463 h 1090613"/>
              <a:gd name="csX22" fmla="*/ 291037 w 1505475"/>
              <a:gd name="csY22" fmla="*/ 962025 h 1090613"/>
              <a:gd name="csX23" fmla="*/ 305325 w 1505475"/>
              <a:gd name="csY23" fmla="*/ 938213 h 1090613"/>
              <a:gd name="csX24" fmla="*/ 348187 w 1505475"/>
              <a:gd name="csY24" fmla="*/ 928688 h 1090613"/>
              <a:gd name="csX25" fmla="*/ 405337 w 1505475"/>
              <a:gd name="csY25" fmla="*/ 909638 h 1090613"/>
              <a:gd name="csX26" fmla="*/ 433912 w 1505475"/>
              <a:gd name="csY26" fmla="*/ 904875 h 1090613"/>
              <a:gd name="csX27" fmla="*/ 457725 w 1505475"/>
              <a:gd name="csY27" fmla="*/ 900113 h 1090613"/>
              <a:gd name="csX28" fmla="*/ 472012 w 1505475"/>
              <a:gd name="csY28" fmla="*/ 890588 h 1090613"/>
              <a:gd name="csX29" fmla="*/ 505350 w 1505475"/>
              <a:gd name="csY29" fmla="*/ 881063 h 1090613"/>
              <a:gd name="csX30" fmla="*/ 524400 w 1505475"/>
              <a:gd name="csY30" fmla="*/ 871538 h 1090613"/>
              <a:gd name="csX31" fmla="*/ 552975 w 1505475"/>
              <a:gd name="csY31" fmla="*/ 823913 h 1090613"/>
              <a:gd name="csX32" fmla="*/ 567262 w 1505475"/>
              <a:gd name="csY32" fmla="*/ 795338 h 1090613"/>
              <a:gd name="csX33" fmla="*/ 595837 w 1505475"/>
              <a:gd name="csY33" fmla="*/ 776288 h 1090613"/>
              <a:gd name="csX34" fmla="*/ 652987 w 1505475"/>
              <a:gd name="csY34" fmla="*/ 781050 h 1090613"/>
              <a:gd name="csX35" fmla="*/ 667275 w 1505475"/>
              <a:gd name="csY35" fmla="*/ 776288 h 1090613"/>
              <a:gd name="csX36" fmla="*/ 691087 w 1505475"/>
              <a:gd name="csY36" fmla="*/ 771525 h 1090613"/>
              <a:gd name="csX37" fmla="*/ 714900 w 1505475"/>
              <a:gd name="csY37" fmla="*/ 742950 h 1090613"/>
              <a:gd name="csX38" fmla="*/ 724425 w 1505475"/>
              <a:gd name="csY38" fmla="*/ 733425 h 1090613"/>
              <a:gd name="csX39" fmla="*/ 738712 w 1505475"/>
              <a:gd name="csY39" fmla="*/ 714375 h 1090613"/>
              <a:gd name="csX40" fmla="*/ 743475 w 1505475"/>
              <a:gd name="csY40" fmla="*/ 704850 h 1090613"/>
              <a:gd name="csX41" fmla="*/ 767287 w 1505475"/>
              <a:gd name="csY41" fmla="*/ 690563 h 1090613"/>
              <a:gd name="csX42" fmla="*/ 786337 w 1505475"/>
              <a:gd name="csY42" fmla="*/ 676275 h 1090613"/>
              <a:gd name="csX43" fmla="*/ 810150 w 1505475"/>
              <a:gd name="csY43" fmla="*/ 661988 h 1090613"/>
              <a:gd name="csX44" fmla="*/ 824437 w 1505475"/>
              <a:gd name="csY44" fmla="*/ 652463 h 1090613"/>
              <a:gd name="csX45" fmla="*/ 867300 w 1505475"/>
              <a:gd name="csY45" fmla="*/ 633413 h 1090613"/>
              <a:gd name="csX46" fmla="*/ 872062 w 1505475"/>
              <a:gd name="csY46" fmla="*/ 661988 h 1090613"/>
              <a:gd name="csX47" fmla="*/ 895875 w 1505475"/>
              <a:gd name="csY47" fmla="*/ 647700 h 1090613"/>
              <a:gd name="csX48" fmla="*/ 919687 w 1505475"/>
              <a:gd name="csY48" fmla="*/ 638175 h 1090613"/>
              <a:gd name="csX49" fmla="*/ 929212 w 1505475"/>
              <a:gd name="csY49" fmla="*/ 628650 h 1090613"/>
              <a:gd name="csX50" fmla="*/ 957787 w 1505475"/>
              <a:gd name="csY50" fmla="*/ 614363 h 1090613"/>
              <a:gd name="csX51" fmla="*/ 953025 w 1505475"/>
              <a:gd name="csY51" fmla="*/ 600075 h 1090613"/>
              <a:gd name="csX52" fmla="*/ 962550 w 1505475"/>
              <a:gd name="csY52" fmla="*/ 523875 h 1090613"/>
              <a:gd name="csX53" fmla="*/ 967312 w 1505475"/>
              <a:gd name="csY53" fmla="*/ 514350 h 1090613"/>
              <a:gd name="csX54" fmla="*/ 972075 w 1505475"/>
              <a:gd name="csY54" fmla="*/ 495300 h 1090613"/>
              <a:gd name="csX55" fmla="*/ 995887 w 1505475"/>
              <a:gd name="csY55" fmla="*/ 466725 h 1090613"/>
              <a:gd name="csX56" fmla="*/ 1005412 w 1505475"/>
              <a:gd name="csY56" fmla="*/ 423863 h 1090613"/>
              <a:gd name="csX57" fmla="*/ 1014937 w 1505475"/>
              <a:gd name="csY57" fmla="*/ 404813 h 1090613"/>
              <a:gd name="csX58" fmla="*/ 1038750 w 1505475"/>
              <a:gd name="csY58" fmla="*/ 395288 h 1090613"/>
              <a:gd name="csX59" fmla="*/ 1091137 w 1505475"/>
              <a:gd name="csY59" fmla="*/ 400050 h 1090613"/>
              <a:gd name="csX60" fmla="*/ 1100662 w 1505475"/>
              <a:gd name="csY60" fmla="*/ 404813 h 1090613"/>
              <a:gd name="csX61" fmla="*/ 1143525 w 1505475"/>
              <a:gd name="csY61" fmla="*/ 419100 h 1090613"/>
              <a:gd name="csX62" fmla="*/ 1162575 w 1505475"/>
              <a:gd name="csY62" fmla="*/ 428625 h 1090613"/>
              <a:gd name="csX63" fmla="*/ 1238775 w 1505475"/>
              <a:gd name="csY63" fmla="*/ 438150 h 1090613"/>
              <a:gd name="csX64" fmla="*/ 1295925 w 1505475"/>
              <a:gd name="csY64" fmla="*/ 433388 h 1090613"/>
              <a:gd name="csX65" fmla="*/ 1334025 w 1505475"/>
              <a:gd name="csY65" fmla="*/ 428625 h 1090613"/>
              <a:gd name="csX66" fmla="*/ 1338787 w 1505475"/>
              <a:gd name="csY66" fmla="*/ 452438 h 1090613"/>
              <a:gd name="csX67" fmla="*/ 1338787 w 1505475"/>
              <a:gd name="csY67" fmla="*/ 542925 h 1090613"/>
              <a:gd name="csX68" fmla="*/ 1353075 w 1505475"/>
              <a:gd name="csY68" fmla="*/ 552450 h 1090613"/>
              <a:gd name="csX69" fmla="*/ 1376887 w 1505475"/>
              <a:gd name="csY69" fmla="*/ 566738 h 1090613"/>
              <a:gd name="csX70" fmla="*/ 1424512 w 1505475"/>
              <a:gd name="csY70" fmla="*/ 538163 h 1090613"/>
              <a:gd name="csX71" fmla="*/ 1448325 w 1505475"/>
              <a:gd name="csY71" fmla="*/ 490538 h 1090613"/>
              <a:gd name="csX72" fmla="*/ 1481662 w 1505475"/>
              <a:gd name="csY72" fmla="*/ 471488 h 1090613"/>
              <a:gd name="csX73" fmla="*/ 1491187 w 1505475"/>
              <a:gd name="csY73" fmla="*/ 442913 h 1090613"/>
              <a:gd name="csX74" fmla="*/ 1495950 w 1505475"/>
              <a:gd name="csY74" fmla="*/ 433388 h 1090613"/>
              <a:gd name="csX75" fmla="*/ 1491187 w 1505475"/>
              <a:gd name="csY75" fmla="*/ 423863 h 1090613"/>
              <a:gd name="csX76" fmla="*/ 1472137 w 1505475"/>
              <a:gd name="csY76" fmla="*/ 395288 h 1090613"/>
              <a:gd name="csX77" fmla="*/ 1462612 w 1505475"/>
              <a:gd name="csY77" fmla="*/ 366713 h 1090613"/>
              <a:gd name="csX78" fmla="*/ 1462612 w 1505475"/>
              <a:gd name="csY78" fmla="*/ 314325 h 1090613"/>
              <a:gd name="csX79" fmla="*/ 1505475 w 1505475"/>
              <a:gd name="csY79" fmla="*/ 319088 h 1090613"/>
              <a:gd name="csX80" fmla="*/ 1491187 w 1505475"/>
              <a:gd name="csY80" fmla="*/ 314325 h 1090613"/>
              <a:gd name="csX81" fmla="*/ 1486425 w 1505475"/>
              <a:gd name="csY81" fmla="*/ 300038 h 1090613"/>
              <a:gd name="csX82" fmla="*/ 1481662 w 1505475"/>
              <a:gd name="csY82" fmla="*/ 290513 h 1090613"/>
              <a:gd name="csX83" fmla="*/ 1486425 w 1505475"/>
              <a:gd name="csY83" fmla="*/ 280988 h 1090613"/>
              <a:gd name="csX84" fmla="*/ 1472137 w 1505475"/>
              <a:gd name="csY84" fmla="*/ 204788 h 1090613"/>
              <a:gd name="csX85" fmla="*/ 1467375 w 1505475"/>
              <a:gd name="csY85" fmla="*/ 190500 h 1090613"/>
              <a:gd name="csX86" fmla="*/ 1462612 w 1505475"/>
              <a:gd name="csY86" fmla="*/ 176213 h 1090613"/>
              <a:gd name="csX87" fmla="*/ 1472137 w 1505475"/>
              <a:gd name="csY87" fmla="*/ 133350 h 1090613"/>
              <a:gd name="csX88" fmla="*/ 1467375 w 1505475"/>
              <a:gd name="csY88" fmla="*/ 100013 h 1090613"/>
              <a:gd name="csX89" fmla="*/ 1410225 w 1505475"/>
              <a:gd name="csY89" fmla="*/ 85725 h 1090613"/>
              <a:gd name="csX90" fmla="*/ 1300687 w 1505475"/>
              <a:gd name="csY90" fmla="*/ 76200 h 1090613"/>
              <a:gd name="csX91" fmla="*/ 1257825 w 1505475"/>
              <a:gd name="csY91" fmla="*/ 71438 h 1090613"/>
              <a:gd name="csX92" fmla="*/ 1205437 w 1505475"/>
              <a:gd name="csY92" fmla="*/ 52388 h 1090613"/>
              <a:gd name="csX93" fmla="*/ 1086375 w 1505475"/>
              <a:gd name="csY93" fmla="*/ 57150 h 1090613"/>
              <a:gd name="csX94" fmla="*/ 1029225 w 1505475"/>
              <a:gd name="csY94" fmla="*/ 71438 h 1090613"/>
              <a:gd name="csX95" fmla="*/ 943500 w 1505475"/>
              <a:gd name="csY95" fmla="*/ 85725 h 1090613"/>
              <a:gd name="csX96" fmla="*/ 886350 w 1505475"/>
              <a:gd name="csY96" fmla="*/ 104775 h 1090613"/>
              <a:gd name="csX97" fmla="*/ 867300 w 1505475"/>
              <a:gd name="csY97" fmla="*/ 109538 h 1090613"/>
              <a:gd name="csX98" fmla="*/ 853012 w 1505475"/>
              <a:gd name="csY98" fmla="*/ 114300 h 1090613"/>
              <a:gd name="csX99" fmla="*/ 829200 w 1505475"/>
              <a:gd name="csY99" fmla="*/ 104775 h 1090613"/>
              <a:gd name="csX100" fmla="*/ 800625 w 1505475"/>
              <a:gd name="csY100" fmla="*/ 61913 h 1090613"/>
              <a:gd name="csX101" fmla="*/ 710137 w 1505475"/>
              <a:gd name="csY101" fmla="*/ 66675 h 1090613"/>
              <a:gd name="csX102" fmla="*/ 691087 w 1505475"/>
              <a:gd name="csY102" fmla="*/ 76200 h 1090613"/>
              <a:gd name="csX103" fmla="*/ 672037 w 1505475"/>
              <a:gd name="csY103" fmla="*/ 95250 h 1090613"/>
              <a:gd name="csX104" fmla="*/ 667275 w 1505475"/>
              <a:gd name="csY104" fmla="*/ 104775 h 1090613"/>
              <a:gd name="csX105" fmla="*/ 648225 w 1505475"/>
              <a:gd name="csY105" fmla="*/ 128588 h 1090613"/>
              <a:gd name="csX106" fmla="*/ 643462 w 1505475"/>
              <a:gd name="csY106" fmla="*/ 142875 h 1090613"/>
              <a:gd name="csX107" fmla="*/ 586312 w 1505475"/>
              <a:gd name="csY107" fmla="*/ 128588 h 1090613"/>
              <a:gd name="csX108" fmla="*/ 567262 w 1505475"/>
              <a:gd name="csY108" fmla="*/ 114300 h 1090613"/>
              <a:gd name="csX109" fmla="*/ 481537 w 1505475"/>
              <a:gd name="csY109" fmla="*/ 95250 h 1090613"/>
              <a:gd name="csX110" fmla="*/ 457725 w 1505475"/>
              <a:gd name="csY110" fmla="*/ 85725 h 1090613"/>
              <a:gd name="csX111" fmla="*/ 452962 w 1505475"/>
              <a:gd name="csY111" fmla="*/ 76200 h 1090613"/>
              <a:gd name="csX112" fmla="*/ 443437 w 1505475"/>
              <a:gd name="csY112" fmla="*/ 66675 h 1090613"/>
              <a:gd name="csX113" fmla="*/ 410100 w 1505475"/>
              <a:gd name="csY113" fmla="*/ 52388 h 1090613"/>
              <a:gd name="csX114" fmla="*/ 381525 w 1505475"/>
              <a:gd name="csY114" fmla="*/ 28575 h 1090613"/>
              <a:gd name="csX115" fmla="*/ 352950 w 1505475"/>
              <a:gd name="csY115" fmla="*/ 19050 h 1090613"/>
              <a:gd name="csX116" fmla="*/ 310087 w 1505475"/>
              <a:gd name="csY116" fmla="*/ 0 h 1090613"/>
              <a:gd name="csX117" fmla="*/ 291037 w 1505475"/>
              <a:gd name="csY117" fmla="*/ 4763 h 1090613"/>
              <a:gd name="csX118" fmla="*/ 276750 w 1505475"/>
              <a:gd name="csY118" fmla="*/ 9525 h 1090613"/>
              <a:gd name="csX119" fmla="*/ 281512 w 1505475"/>
              <a:gd name="csY119" fmla="*/ 19050 h 1090613"/>
              <a:gd name="csX120" fmla="*/ 262462 w 1505475"/>
              <a:gd name="csY120" fmla="*/ 57150 h 1090613"/>
              <a:gd name="csX121" fmla="*/ 281512 w 1505475"/>
              <a:gd name="csY121" fmla="*/ 61913 h 1090613"/>
              <a:gd name="csX122" fmla="*/ 276750 w 1505475"/>
              <a:gd name="csY122" fmla="*/ 85725 h 1090613"/>
              <a:gd name="csX123" fmla="*/ 271987 w 1505475"/>
              <a:gd name="csY123" fmla="*/ 95250 h 1090613"/>
              <a:gd name="csX124" fmla="*/ 238650 w 1505475"/>
              <a:gd name="csY124" fmla="*/ 142875 h 1090613"/>
              <a:gd name="csX125" fmla="*/ 233887 w 1505475"/>
              <a:gd name="csY125" fmla="*/ 214313 h 1090613"/>
              <a:gd name="csX126" fmla="*/ 210075 w 1505475"/>
              <a:gd name="csY126" fmla="*/ 238125 h 1090613"/>
              <a:gd name="csX127" fmla="*/ 176737 w 1505475"/>
              <a:gd name="csY127" fmla="*/ 261938 h 1090613"/>
              <a:gd name="csX128" fmla="*/ 133875 w 1505475"/>
              <a:gd name="csY128" fmla="*/ 290513 h 1090613"/>
              <a:gd name="csX129" fmla="*/ 86250 w 1505475"/>
              <a:gd name="csY129" fmla="*/ 309563 h 1090613"/>
              <a:gd name="csX130" fmla="*/ 67200 w 1505475"/>
              <a:gd name="csY130" fmla="*/ 319088 h 1090613"/>
              <a:gd name="csX131" fmla="*/ 43387 w 1505475"/>
              <a:gd name="csY131" fmla="*/ 338138 h 1090613"/>
              <a:gd name="csX132" fmla="*/ 48150 w 1505475"/>
              <a:gd name="csY132" fmla="*/ 338138 h 1090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</a:cxnLst>
            <a:rect l="l" t="t" r="r" b="b"/>
            <a:pathLst>
              <a:path w="1505475" h="1090613">
                <a:moveTo>
                  <a:pt x="48150" y="338138"/>
                </a:moveTo>
                <a:lnTo>
                  <a:pt x="48150" y="338138"/>
                </a:lnTo>
                <a:cubicBezTo>
                  <a:pt x="-3665" y="400316"/>
                  <a:pt x="-5489" y="371231"/>
                  <a:pt x="5287" y="414338"/>
                </a:cubicBezTo>
                <a:cubicBezTo>
                  <a:pt x="6875" y="503238"/>
                  <a:pt x="7088" y="592173"/>
                  <a:pt x="10050" y="681038"/>
                </a:cubicBezTo>
                <a:cubicBezTo>
                  <a:pt x="10268" y="687580"/>
                  <a:pt x="14047" y="693587"/>
                  <a:pt x="14812" y="700088"/>
                </a:cubicBezTo>
                <a:cubicBezTo>
                  <a:pt x="17230" y="720645"/>
                  <a:pt x="17109" y="741449"/>
                  <a:pt x="19575" y="762000"/>
                </a:cubicBezTo>
                <a:cubicBezTo>
                  <a:pt x="21876" y="781175"/>
                  <a:pt x="26369" y="800031"/>
                  <a:pt x="29100" y="819150"/>
                </a:cubicBezTo>
                <a:cubicBezTo>
                  <a:pt x="30687" y="830263"/>
                  <a:pt x="31510" y="841512"/>
                  <a:pt x="33862" y="852488"/>
                </a:cubicBezTo>
                <a:cubicBezTo>
                  <a:pt x="36283" y="863788"/>
                  <a:pt x="40212" y="874713"/>
                  <a:pt x="43387" y="885825"/>
                </a:cubicBezTo>
                <a:cubicBezTo>
                  <a:pt x="52058" y="955190"/>
                  <a:pt x="42014" y="895072"/>
                  <a:pt x="57675" y="952500"/>
                </a:cubicBezTo>
                <a:cubicBezTo>
                  <a:pt x="59805" y="960310"/>
                  <a:pt x="60474" y="968460"/>
                  <a:pt x="62437" y="976313"/>
                </a:cubicBezTo>
                <a:cubicBezTo>
                  <a:pt x="65405" y="988183"/>
                  <a:pt x="70670" y="999053"/>
                  <a:pt x="76725" y="1009650"/>
                </a:cubicBezTo>
                <a:cubicBezTo>
                  <a:pt x="79565" y="1014620"/>
                  <a:pt x="83075" y="1019175"/>
                  <a:pt x="86250" y="1023938"/>
                </a:cubicBezTo>
                <a:cubicBezTo>
                  <a:pt x="87837" y="1028700"/>
                  <a:pt x="88000" y="1034209"/>
                  <a:pt x="91012" y="1038225"/>
                </a:cubicBezTo>
                <a:cubicBezTo>
                  <a:pt x="97747" y="1047205"/>
                  <a:pt x="114825" y="1062038"/>
                  <a:pt x="114825" y="1062038"/>
                </a:cubicBezTo>
                <a:cubicBezTo>
                  <a:pt x="123900" y="1080190"/>
                  <a:pt x="113587" y="1065590"/>
                  <a:pt x="138637" y="1076325"/>
                </a:cubicBezTo>
                <a:cubicBezTo>
                  <a:pt x="143898" y="1078580"/>
                  <a:pt x="147312" y="1084727"/>
                  <a:pt x="152925" y="1085850"/>
                </a:cubicBezTo>
                <a:cubicBezTo>
                  <a:pt x="171670" y="1089599"/>
                  <a:pt x="191025" y="1089025"/>
                  <a:pt x="210075" y="1090613"/>
                </a:cubicBezTo>
                <a:cubicBezTo>
                  <a:pt x="222775" y="1089025"/>
                  <a:pt x="236147" y="1090224"/>
                  <a:pt x="248175" y="1085850"/>
                </a:cubicBezTo>
                <a:cubicBezTo>
                  <a:pt x="264088" y="1080063"/>
                  <a:pt x="259916" y="1071783"/>
                  <a:pt x="267225" y="1062038"/>
                </a:cubicBezTo>
                <a:cubicBezTo>
                  <a:pt x="269919" y="1058446"/>
                  <a:pt x="273575" y="1055688"/>
                  <a:pt x="276750" y="1052513"/>
                </a:cubicBezTo>
                <a:cubicBezTo>
                  <a:pt x="278337" y="1046163"/>
                  <a:pt x="280700" y="1039958"/>
                  <a:pt x="281512" y="1033463"/>
                </a:cubicBezTo>
                <a:cubicBezTo>
                  <a:pt x="283283" y="1019293"/>
                  <a:pt x="281126" y="981847"/>
                  <a:pt x="291037" y="962025"/>
                </a:cubicBezTo>
                <a:cubicBezTo>
                  <a:pt x="295177" y="953746"/>
                  <a:pt x="297329" y="942877"/>
                  <a:pt x="305325" y="938213"/>
                </a:cubicBezTo>
                <a:cubicBezTo>
                  <a:pt x="317967" y="930838"/>
                  <a:pt x="334114" y="932709"/>
                  <a:pt x="348187" y="928688"/>
                </a:cubicBezTo>
                <a:cubicBezTo>
                  <a:pt x="423845" y="907071"/>
                  <a:pt x="308200" y="932055"/>
                  <a:pt x="405337" y="909638"/>
                </a:cubicBezTo>
                <a:cubicBezTo>
                  <a:pt x="414746" y="907467"/>
                  <a:pt x="424411" y="906602"/>
                  <a:pt x="433912" y="904875"/>
                </a:cubicBezTo>
                <a:cubicBezTo>
                  <a:pt x="441876" y="903427"/>
                  <a:pt x="449787" y="901700"/>
                  <a:pt x="457725" y="900113"/>
                </a:cubicBezTo>
                <a:cubicBezTo>
                  <a:pt x="462487" y="896938"/>
                  <a:pt x="466893" y="893148"/>
                  <a:pt x="472012" y="890588"/>
                </a:cubicBezTo>
                <a:cubicBezTo>
                  <a:pt x="478847" y="887170"/>
                  <a:pt x="499242" y="882590"/>
                  <a:pt x="505350" y="881063"/>
                </a:cubicBezTo>
                <a:cubicBezTo>
                  <a:pt x="511700" y="877888"/>
                  <a:pt x="519855" y="876992"/>
                  <a:pt x="524400" y="871538"/>
                </a:cubicBezTo>
                <a:cubicBezTo>
                  <a:pt x="536252" y="857316"/>
                  <a:pt x="544696" y="840472"/>
                  <a:pt x="552975" y="823913"/>
                </a:cubicBezTo>
                <a:cubicBezTo>
                  <a:pt x="557737" y="814388"/>
                  <a:pt x="559732" y="802868"/>
                  <a:pt x="567262" y="795338"/>
                </a:cubicBezTo>
                <a:cubicBezTo>
                  <a:pt x="581807" y="780793"/>
                  <a:pt x="572771" y="787821"/>
                  <a:pt x="595837" y="776288"/>
                </a:cubicBezTo>
                <a:cubicBezTo>
                  <a:pt x="614887" y="777875"/>
                  <a:pt x="633871" y="781050"/>
                  <a:pt x="652987" y="781050"/>
                </a:cubicBezTo>
                <a:cubicBezTo>
                  <a:pt x="658007" y="781050"/>
                  <a:pt x="662405" y="777506"/>
                  <a:pt x="667275" y="776288"/>
                </a:cubicBezTo>
                <a:cubicBezTo>
                  <a:pt x="675128" y="774325"/>
                  <a:pt x="683150" y="773113"/>
                  <a:pt x="691087" y="771525"/>
                </a:cubicBezTo>
                <a:cubicBezTo>
                  <a:pt x="725022" y="737592"/>
                  <a:pt x="688382" y="776098"/>
                  <a:pt x="714900" y="742950"/>
                </a:cubicBezTo>
                <a:cubicBezTo>
                  <a:pt x="717705" y="739444"/>
                  <a:pt x="721551" y="736874"/>
                  <a:pt x="724425" y="733425"/>
                </a:cubicBezTo>
                <a:cubicBezTo>
                  <a:pt x="729506" y="727327"/>
                  <a:pt x="734309" y="720979"/>
                  <a:pt x="738712" y="714375"/>
                </a:cubicBezTo>
                <a:cubicBezTo>
                  <a:pt x="740681" y="711421"/>
                  <a:pt x="740965" y="707360"/>
                  <a:pt x="743475" y="704850"/>
                </a:cubicBezTo>
                <a:cubicBezTo>
                  <a:pt x="755287" y="693038"/>
                  <a:pt x="756009" y="698081"/>
                  <a:pt x="767287" y="690563"/>
                </a:cubicBezTo>
                <a:cubicBezTo>
                  <a:pt x="773891" y="686160"/>
                  <a:pt x="779732" y="680678"/>
                  <a:pt x="786337" y="676275"/>
                </a:cubicBezTo>
                <a:cubicBezTo>
                  <a:pt x="794039" y="671140"/>
                  <a:pt x="802300" y="666894"/>
                  <a:pt x="810150" y="661988"/>
                </a:cubicBezTo>
                <a:cubicBezTo>
                  <a:pt x="815004" y="658955"/>
                  <a:pt x="819434" y="655243"/>
                  <a:pt x="824437" y="652463"/>
                </a:cubicBezTo>
                <a:cubicBezTo>
                  <a:pt x="849238" y="638684"/>
                  <a:pt x="846805" y="640244"/>
                  <a:pt x="867300" y="633413"/>
                </a:cubicBezTo>
                <a:cubicBezTo>
                  <a:pt x="868887" y="642938"/>
                  <a:pt x="863425" y="657670"/>
                  <a:pt x="872062" y="661988"/>
                </a:cubicBezTo>
                <a:cubicBezTo>
                  <a:pt x="880342" y="666128"/>
                  <a:pt x="887595" y="651840"/>
                  <a:pt x="895875" y="647700"/>
                </a:cubicBezTo>
                <a:cubicBezTo>
                  <a:pt x="903521" y="643877"/>
                  <a:pt x="911750" y="641350"/>
                  <a:pt x="919687" y="638175"/>
                </a:cubicBezTo>
                <a:cubicBezTo>
                  <a:pt x="922862" y="635000"/>
                  <a:pt x="925404" y="631030"/>
                  <a:pt x="929212" y="628650"/>
                </a:cubicBezTo>
                <a:cubicBezTo>
                  <a:pt x="938243" y="623006"/>
                  <a:pt x="950969" y="622544"/>
                  <a:pt x="957787" y="614363"/>
                </a:cubicBezTo>
                <a:cubicBezTo>
                  <a:pt x="961001" y="610506"/>
                  <a:pt x="954612" y="604838"/>
                  <a:pt x="953025" y="600075"/>
                </a:cubicBezTo>
                <a:cubicBezTo>
                  <a:pt x="956200" y="574675"/>
                  <a:pt x="958342" y="549124"/>
                  <a:pt x="962550" y="523875"/>
                </a:cubicBezTo>
                <a:cubicBezTo>
                  <a:pt x="963134" y="520374"/>
                  <a:pt x="966189" y="517718"/>
                  <a:pt x="967312" y="514350"/>
                </a:cubicBezTo>
                <a:cubicBezTo>
                  <a:pt x="969382" y="508140"/>
                  <a:pt x="969497" y="501316"/>
                  <a:pt x="972075" y="495300"/>
                </a:cubicBezTo>
                <a:cubicBezTo>
                  <a:pt x="977047" y="483698"/>
                  <a:pt x="987306" y="475306"/>
                  <a:pt x="995887" y="466725"/>
                </a:cubicBezTo>
                <a:cubicBezTo>
                  <a:pt x="998741" y="449604"/>
                  <a:pt x="999018" y="438782"/>
                  <a:pt x="1005412" y="423863"/>
                </a:cubicBezTo>
                <a:cubicBezTo>
                  <a:pt x="1008209" y="417337"/>
                  <a:pt x="1010502" y="410357"/>
                  <a:pt x="1014937" y="404813"/>
                </a:cubicBezTo>
                <a:cubicBezTo>
                  <a:pt x="1017487" y="401626"/>
                  <a:pt x="1037309" y="395768"/>
                  <a:pt x="1038750" y="395288"/>
                </a:cubicBezTo>
                <a:cubicBezTo>
                  <a:pt x="1056212" y="396875"/>
                  <a:pt x="1073807" y="397384"/>
                  <a:pt x="1091137" y="400050"/>
                </a:cubicBezTo>
                <a:cubicBezTo>
                  <a:pt x="1094646" y="400590"/>
                  <a:pt x="1097326" y="403600"/>
                  <a:pt x="1100662" y="404813"/>
                </a:cubicBezTo>
                <a:cubicBezTo>
                  <a:pt x="1114816" y="409960"/>
                  <a:pt x="1130055" y="412365"/>
                  <a:pt x="1143525" y="419100"/>
                </a:cubicBezTo>
                <a:cubicBezTo>
                  <a:pt x="1149875" y="422275"/>
                  <a:pt x="1155775" y="426585"/>
                  <a:pt x="1162575" y="428625"/>
                </a:cubicBezTo>
                <a:cubicBezTo>
                  <a:pt x="1177350" y="433058"/>
                  <a:pt x="1230342" y="437307"/>
                  <a:pt x="1238775" y="438150"/>
                </a:cubicBezTo>
                <a:cubicBezTo>
                  <a:pt x="1257825" y="436563"/>
                  <a:pt x="1277180" y="437137"/>
                  <a:pt x="1295925" y="433388"/>
                </a:cubicBezTo>
                <a:cubicBezTo>
                  <a:pt x="1341477" y="424278"/>
                  <a:pt x="1269908" y="415803"/>
                  <a:pt x="1334025" y="428625"/>
                </a:cubicBezTo>
                <a:cubicBezTo>
                  <a:pt x="1335612" y="436563"/>
                  <a:pt x="1338787" y="444343"/>
                  <a:pt x="1338787" y="452438"/>
                </a:cubicBezTo>
                <a:cubicBezTo>
                  <a:pt x="1338787" y="508297"/>
                  <a:pt x="1315784" y="456665"/>
                  <a:pt x="1338787" y="542925"/>
                </a:cubicBezTo>
                <a:cubicBezTo>
                  <a:pt x="1340262" y="548456"/>
                  <a:pt x="1348167" y="549505"/>
                  <a:pt x="1353075" y="552450"/>
                </a:cubicBezTo>
                <a:cubicBezTo>
                  <a:pt x="1389671" y="574408"/>
                  <a:pt x="1324252" y="531647"/>
                  <a:pt x="1376887" y="566738"/>
                </a:cubicBezTo>
                <a:cubicBezTo>
                  <a:pt x="1402832" y="561549"/>
                  <a:pt x="1407283" y="565237"/>
                  <a:pt x="1424512" y="538163"/>
                </a:cubicBezTo>
                <a:cubicBezTo>
                  <a:pt x="1441073" y="512139"/>
                  <a:pt x="1424435" y="509650"/>
                  <a:pt x="1448325" y="490538"/>
                </a:cubicBezTo>
                <a:cubicBezTo>
                  <a:pt x="1458319" y="482543"/>
                  <a:pt x="1470550" y="477838"/>
                  <a:pt x="1481662" y="471488"/>
                </a:cubicBezTo>
                <a:cubicBezTo>
                  <a:pt x="1492403" y="450009"/>
                  <a:pt x="1479940" y="476654"/>
                  <a:pt x="1491187" y="442913"/>
                </a:cubicBezTo>
                <a:cubicBezTo>
                  <a:pt x="1492310" y="439545"/>
                  <a:pt x="1494362" y="436563"/>
                  <a:pt x="1495950" y="433388"/>
                </a:cubicBezTo>
                <a:cubicBezTo>
                  <a:pt x="1494362" y="430213"/>
                  <a:pt x="1493068" y="426873"/>
                  <a:pt x="1491187" y="423863"/>
                </a:cubicBezTo>
                <a:cubicBezTo>
                  <a:pt x="1485120" y="414155"/>
                  <a:pt x="1477257" y="405527"/>
                  <a:pt x="1472137" y="395288"/>
                </a:cubicBezTo>
                <a:cubicBezTo>
                  <a:pt x="1467647" y="386308"/>
                  <a:pt x="1465787" y="376238"/>
                  <a:pt x="1462612" y="366713"/>
                </a:cubicBezTo>
                <a:cubicBezTo>
                  <a:pt x="1462226" y="364397"/>
                  <a:pt x="1451173" y="318901"/>
                  <a:pt x="1462612" y="314325"/>
                </a:cubicBezTo>
                <a:cubicBezTo>
                  <a:pt x="1475959" y="308986"/>
                  <a:pt x="1491187" y="317500"/>
                  <a:pt x="1505475" y="319088"/>
                </a:cubicBezTo>
                <a:cubicBezTo>
                  <a:pt x="1500712" y="317500"/>
                  <a:pt x="1494737" y="317875"/>
                  <a:pt x="1491187" y="314325"/>
                </a:cubicBezTo>
                <a:cubicBezTo>
                  <a:pt x="1487637" y="310775"/>
                  <a:pt x="1488289" y="304699"/>
                  <a:pt x="1486425" y="300038"/>
                </a:cubicBezTo>
                <a:cubicBezTo>
                  <a:pt x="1485107" y="296742"/>
                  <a:pt x="1483250" y="293688"/>
                  <a:pt x="1481662" y="290513"/>
                </a:cubicBezTo>
                <a:cubicBezTo>
                  <a:pt x="1483250" y="287338"/>
                  <a:pt x="1486425" y="284538"/>
                  <a:pt x="1486425" y="280988"/>
                </a:cubicBezTo>
                <a:cubicBezTo>
                  <a:pt x="1486425" y="240657"/>
                  <a:pt x="1483081" y="237621"/>
                  <a:pt x="1472137" y="204788"/>
                </a:cubicBezTo>
                <a:lnTo>
                  <a:pt x="1467375" y="190500"/>
                </a:lnTo>
                <a:lnTo>
                  <a:pt x="1462612" y="176213"/>
                </a:lnTo>
                <a:cubicBezTo>
                  <a:pt x="1464450" y="168861"/>
                  <a:pt x="1472137" y="139402"/>
                  <a:pt x="1472137" y="133350"/>
                </a:cubicBezTo>
                <a:cubicBezTo>
                  <a:pt x="1472137" y="122125"/>
                  <a:pt x="1473602" y="109353"/>
                  <a:pt x="1467375" y="100013"/>
                </a:cubicBezTo>
                <a:cubicBezTo>
                  <a:pt x="1460917" y="90327"/>
                  <a:pt x="1415552" y="86435"/>
                  <a:pt x="1410225" y="85725"/>
                </a:cubicBezTo>
                <a:cubicBezTo>
                  <a:pt x="1343711" y="76856"/>
                  <a:pt x="1393721" y="83953"/>
                  <a:pt x="1300687" y="76200"/>
                </a:cubicBezTo>
                <a:cubicBezTo>
                  <a:pt x="1286361" y="75006"/>
                  <a:pt x="1272112" y="73025"/>
                  <a:pt x="1257825" y="71438"/>
                </a:cubicBezTo>
                <a:cubicBezTo>
                  <a:pt x="1250265" y="68414"/>
                  <a:pt x="1212087" y="52603"/>
                  <a:pt x="1205437" y="52388"/>
                </a:cubicBezTo>
                <a:lnTo>
                  <a:pt x="1086375" y="57150"/>
                </a:lnTo>
                <a:cubicBezTo>
                  <a:pt x="1059296" y="66177"/>
                  <a:pt x="1073800" y="61886"/>
                  <a:pt x="1029225" y="71438"/>
                </a:cubicBezTo>
                <a:cubicBezTo>
                  <a:pt x="1000840" y="77520"/>
                  <a:pt x="972222" y="81622"/>
                  <a:pt x="943500" y="85725"/>
                </a:cubicBezTo>
                <a:cubicBezTo>
                  <a:pt x="924450" y="92075"/>
                  <a:pt x="905516" y="98785"/>
                  <a:pt x="886350" y="104775"/>
                </a:cubicBezTo>
                <a:cubicBezTo>
                  <a:pt x="880102" y="106727"/>
                  <a:pt x="873594" y="107740"/>
                  <a:pt x="867300" y="109538"/>
                </a:cubicBezTo>
                <a:cubicBezTo>
                  <a:pt x="862473" y="110917"/>
                  <a:pt x="857775" y="112713"/>
                  <a:pt x="853012" y="114300"/>
                </a:cubicBezTo>
                <a:cubicBezTo>
                  <a:pt x="845075" y="111125"/>
                  <a:pt x="833598" y="112106"/>
                  <a:pt x="829200" y="104775"/>
                </a:cubicBezTo>
                <a:cubicBezTo>
                  <a:pt x="798533" y="53663"/>
                  <a:pt x="852735" y="72334"/>
                  <a:pt x="800625" y="61913"/>
                </a:cubicBezTo>
                <a:cubicBezTo>
                  <a:pt x="770462" y="63500"/>
                  <a:pt x="740088" y="62769"/>
                  <a:pt x="710137" y="66675"/>
                </a:cubicBezTo>
                <a:cubicBezTo>
                  <a:pt x="703097" y="67593"/>
                  <a:pt x="696767" y="71940"/>
                  <a:pt x="691087" y="76200"/>
                </a:cubicBezTo>
                <a:cubicBezTo>
                  <a:pt x="683903" y="81588"/>
                  <a:pt x="672037" y="95250"/>
                  <a:pt x="672037" y="95250"/>
                </a:cubicBezTo>
                <a:cubicBezTo>
                  <a:pt x="670450" y="98425"/>
                  <a:pt x="669338" y="101886"/>
                  <a:pt x="667275" y="104775"/>
                </a:cubicBezTo>
                <a:cubicBezTo>
                  <a:pt x="661367" y="113047"/>
                  <a:pt x="653613" y="119968"/>
                  <a:pt x="648225" y="128588"/>
                </a:cubicBezTo>
                <a:cubicBezTo>
                  <a:pt x="645564" y="132845"/>
                  <a:pt x="645050" y="138113"/>
                  <a:pt x="643462" y="142875"/>
                </a:cubicBezTo>
                <a:cubicBezTo>
                  <a:pt x="624412" y="138113"/>
                  <a:pt x="604698" y="135483"/>
                  <a:pt x="586312" y="128588"/>
                </a:cubicBezTo>
                <a:cubicBezTo>
                  <a:pt x="578880" y="125801"/>
                  <a:pt x="574632" y="117248"/>
                  <a:pt x="567262" y="114300"/>
                </a:cubicBezTo>
                <a:cubicBezTo>
                  <a:pt x="535338" y="101530"/>
                  <a:pt x="513386" y="99800"/>
                  <a:pt x="481537" y="95250"/>
                </a:cubicBezTo>
                <a:cubicBezTo>
                  <a:pt x="473600" y="92075"/>
                  <a:pt x="464838" y="90467"/>
                  <a:pt x="457725" y="85725"/>
                </a:cubicBezTo>
                <a:cubicBezTo>
                  <a:pt x="454771" y="83756"/>
                  <a:pt x="455092" y="79040"/>
                  <a:pt x="452962" y="76200"/>
                </a:cubicBezTo>
                <a:cubicBezTo>
                  <a:pt x="450268" y="72608"/>
                  <a:pt x="447362" y="68856"/>
                  <a:pt x="443437" y="66675"/>
                </a:cubicBezTo>
                <a:cubicBezTo>
                  <a:pt x="432869" y="60804"/>
                  <a:pt x="421212" y="57150"/>
                  <a:pt x="410100" y="52388"/>
                </a:cubicBezTo>
                <a:cubicBezTo>
                  <a:pt x="401129" y="43417"/>
                  <a:pt x="393459" y="33879"/>
                  <a:pt x="381525" y="28575"/>
                </a:cubicBezTo>
                <a:cubicBezTo>
                  <a:pt x="372350" y="24497"/>
                  <a:pt x="362179" y="23005"/>
                  <a:pt x="352950" y="19050"/>
                </a:cubicBezTo>
                <a:cubicBezTo>
                  <a:pt x="316349" y="3365"/>
                  <a:pt x="330426" y="10170"/>
                  <a:pt x="310087" y="0"/>
                </a:cubicBezTo>
                <a:cubicBezTo>
                  <a:pt x="303737" y="1588"/>
                  <a:pt x="297331" y="2965"/>
                  <a:pt x="291037" y="4763"/>
                </a:cubicBezTo>
                <a:cubicBezTo>
                  <a:pt x="286210" y="6142"/>
                  <a:pt x="279535" y="5348"/>
                  <a:pt x="276750" y="9525"/>
                </a:cubicBezTo>
                <a:cubicBezTo>
                  <a:pt x="274781" y="12478"/>
                  <a:pt x="279925" y="15875"/>
                  <a:pt x="281512" y="19050"/>
                </a:cubicBezTo>
                <a:cubicBezTo>
                  <a:pt x="230194" y="58965"/>
                  <a:pt x="221826" y="48120"/>
                  <a:pt x="262462" y="57150"/>
                </a:cubicBezTo>
                <a:cubicBezTo>
                  <a:pt x="268852" y="58570"/>
                  <a:pt x="275162" y="60325"/>
                  <a:pt x="281512" y="61913"/>
                </a:cubicBezTo>
                <a:cubicBezTo>
                  <a:pt x="279925" y="69850"/>
                  <a:pt x="278974" y="77942"/>
                  <a:pt x="276750" y="85725"/>
                </a:cubicBezTo>
                <a:cubicBezTo>
                  <a:pt x="275775" y="89138"/>
                  <a:pt x="274023" y="92342"/>
                  <a:pt x="271987" y="95250"/>
                </a:cubicBezTo>
                <a:cubicBezTo>
                  <a:pt x="236168" y="146419"/>
                  <a:pt x="251654" y="116863"/>
                  <a:pt x="238650" y="142875"/>
                </a:cubicBezTo>
                <a:cubicBezTo>
                  <a:pt x="243422" y="171512"/>
                  <a:pt x="249138" y="183811"/>
                  <a:pt x="233887" y="214313"/>
                </a:cubicBezTo>
                <a:cubicBezTo>
                  <a:pt x="228867" y="224353"/>
                  <a:pt x="216301" y="228785"/>
                  <a:pt x="210075" y="238125"/>
                </a:cubicBezTo>
                <a:cubicBezTo>
                  <a:pt x="192208" y="264927"/>
                  <a:pt x="211242" y="242221"/>
                  <a:pt x="176737" y="261938"/>
                </a:cubicBezTo>
                <a:cubicBezTo>
                  <a:pt x="161828" y="270457"/>
                  <a:pt x="149070" y="282515"/>
                  <a:pt x="133875" y="290513"/>
                </a:cubicBezTo>
                <a:cubicBezTo>
                  <a:pt x="118745" y="298476"/>
                  <a:pt x="101543" y="301917"/>
                  <a:pt x="86250" y="309563"/>
                </a:cubicBezTo>
                <a:cubicBezTo>
                  <a:pt x="79900" y="312738"/>
                  <a:pt x="72977" y="314962"/>
                  <a:pt x="67200" y="319088"/>
                </a:cubicBezTo>
                <a:cubicBezTo>
                  <a:pt x="64337" y="321133"/>
                  <a:pt x="51591" y="338138"/>
                  <a:pt x="43387" y="338138"/>
                </a:cubicBezTo>
                <a:lnTo>
                  <a:pt x="48150" y="338138"/>
                </a:lnTo>
                <a:close/>
              </a:path>
            </a:pathLst>
          </a:custGeom>
          <a:gradFill>
            <a:gsLst>
              <a:gs pos="0">
                <a:srgbClr val="C1F0C8">
                  <a:alpha val="50000"/>
                  <a:lumMod val="80000"/>
                  <a:lumOff val="20000"/>
                </a:srgbClr>
              </a:gs>
              <a:gs pos="100000">
                <a:srgbClr val="196B24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65EF0455-B9A2-6455-0214-CFFE4A4C464B}"/>
              </a:ext>
            </a:extLst>
          </p:cNvPr>
          <p:cNvCxnSpPr>
            <a:cxnSpLocks/>
            <a:stCxn id="11" idx="11"/>
            <a:endCxn id="23" idx="1"/>
          </p:cNvCxnSpPr>
          <p:nvPr/>
        </p:nvCxnSpPr>
        <p:spPr>
          <a:xfrm flipV="1">
            <a:off x="14982063" y="2181803"/>
            <a:ext cx="1868297" cy="669498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EBB6834-8E43-F65C-FE50-EA7AE15ACBB5}"/>
              </a:ext>
            </a:extLst>
          </p:cNvPr>
          <p:cNvSpPr txBox="1"/>
          <p:nvPr/>
        </p:nvSpPr>
        <p:spPr>
          <a:xfrm>
            <a:off x="16850360" y="2043303"/>
            <a:ext cx="289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</a:rPr>
              <a:t>High subsidy + waiver → Highest adoption</a:t>
            </a:r>
            <a:endParaRPr lang="en-IN" sz="1200" b="1" dirty="0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DA5D02-FA69-2247-897E-E3C5A70F50F1}"/>
              </a:ext>
            </a:extLst>
          </p:cNvPr>
          <p:cNvSpPr txBox="1"/>
          <p:nvPr/>
        </p:nvSpPr>
        <p:spPr>
          <a:xfrm>
            <a:off x="10780011" y="4381235"/>
            <a:ext cx="3047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+mn-lt"/>
              </a:rPr>
              <a:t>Early policy push → Strong 2W &amp; 4W growth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FB86A723-B4D5-0FDD-787E-07055CA37B66}"/>
              </a:ext>
            </a:extLst>
          </p:cNvPr>
          <p:cNvCxnSpPr>
            <a:cxnSpLocks/>
            <a:endCxn id="24" idx="2"/>
          </p:cNvCxnSpPr>
          <p:nvPr/>
        </p:nvCxnSpPr>
        <p:spPr>
          <a:xfrm rot="10800000" flipV="1">
            <a:off x="12303984" y="4561936"/>
            <a:ext cx="2516926" cy="96298"/>
          </a:xfrm>
          <a:prstGeom prst="curvedConnector4">
            <a:avLst>
              <a:gd name="adj1" fmla="val 48157"/>
              <a:gd name="adj2" fmla="val 337388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19F0D2E-14C1-C584-B7A1-6F0B78D9CC00}"/>
              </a:ext>
            </a:extLst>
          </p:cNvPr>
          <p:cNvSpPr txBox="1"/>
          <p:nvPr/>
        </p:nvSpPr>
        <p:spPr>
          <a:xfrm>
            <a:off x="15614591" y="940340"/>
            <a:ext cx="330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Top EV Incentive States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275986-5538-9A08-EE09-ABE371321ACA}"/>
              </a:ext>
            </a:extLst>
          </p:cNvPr>
          <p:cNvSpPr txBox="1"/>
          <p:nvPr/>
        </p:nvSpPr>
        <p:spPr>
          <a:xfrm>
            <a:off x="9823450" y="3515868"/>
            <a:ext cx="411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High per‑vehicle subsidy → Boost in 2W adoption</a:t>
            </a:r>
            <a:endParaRPr lang="en-IN" sz="1200" b="1" dirty="0">
              <a:latin typeface="+mn-lt"/>
            </a:endParaRPr>
          </a:p>
        </p:txBody>
      </p: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6084CC8F-89E2-BD95-3F89-21493114A704}"/>
              </a:ext>
            </a:extLst>
          </p:cNvPr>
          <p:cNvCxnSpPr>
            <a:cxnSpLocks/>
            <a:stCxn id="15" idx="40"/>
            <a:endCxn id="39" idx="2"/>
          </p:cNvCxnSpPr>
          <p:nvPr/>
        </p:nvCxnSpPr>
        <p:spPr>
          <a:xfrm flipH="1" flipV="1">
            <a:off x="11880850" y="3792867"/>
            <a:ext cx="1708258" cy="296687"/>
          </a:xfrm>
          <a:prstGeom prst="curvedConnector4">
            <a:avLst>
              <a:gd name="adj1" fmla="val 52200"/>
              <a:gd name="adj2" fmla="val -46672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4156B4D-B389-7DEE-54F9-8DC080C7D22D}"/>
              </a:ext>
            </a:extLst>
          </p:cNvPr>
          <p:cNvSpPr txBox="1"/>
          <p:nvPr/>
        </p:nvSpPr>
        <p:spPr>
          <a:xfrm>
            <a:off x="10052050" y="5404790"/>
            <a:ext cx="4009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Subsidy + EV ecosystem → Tech‑driven adoption</a:t>
            </a:r>
            <a:endParaRPr lang="en-IN" sz="1200" b="1" dirty="0">
              <a:latin typeface="+mn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A30811-6442-8F1E-E3D6-07306E4BE1E8}"/>
              </a:ext>
            </a:extLst>
          </p:cNvPr>
          <p:cNvSpPr txBox="1"/>
          <p:nvPr/>
        </p:nvSpPr>
        <p:spPr>
          <a:xfrm>
            <a:off x="15546570" y="5924901"/>
            <a:ext cx="5021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Manufacturing hub + incentives → Strong EV ecosystem</a:t>
            </a:r>
            <a:endParaRPr lang="en-IN" sz="1200" b="1" dirty="0">
              <a:latin typeface="+mn-lt"/>
            </a:endParaRPr>
          </a:p>
        </p:txBody>
      </p:sp>
      <p:sp>
        <p:nvSpPr>
          <p:cNvPr id="53" name="Free-form: Shape 52">
            <a:extLst>
              <a:ext uri="{FF2B5EF4-FFF2-40B4-BE49-F238E27FC236}">
                <a16:creationId xmlns:a16="http://schemas.microsoft.com/office/drawing/2014/main" id="{2C0CB6E0-6DC5-C41B-51EE-B1FDA2D8746C}"/>
              </a:ext>
            </a:extLst>
          </p:cNvPr>
          <p:cNvSpPr/>
          <p:nvPr/>
        </p:nvSpPr>
        <p:spPr>
          <a:xfrm>
            <a:off x="14359862" y="4718216"/>
            <a:ext cx="875214" cy="1196809"/>
          </a:xfrm>
          <a:custGeom>
            <a:avLst/>
            <a:gdLst>
              <a:gd name="csX0" fmla="*/ 673763 w 875214"/>
              <a:gd name="csY0" fmla="*/ 9359 h 1196809"/>
              <a:gd name="csX1" fmla="*/ 673763 w 875214"/>
              <a:gd name="csY1" fmla="*/ 9359 h 1196809"/>
              <a:gd name="csX2" fmla="*/ 553113 w 875214"/>
              <a:gd name="csY2" fmla="*/ 9359 h 1196809"/>
              <a:gd name="csX3" fmla="*/ 527713 w 875214"/>
              <a:gd name="csY3" fmla="*/ 22059 h 1196809"/>
              <a:gd name="csX4" fmla="*/ 502313 w 875214"/>
              <a:gd name="csY4" fmla="*/ 72859 h 1196809"/>
              <a:gd name="csX5" fmla="*/ 483263 w 875214"/>
              <a:gd name="csY5" fmla="*/ 110959 h 1196809"/>
              <a:gd name="csX6" fmla="*/ 476913 w 875214"/>
              <a:gd name="csY6" fmla="*/ 123659 h 1196809"/>
              <a:gd name="csX7" fmla="*/ 464213 w 875214"/>
              <a:gd name="csY7" fmla="*/ 130009 h 1196809"/>
              <a:gd name="csX8" fmla="*/ 457863 w 875214"/>
              <a:gd name="csY8" fmla="*/ 142709 h 1196809"/>
              <a:gd name="csX9" fmla="*/ 419763 w 875214"/>
              <a:gd name="csY9" fmla="*/ 161759 h 1196809"/>
              <a:gd name="csX10" fmla="*/ 368963 w 875214"/>
              <a:gd name="csY10" fmla="*/ 149059 h 1196809"/>
              <a:gd name="csX11" fmla="*/ 337213 w 875214"/>
              <a:gd name="csY11" fmla="*/ 142709 h 1196809"/>
              <a:gd name="csX12" fmla="*/ 299113 w 875214"/>
              <a:gd name="csY12" fmla="*/ 130009 h 1196809"/>
              <a:gd name="csX13" fmla="*/ 261013 w 875214"/>
              <a:gd name="csY13" fmla="*/ 206209 h 1196809"/>
              <a:gd name="csX14" fmla="*/ 146713 w 875214"/>
              <a:gd name="csY14" fmla="*/ 244309 h 1196809"/>
              <a:gd name="csX15" fmla="*/ 134013 w 875214"/>
              <a:gd name="csY15" fmla="*/ 250659 h 1196809"/>
              <a:gd name="csX16" fmla="*/ 95913 w 875214"/>
              <a:gd name="csY16" fmla="*/ 263359 h 1196809"/>
              <a:gd name="csX17" fmla="*/ 45113 w 875214"/>
              <a:gd name="csY17" fmla="*/ 295109 h 1196809"/>
              <a:gd name="csX18" fmla="*/ 38763 w 875214"/>
              <a:gd name="csY18" fmla="*/ 314159 h 1196809"/>
              <a:gd name="csX19" fmla="*/ 32413 w 875214"/>
              <a:gd name="csY19" fmla="*/ 326859 h 1196809"/>
              <a:gd name="csX20" fmla="*/ 51463 w 875214"/>
              <a:gd name="csY20" fmla="*/ 390359 h 1196809"/>
              <a:gd name="csX21" fmla="*/ 38763 w 875214"/>
              <a:gd name="csY21" fmla="*/ 422109 h 1196809"/>
              <a:gd name="csX22" fmla="*/ 19713 w 875214"/>
              <a:gd name="csY22" fmla="*/ 428459 h 1196809"/>
              <a:gd name="csX23" fmla="*/ 7013 w 875214"/>
              <a:gd name="csY23" fmla="*/ 434809 h 1196809"/>
              <a:gd name="csX24" fmla="*/ 663 w 875214"/>
              <a:gd name="csY24" fmla="*/ 447509 h 1196809"/>
              <a:gd name="csX25" fmla="*/ 26063 w 875214"/>
              <a:gd name="csY25" fmla="*/ 460209 h 1196809"/>
              <a:gd name="csX26" fmla="*/ 38763 w 875214"/>
              <a:gd name="csY26" fmla="*/ 472909 h 1196809"/>
              <a:gd name="csX27" fmla="*/ 26063 w 875214"/>
              <a:gd name="csY27" fmla="*/ 549109 h 1196809"/>
              <a:gd name="csX28" fmla="*/ 13363 w 875214"/>
              <a:gd name="csY28" fmla="*/ 568159 h 1196809"/>
              <a:gd name="csX29" fmla="*/ 13363 w 875214"/>
              <a:gd name="csY29" fmla="*/ 676109 h 1196809"/>
              <a:gd name="csX30" fmla="*/ 26063 w 875214"/>
              <a:gd name="csY30" fmla="*/ 695159 h 1196809"/>
              <a:gd name="csX31" fmla="*/ 57813 w 875214"/>
              <a:gd name="csY31" fmla="*/ 784059 h 1196809"/>
              <a:gd name="csX32" fmla="*/ 95913 w 875214"/>
              <a:gd name="csY32" fmla="*/ 980909 h 1196809"/>
              <a:gd name="csX33" fmla="*/ 114963 w 875214"/>
              <a:gd name="csY33" fmla="*/ 999959 h 1196809"/>
              <a:gd name="csX34" fmla="*/ 165763 w 875214"/>
              <a:gd name="csY34" fmla="*/ 1012659 h 1196809"/>
              <a:gd name="csX35" fmla="*/ 184813 w 875214"/>
              <a:gd name="csY35" fmla="*/ 1019009 h 1196809"/>
              <a:gd name="csX36" fmla="*/ 210213 w 875214"/>
              <a:gd name="csY36" fmla="*/ 1038059 h 1196809"/>
              <a:gd name="csX37" fmla="*/ 248313 w 875214"/>
              <a:gd name="csY37" fmla="*/ 1069809 h 1196809"/>
              <a:gd name="csX38" fmla="*/ 280063 w 875214"/>
              <a:gd name="csY38" fmla="*/ 1101559 h 1196809"/>
              <a:gd name="csX39" fmla="*/ 305463 w 875214"/>
              <a:gd name="csY39" fmla="*/ 1120609 h 1196809"/>
              <a:gd name="csX40" fmla="*/ 343563 w 875214"/>
              <a:gd name="csY40" fmla="*/ 1133309 h 1196809"/>
              <a:gd name="csX41" fmla="*/ 375313 w 875214"/>
              <a:gd name="csY41" fmla="*/ 1152359 h 1196809"/>
              <a:gd name="csX42" fmla="*/ 400713 w 875214"/>
              <a:gd name="csY42" fmla="*/ 1158709 h 1196809"/>
              <a:gd name="csX43" fmla="*/ 413413 w 875214"/>
              <a:gd name="csY43" fmla="*/ 1165059 h 1196809"/>
              <a:gd name="csX44" fmla="*/ 432463 w 875214"/>
              <a:gd name="csY44" fmla="*/ 1171409 h 1196809"/>
              <a:gd name="csX45" fmla="*/ 451513 w 875214"/>
              <a:gd name="csY45" fmla="*/ 1184109 h 1196809"/>
              <a:gd name="csX46" fmla="*/ 527713 w 875214"/>
              <a:gd name="csY46" fmla="*/ 1190459 h 1196809"/>
              <a:gd name="csX47" fmla="*/ 578513 w 875214"/>
              <a:gd name="csY47" fmla="*/ 1196809 h 1196809"/>
              <a:gd name="csX48" fmla="*/ 635663 w 875214"/>
              <a:gd name="csY48" fmla="*/ 1190459 h 1196809"/>
              <a:gd name="csX49" fmla="*/ 648363 w 875214"/>
              <a:gd name="csY49" fmla="*/ 1171409 h 1196809"/>
              <a:gd name="csX50" fmla="*/ 654713 w 875214"/>
              <a:gd name="csY50" fmla="*/ 1120609 h 1196809"/>
              <a:gd name="csX51" fmla="*/ 680113 w 875214"/>
              <a:gd name="csY51" fmla="*/ 1031709 h 1196809"/>
              <a:gd name="csX52" fmla="*/ 756313 w 875214"/>
              <a:gd name="csY52" fmla="*/ 999959 h 1196809"/>
              <a:gd name="csX53" fmla="*/ 800763 w 875214"/>
              <a:gd name="csY53" fmla="*/ 968209 h 1196809"/>
              <a:gd name="csX54" fmla="*/ 851563 w 875214"/>
              <a:gd name="csY54" fmla="*/ 930109 h 1196809"/>
              <a:gd name="csX55" fmla="*/ 864263 w 875214"/>
              <a:gd name="csY55" fmla="*/ 898359 h 1196809"/>
              <a:gd name="csX56" fmla="*/ 864263 w 875214"/>
              <a:gd name="csY56" fmla="*/ 841209 h 1196809"/>
              <a:gd name="csX57" fmla="*/ 838863 w 875214"/>
              <a:gd name="csY57" fmla="*/ 828509 h 1196809"/>
              <a:gd name="csX58" fmla="*/ 788063 w 875214"/>
              <a:gd name="csY58" fmla="*/ 815809 h 1196809"/>
              <a:gd name="csX59" fmla="*/ 775363 w 875214"/>
              <a:gd name="csY59" fmla="*/ 809459 h 1196809"/>
              <a:gd name="csX60" fmla="*/ 654713 w 875214"/>
              <a:gd name="csY60" fmla="*/ 803109 h 1196809"/>
              <a:gd name="csX61" fmla="*/ 610263 w 875214"/>
              <a:gd name="csY61" fmla="*/ 784059 h 1196809"/>
              <a:gd name="csX62" fmla="*/ 603913 w 875214"/>
              <a:gd name="csY62" fmla="*/ 758659 h 1196809"/>
              <a:gd name="csX63" fmla="*/ 597563 w 875214"/>
              <a:gd name="csY63" fmla="*/ 745959 h 1196809"/>
              <a:gd name="csX64" fmla="*/ 610263 w 875214"/>
              <a:gd name="csY64" fmla="*/ 726909 h 1196809"/>
              <a:gd name="csX65" fmla="*/ 565813 w 875214"/>
              <a:gd name="csY65" fmla="*/ 701509 h 1196809"/>
              <a:gd name="csX66" fmla="*/ 559463 w 875214"/>
              <a:gd name="csY66" fmla="*/ 688809 h 1196809"/>
              <a:gd name="csX67" fmla="*/ 546763 w 875214"/>
              <a:gd name="csY67" fmla="*/ 682459 h 1196809"/>
              <a:gd name="csX68" fmla="*/ 527713 w 875214"/>
              <a:gd name="csY68" fmla="*/ 669759 h 1196809"/>
              <a:gd name="csX69" fmla="*/ 521363 w 875214"/>
              <a:gd name="csY69" fmla="*/ 644359 h 1196809"/>
              <a:gd name="csX70" fmla="*/ 534063 w 875214"/>
              <a:gd name="csY70" fmla="*/ 606259 h 1196809"/>
              <a:gd name="csX71" fmla="*/ 546763 w 875214"/>
              <a:gd name="csY71" fmla="*/ 593559 h 1196809"/>
              <a:gd name="csX72" fmla="*/ 584863 w 875214"/>
              <a:gd name="csY72" fmla="*/ 568159 h 1196809"/>
              <a:gd name="csX73" fmla="*/ 578513 w 875214"/>
              <a:gd name="csY73" fmla="*/ 491959 h 1196809"/>
              <a:gd name="csX74" fmla="*/ 591213 w 875214"/>
              <a:gd name="csY74" fmla="*/ 466559 h 1196809"/>
              <a:gd name="csX75" fmla="*/ 629313 w 875214"/>
              <a:gd name="csY75" fmla="*/ 422109 h 1196809"/>
              <a:gd name="csX76" fmla="*/ 635663 w 875214"/>
              <a:gd name="csY76" fmla="*/ 403059 h 1196809"/>
              <a:gd name="csX77" fmla="*/ 654713 w 875214"/>
              <a:gd name="csY77" fmla="*/ 364959 h 1196809"/>
              <a:gd name="csX78" fmla="*/ 648363 w 875214"/>
              <a:gd name="csY78" fmla="*/ 333209 h 1196809"/>
              <a:gd name="csX79" fmla="*/ 635663 w 875214"/>
              <a:gd name="csY79" fmla="*/ 320509 h 1196809"/>
              <a:gd name="csX80" fmla="*/ 629313 w 875214"/>
              <a:gd name="csY80" fmla="*/ 301459 h 1196809"/>
              <a:gd name="csX81" fmla="*/ 616613 w 875214"/>
              <a:gd name="csY81" fmla="*/ 263359 h 1196809"/>
              <a:gd name="csX82" fmla="*/ 622963 w 875214"/>
              <a:gd name="csY82" fmla="*/ 187159 h 1196809"/>
              <a:gd name="csX83" fmla="*/ 635663 w 875214"/>
              <a:gd name="csY83" fmla="*/ 155409 h 1196809"/>
              <a:gd name="csX84" fmla="*/ 648363 w 875214"/>
              <a:gd name="csY84" fmla="*/ 110959 h 1196809"/>
              <a:gd name="csX85" fmla="*/ 667413 w 875214"/>
              <a:gd name="csY85" fmla="*/ 34759 h 1196809"/>
              <a:gd name="csX86" fmla="*/ 673763 w 875214"/>
              <a:gd name="csY86" fmla="*/ 9359 h 1196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</a:cxnLst>
            <a:rect l="l" t="t" r="r" b="b"/>
            <a:pathLst>
              <a:path w="875214" h="1196809">
                <a:moveTo>
                  <a:pt x="673763" y="9359"/>
                </a:moveTo>
                <a:lnTo>
                  <a:pt x="673763" y="9359"/>
                </a:lnTo>
                <a:cubicBezTo>
                  <a:pt x="622286" y="-936"/>
                  <a:pt x="626891" y="-2937"/>
                  <a:pt x="553113" y="9359"/>
                </a:cubicBezTo>
                <a:cubicBezTo>
                  <a:pt x="543776" y="10915"/>
                  <a:pt x="536180" y="17826"/>
                  <a:pt x="527713" y="22059"/>
                </a:cubicBezTo>
                <a:cubicBezTo>
                  <a:pt x="504233" y="57279"/>
                  <a:pt x="524505" y="24037"/>
                  <a:pt x="502313" y="72859"/>
                </a:cubicBezTo>
                <a:cubicBezTo>
                  <a:pt x="496437" y="85785"/>
                  <a:pt x="489613" y="98259"/>
                  <a:pt x="483263" y="110959"/>
                </a:cubicBezTo>
                <a:cubicBezTo>
                  <a:pt x="481146" y="115192"/>
                  <a:pt x="481146" y="121542"/>
                  <a:pt x="476913" y="123659"/>
                </a:cubicBezTo>
                <a:lnTo>
                  <a:pt x="464213" y="130009"/>
                </a:lnTo>
                <a:cubicBezTo>
                  <a:pt x="462096" y="134242"/>
                  <a:pt x="461210" y="139362"/>
                  <a:pt x="457863" y="142709"/>
                </a:cubicBezTo>
                <a:cubicBezTo>
                  <a:pt x="445553" y="155019"/>
                  <a:pt x="435257" y="156594"/>
                  <a:pt x="419763" y="161759"/>
                </a:cubicBezTo>
                <a:lnTo>
                  <a:pt x="368963" y="149059"/>
                </a:lnTo>
                <a:cubicBezTo>
                  <a:pt x="358446" y="146632"/>
                  <a:pt x="347626" y="145549"/>
                  <a:pt x="337213" y="142709"/>
                </a:cubicBezTo>
                <a:cubicBezTo>
                  <a:pt x="324298" y="139187"/>
                  <a:pt x="311813" y="134242"/>
                  <a:pt x="299113" y="130009"/>
                </a:cubicBezTo>
                <a:cubicBezTo>
                  <a:pt x="260326" y="149402"/>
                  <a:pt x="308587" y="121633"/>
                  <a:pt x="261013" y="206209"/>
                </a:cubicBezTo>
                <a:cubicBezTo>
                  <a:pt x="233191" y="255670"/>
                  <a:pt x="200960" y="240136"/>
                  <a:pt x="146713" y="244309"/>
                </a:cubicBezTo>
                <a:cubicBezTo>
                  <a:pt x="142480" y="246426"/>
                  <a:pt x="138445" y="248997"/>
                  <a:pt x="134013" y="250659"/>
                </a:cubicBezTo>
                <a:cubicBezTo>
                  <a:pt x="121478" y="255359"/>
                  <a:pt x="108100" y="257819"/>
                  <a:pt x="95913" y="263359"/>
                </a:cubicBezTo>
                <a:cubicBezTo>
                  <a:pt x="83878" y="268830"/>
                  <a:pt x="58195" y="286388"/>
                  <a:pt x="45113" y="295109"/>
                </a:cubicBezTo>
                <a:cubicBezTo>
                  <a:pt x="42996" y="301459"/>
                  <a:pt x="41249" y="307944"/>
                  <a:pt x="38763" y="314159"/>
                </a:cubicBezTo>
                <a:cubicBezTo>
                  <a:pt x="37005" y="318553"/>
                  <a:pt x="31942" y="322149"/>
                  <a:pt x="32413" y="326859"/>
                </a:cubicBezTo>
                <a:cubicBezTo>
                  <a:pt x="35875" y="361479"/>
                  <a:pt x="40123" y="367680"/>
                  <a:pt x="51463" y="390359"/>
                </a:cubicBezTo>
                <a:cubicBezTo>
                  <a:pt x="47230" y="400942"/>
                  <a:pt x="46060" y="413352"/>
                  <a:pt x="38763" y="422109"/>
                </a:cubicBezTo>
                <a:cubicBezTo>
                  <a:pt x="34478" y="427251"/>
                  <a:pt x="25928" y="425973"/>
                  <a:pt x="19713" y="428459"/>
                </a:cubicBezTo>
                <a:cubicBezTo>
                  <a:pt x="15319" y="430217"/>
                  <a:pt x="11246" y="432692"/>
                  <a:pt x="7013" y="434809"/>
                </a:cubicBezTo>
                <a:cubicBezTo>
                  <a:pt x="4896" y="439042"/>
                  <a:pt x="-2177" y="443723"/>
                  <a:pt x="663" y="447509"/>
                </a:cubicBezTo>
                <a:cubicBezTo>
                  <a:pt x="6343" y="455082"/>
                  <a:pt x="18187" y="454958"/>
                  <a:pt x="26063" y="460209"/>
                </a:cubicBezTo>
                <a:cubicBezTo>
                  <a:pt x="31044" y="463530"/>
                  <a:pt x="34530" y="468676"/>
                  <a:pt x="38763" y="472909"/>
                </a:cubicBezTo>
                <a:cubicBezTo>
                  <a:pt x="36751" y="491017"/>
                  <a:pt x="36701" y="527833"/>
                  <a:pt x="26063" y="549109"/>
                </a:cubicBezTo>
                <a:cubicBezTo>
                  <a:pt x="22650" y="555935"/>
                  <a:pt x="17596" y="561809"/>
                  <a:pt x="13363" y="568159"/>
                </a:cubicBezTo>
                <a:cubicBezTo>
                  <a:pt x="2143" y="613040"/>
                  <a:pt x="578" y="607921"/>
                  <a:pt x="13363" y="676109"/>
                </a:cubicBezTo>
                <a:cubicBezTo>
                  <a:pt x="14769" y="683610"/>
                  <a:pt x="22865" y="688230"/>
                  <a:pt x="26063" y="695159"/>
                </a:cubicBezTo>
                <a:cubicBezTo>
                  <a:pt x="49497" y="745932"/>
                  <a:pt x="47927" y="744517"/>
                  <a:pt x="57813" y="784059"/>
                </a:cubicBezTo>
                <a:cubicBezTo>
                  <a:pt x="60537" y="815382"/>
                  <a:pt x="53159" y="938155"/>
                  <a:pt x="95913" y="980909"/>
                </a:cubicBezTo>
                <a:cubicBezTo>
                  <a:pt x="102263" y="987259"/>
                  <a:pt x="107951" y="994349"/>
                  <a:pt x="114963" y="999959"/>
                </a:cubicBezTo>
                <a:cubicBezTo>
                  <a:pt x="128117" y="1010482"/>
                  <a:pt x="153086" y="1009842"/>
                  <a:pt x="165763" y="1012659"/>
                </a:cubicBezTo>
                <a:cubicBezTo>
                  <a:pt x="172297" y="1014111"/>
                  <a:pt x="178463" y="1016892"/>
                  <a:pt x="184813" y="1019009"/>
                </a:cubicBezTo>
                <a:cubicBezTo>
                  <a:pt x="193280" y="1025359"/>
                  <a:pt x="202178" y="1031171"/>
                  <a:pt x="210213" y="1038059"/>
                </a:cubicBezTo>
                <a:cubicBezTo>
                  <a:pt x="252994" y="1074729"/>
                  <a:pt x="206209" y="1041740"/>
                  <a:pt x="248313" y="1069809"/>
                </a:cubicBezTo>
                <a:cubicBezTo>
                  <a:pt x="266786" y="1097518"/>
                  <a:pt x="253124" y="1082317"/>
                  <a:pt x="280063" y="1101559"/>
                </a:cubicBezTo>
                <a:cubicBezTo>
                  <a:pt x="288675" y="1107710"/>
                  <a:pt x="295997" y="1115876"/>
                  <a:pt x="305463" y="1120609"/>
                </a:cubicBezTo>
                <a:cubicBezTo>
                  <a:pt x="317437" y="1126596"/>
                  <a:pt x="331376" y="1127769"/>
                  <a:pt x="343563" y="1133309"/>
                </a:cubicBezTo>
                <a:cubicBezTo>
                  <a:pt x="354799" y="1138416"/>
                  <a:pt x="364035" y="1147346"/>
                  <a:pt x="375313" y="1152359"/>
                </a:cubicBezTo>
                <a:cubicBezTo>
                  <a:pt x="383288" y="1155903"/>
                  <a:pt x="392434" y="1155949"/>
                  <a:pt x="400713" y="1158709"/>
                </a:cubicBezTo>
                <a:cubicBezTo>
                  <a:pt x="405203" y="1160206"/>
                  <a:pt x="409019" y="1163301"/>
                  <a:pt x="413413" y="1165059"/>
                </a:cubicBezTo>
                <a:cubicBezTo>
                  <a:pt x="419628" y="1167545"/>
                  <a:pt x="426476" y="1168416"/>
                  <a:pt x="432463" y="1171409"/>
                </a:cubicBezTo>
                <a:cubicBezTo>
                  <a:pt x="439289" y="1174822"/>
                  <a:pt x="444029" y="1182612"/>
                  <a:pt x="451513" y="1184109"/>
                </a:cubicBezTo>
                <a:cubicBezTo>
                  <a:pt x="476506" y="1189108"/>
                  <a:pt x="502351" y="1187923"/>
                  <a:pt x="527713" y="1190459"/>
                </a:cubicBezTo>
                <a:cubicBezTo>
                  <a:pt x="544693" y="1192157"/>
                  <a:pt x="561580" y="1194692"/>
                  <a:pt x="578513" y="1196809"/>
                </a:cubicBezTo>
                <a:cubicBezTo>
                  <a:pt x="597563" y="1194692"/>
                  <a:pt x="617650" y="1197009"/>
                  <a:pt x="635663" y="1190459"/>
                </a:cubicBezTo>
                <a:cubicBezTo>
                  <a:pt x="642835" y="1187851"/>
                  <a:pt x="646355" y="1178772"/>
                  <a:pt x="648363" y="1171409"/>
                </a:cubicBezTo>
                <a:cubicBezTo>
                  <a:pt x="652853" y="1154945"/>
                  <a:pt x="651568" y="1137382"/>
                  <a:pt x="654713" y="1120609"/>
                </a:cubicBezTo>
                <a:cubicBezTo>
                  <a:pt x="655023" y="1118954"/>
                  <a:pt x="673886" y="1038714"/>
                  <a:pt x="680113" y="1031709"/>
                </a:cubicBezTo>
                <a:cubicBezTo>
                  <a:pt x="694699" y="1015299"/>
                  <a:pt x="738200" y="1009015"/>
                  <a:pt x="756313" y="999959"/>
                </a:cubicBezTo>
                <a:cubicBezTo>
                  <a:pt x="785096" y="985567"/>
                  <a:pt x="753974" y="1002237"/>
                  <a:pt x="800763" y="968209"/>
                </a:cubicBezTo>
                <a:cubicBezTo>
                  <a:pt x="853418" y="929914"/>
                  <a:pt x="824315" y="957357"/>
                  <a:pt x="851563" y="930109"/>
                </a:cubicBezTo>
                <a:cubicBezTo>
                  <a:pt x="855796" y="919526"/>
                  <a:pt x="859773" y="908836"/>
                  <a:pt x="864263" y="898359"/>
                </a:cubicBezTo>
                <a:cubicBezTo>
                  <a:pt x="873462" y="876895"/>
                  <a:pt x="883440" y="875727"/>
                  <a:pt x="864263" y="841209"/>
                </a:cubicBezTo>
                <a:cubicBezTo>
                  <a:pt x="859666" y="832934"/>
                  <a:pt x="847843" y="831502"/>
                  <a:pt x="838863" y="828509"/>
                </a:cubicBezTo>
                <a:cubicBezTo>
                  <a:pt x="822304" y="822989"/>
                  <a:pt x="804781" y="820825"/>
                  <a:pt x="788063" y="815809"/>
                </a:cubicBezTo>
                <a:cubicBezTo>
                  <a:pt x="783530" y="814449"/>
                  <a:pt x="780075" y="809908"/>
                  <a:pt x="775363" y="809459"/>
                </a:cubicBezTo>
                <a:cubicBezTo>
                  <a:pt x="735272" y="805641"/>
                  <a:pt x="694930" y="805226"/>
                  <a:pt x="654713" y="803109"/>
                </a:cubicBezTo>
                <a:cubicBezTo>
                  <a:pt x="641968" y="799923"/>
                  <a:pt x="619034" y="797215"/>
                  <a:pt x="610263" y="784059"/>
                </a:cubicBezTo>
                <a:cubicBezTo>
                  <a:pt x="605422" y="776797"/>
                  <a:pt x="606673" y="766938"/>
                  <a:pt x="603913" y="758659"/>
                </a:cubicBezTo>
                <a:cubicBezTo>
                  <a:pt x="602416" y="754169"/>
                  <a:pt x="599680" y="750192"/>
                  <a:pt x="597563" y="745959"/>
                </a:cubicBezTo>
                <a:cubicBezTo>
                  <a:pt x="601796" y="739609"/>
                  <a:pt x="611760" y="734393"/>
                  <a:pt x="610263" y="726909"/>
                </a:cubicBezTo>
                <a:cubicBezTo>
                  <a:pt x="609266" y="721923"/>
                  <a:pt x="565878" y="701542"/>
                  <a:pt x="565813" y="701509"/>
                </a:cubicBezTo>
                <a:cubicBezTo>
                  <a:pt x="563696" y="697276"/>
                  <a:pt x="562810" y="692156"/>
                  <a:pt x="559463" y="688809"/>
                </a:cubicBezTo>
                <a:cubicBezTo>
                  <a:pt x="556116" y="685462"/>
                  <a:pt x="550822" y="684894"/>
                  <a:pt x="546763" y="682459"/>
                </a:cubicBezTo>
                <a:cubicBezTo>
                  <a:pt x="540219" y="678532"/>
                  <a:pt x="534063" y="673992"/>
                  <a:pt x="527713" y="669759"/>
                </a:cubicBezTo>
                <a:cubicBezTo>
                  <a:pt x="525596" y="661292"/>
                  <a:pt x="520495" y="653043"/>
                  <a:pt x="521363" y="644359"/>
                </a:cubicBezTo>
                <a:cubicBezTo>
                  <a:pt x="522695" y="631038"/>
                  <a:pt x="528076" y="618233"/>
                  <a:pt x="534063" y="606259"/>
                </a:cubicBezTo>
                <a:cubicBezTo>
                  <a:pt x="536740" y="600904"/>
                  <a:pt x="541974" y="597151"/>
                  <a:pt x="546763" y="593559"/>
                </a:cubicBezTo>
                <a:cubicBezTo>
                  <a:pt x="558974" y="584401"/>
                  <a:pt x="572163" y="576626"/>
                  <a:pt x="584863" y="568159"/>
                </a:cubicBezTo>
                <a:cubicBezTo>
                  <a:pt x="602238" y="516033"/>
                  <a:pt x="578513" y="598099"/>
                  <a:pt x="578513" y="491959"/>
                </a:cubicBezTo>
                <a:cubicBezTo>
                  <a:pt x="578513" y="482493"/>
                  <a:pt x="585962" y="474435"/>
                  <a:pt x="591213" y="466559"/>
                </a:cubicBezTo>
                <a:cubicBezTo>
                  <a:pt x="605783" y="444704"/>
                  <a:pt x="613465" y="437957"/>
                  <a:pt x="629313" y="422109"/>
                </a:cubicBezTo>
                <a:cubicBezTo>
                  <a:pt x="631430" y="415759"/>
                  <a:pt x="632945" y="409176"/>
                  <a:pt x="635663" y="403059"/>
                </a:cubicBezTo>
                <a:cubicBezTo>
                  <a:pt x="641430" y="390084"/>
                  <a:pt x="654713" y="364959"/>
                  <a:pt x="654713" y="364959"/>
                </a:cubicBezTo>
                <a:cubicBezTo>
                  <a:pt x="652596" y="354376"/>
                  <a:pt x="652615" y="343129"/>
                  <a:pt x="648363" y="333209"/>
                </a:cubicBezTo>
                <a:cubicBezTo>
                  <a:pt x="646005" y="327706"/>
                  <a:pt x="638743" y="325643"/>
                  <a:pt x="635663" y="320509"/>
                </a:cubicBezTo>
                <a:cubicBezTo>
                  <a:pt x="632219" y="314769"/>
                  <a:pt x="631799" y="307674"/>
                  <a:pt x="629313" y="301459"/>
                </a:cubicBezTo>
                <a:cubicBezTo>
                  <a:pt x="615642" y="267283"/>
                  <a:pt x="630413" y="318558"/>
                  <a:pt x="616613" y="263359"/>
                </a:cubicBezTo>
                <a:cubicBezTo>
                  <a:pt x="618730" y="237959"/>
                  <a:pt x="618534" y="212259"/>
                  <a:pt x="622963" y="187159"/>
                </a:cubicBezTo>
                <a:cubicBezTo>
                  <a:pt x="624944" y="175934"/>
                  <a:pt x="632058" y="166223"/>
                  <a:pt x="635663" y="155409"/>
                </a:cubicBezTo>
                <a:cubicBezTo>
                  <a:pt x="640536" y="140790"/>
                  <a:pt x="645134" y="126027"/>
                  <a:pt x="648363" y="110959"/>
                </a:cubicBezTo>
                <a:cubicBezTo>
                  <a:pt x="664899" y="33789"/>
                  <a:pt x="642624" y="96731"/>
                  <a:pt x="667413" y="34759"/>
                </a:cubicBezTo>
                <a:cubicBezTo>
                  <a:pt x="675177" y="-27352"/>
                  <a:pt x="672705" y="13592"/>
                  <a:pt x="673763" y="9359"/>
                </a:cubicBezTo>
                <a:close/>
              </a:path>
            </a:pathLst>
          </a:custGeom>
          <a:gradFill>
            <a:gsLst>
              <a:gs pos="0">
                <a:srgbClr val="92D050">
                  <a:alpha val="50000"/>
                </a:srgbClr>
              </a:gs>
              <a:gs pos="100000">
                <a:srgbClr val="259F36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Free-form: Shape 53">
            <a:extLst>
              <a:ext uri="{FF2B5EF4-FFF2-40B4-BE49-F238E27FC236}">
                <a16:creationId xmlns:a16="http://schemas.microsoft.com/office/drawing/2014/main" id="{4579612B-AA92-5AE7-F2DC-907B30A61159}"/>
              </a:ext>
            </a:extLst>
          </p:cNvPr>
          <p:cNvSpPr/>
          <p:nvPr/>
        </p:nvSpPr>
        <p:spPr>
          <a:xfrm>
            <a:off x="14798508" y="5597525"/>
            <a:ext cx="755817" cy="977900"/>
          </a:xfrm>
          <a:custGeom>
            <a:avLst/>
            <a:gdLst>
              <a:gd name="csX0" fmla="*/ 730417 w 755817"/>
              <a:gd name="csY0" fmla="*/ 0 h 977900"/>
              <a:gd name="csX1" fmla="*/ 730417 w 755817"/>
              <a:gd name="csY1" fmla="*/ 0 h 977900"/>
              <a:gd name="csX2" fmla="*/ 685967 w 755817"/>
              <a:gd name="csY2" fmla="*/ 12700 h 977900"/>
              <a:gd name="csX3" fmla="*/ 647867 w 755817"/>
              <a:gd name="csY3" fmla="*/ 25400 h 977900"/>
              <a:gd name="csX4" fmla="*/ 520867 w 755817"/>
              <a:gd name="csY4" fmla="*/ 31750 h 977900"/>
              <a:gd name="csX5" fmla="*/ 489117 w 755817"/>
              <a:gd name="csY5" fmla="*/ 44450 h 977900"/>
              <a:gd name="csX6" fmla="*/ 476417 w 755817"/>
              <a:gd name="csY6" fmla="*/ 50800 h 977900"/>
              <a:gd name="csX7" fmla="*/ 457367 w 755817"/>
              <a:gd name="csY7" fmla="*/ 57150 h 977900"/>
              <a:gd name="csX8" fmla="*/ 451017 w 755817"/>
              <a:gd name="csY8" fmla="*/ 69850 h 977900"/>
              <a:gd name="csX9" fmla="*/ 438317 w 755817"/>
              <a:gd name="csY9" fmla="*/ 107950 h 977900"/>
              <a:gd name="csX10" fmla="*/ 425617 w 755817"/>
              <a:gd name="csY10" fmla="*/ 120650 h 977900"/>
              <a:gd name="csX11" fmla="*/ 400217 w 755817"/>
              <a:gd name="csY11" fmla="*/ 127000 h 977900"/>
              <a:gd name="csX12" fmla="*/ 387517 w 755817"/>
              <a:gd name="csY12" fmla="*/ 133350 h 977900"/>
              <a:gd name="csX13" fmla="*/ 330367 w 755817"/>
              <a:gd name="csY13" fmla="*/ 120650 h 977900"/>
              <a:gd name="csX14" fmla="*/ 317667 w 755817"/>
              <a:gd name="csY14" fmla="*/ 114300 h 977900"/>
              <a:gd name="csX15" fmla="*/ 285917 w 755817"/>
              <a:gd name="csY15" fmla="*/ 107950 h 977900"/>
              <a:gd name="csX16" fmla="*/ 266867 w 755817"/>
              <a:gd name="csY16" fmla="*/ 101600 h 977900"/>
              <a:gd name="csX17" fmla="*/ 222417 w 755817"/>
              <a:gd name="csY17" fmla="*/ 114300 h 977900"/>
              <a:gd name="csX18" fmla="*/ 209717 w 755817"/>
              <a:gd name="csY18" fmla="*/ 127000 h 977900"/>
              <a:gd name="csX19" fmla="*/ 197017 w 755817"/>
              <a:gd name="csY19" fmla="*/ 158750 h 977900"/>
              <a:gd name="csX20" fmla="*/ 203367 w 755817"/>
              <a:gd name="csY20" fmla="*/ 171450 h 977900"/>
              <a:gd name="csX21" fmla="*/ 216067 w 755817"/>
              <a:gd name="csY21" fmla="*/ 190500 h 977900"/>
              <a:gd name="csX22" fmla="*/ 228767 w 755817"/>
              <a:gd name="csY22" fmla="*/ 228600 h 977900"/>
              <a:gd name="csX23" fmla="*/ 197017 w 755817"/>
              <a:gd name="csY23" fmla="*/ 285750 h 977900"/>
              <a:gd name="csX24" fmla="*/ 184317 w 755817"/>
              <a:gd name="csY24" fmla="*/ 298450 h 977900"/>
              <a:gd name="csX25" fmla="*/ 139867 w 755817"/>
              <a:gd name="csY25" fmla="*/ 304800 h 977900"/>
              <a:gd name="csX26" fmla="*/ 38267 w 755817"/>
              <a:gd name="csY26" fmla="*/ 317500 h 977900"/>
              <a:gd name="csX27" fmla="*/ 25567 w 755817"/>
              <a:gd name="csY27" fmla="*/ 323850 h 977900"/>
              <a:gd name="csX28" fmla="*/ 167 w 755817"/>
              <a:gd name="csY28" fmla="*/ 330200 h 977900"/>
              <a:gd name="csX29" fmla="*/ 19217 w 755817"/>
              <a:gd name="csY29" fmla="*/ 368300 h 977900"/>
              <a:gd name="csX30" fmla="*/ 31917 w 755817"/>
              <a:gd name="csY30" fmla="*/ 412750 h 977900"/>
              <a:gd name="csX31" fmla="*/ 50967 w 755817"/>
              <a:gd name="csY31" fmla="*/ 527050 h 977900"/>
              <a:gd name="csX32" fmla="*/ 50967 w 755817"/>
              <a:gd name="csY32" fmla="*/ 527050 h 977900"/>
              <a:gd name="csX33" fmla="*/ 63667 w 755817"/>
              <a:gd name="csY33" fmla="*/ 565150 h 977900"/>
              <a:gd name="csX34" fmla="*/ 70017 w 755817"/>
              <a:gd name="csY34" fmla="*/ 577850 h 977900"/>
              <a:gd name="csX35" fmla="*/ 89067 w 755817"/>
              <a:gd name="csY35" fmla="*/ 584200 h 977900"/>
              <a:gd name="csX36" fmla="*/ 133517 w 755817"/>
              <a:gd name="csY36" fmla="*/ 577850 h 977900"/>
              <a:gd name="csX37" fmla="*/ 139867 w 755817"/>
              <a:gd name="csY37" fmla="*/ 609600 h 977900"/>
              <a:gd name="csX38" fmla="*/ 146217 w 755817"/>
              <a:gd name="csY38" fmla="*/ 730250 h 977900"/>
              <a:gd name="csX39" fmla="*/ 133517 w 755817"/>
              <a:gd name="csY39" fmla="*/ 876300 h 977900"/>
              <a:gd name="csX40" fmla="*/ 133517 w 755817"/>
              <a:gd name="csY40" fmla="*/ 952500 h 977900"/>
              <a:gd name="csX41" fmla="*/ 165267 w 755817"/>
              <a:gd name="csY41" fmla="*/ 971550 h 977900"/>
              <a:gd name="csX42" fmla="*/ 177967 w 755817"/>
              <a:gd name="csY42" fmla="*/ 977900 h 977900"/>
              <a:gd name="csX43" fmla="*/ 235117 w 755817"/>
              <a:gd name="csY43" fmla="*/ 971550 h 977900"/>
              <a:gd name="csX44" fmla="*/ 247817 w 755817"/>
              <a:gd name="csY44" fmla="*/ 965200 h 977900"/>
              <a:gd name="csX45" fmla="*/ 279567 w 755817"/>
              <a:gd name="csY45" fmla="*/ 939800 h 977900"/>
              <a:gd name="csX46" fmla="*/ 292267 w 755817"/>
              <a:gd name="csY46" fmla="*/ 920750 h 977900"/>
              <a:gd name="csX47" fmla="*/ 324017 w 755817"/>
              <a:gd name="csY47" fmla="*/ 889000 h 977900"/>
              <a:gd name="csX48" fmla="*/ 349417 w 755817"/>
              <a:gd name="csY48" fmla="*/ 869950 h 977900"/>
              <a:gd name="csX49" fmla="*/ 374817 w 755817"/>
              <a:gd name="csY49" fmla="*/ 838200 h 977900"/>
              <a:gd name="csX50" fmla="*/ 393867 w 755817"/>
              <a:gd name="csY50" fmla="*/ 825500 h 977900"/>
              <a:gd name="csX51" fmla="*/ 419267 w 755817"/>
              <a:gd name="csY51" fmla="*/ 793750 h 977900"/>
              <a:gd name="csX52" fmla="*/ 438317 w 755817"/>
              <a:gd name="csY52" fmla="*/ 787400 h 977900"/>
              <a:gd name="csX53" fmla="*/ 463717 w 755817"/>
              <a:gd name="csY53" fmla="*/ 774700 h 977900"/>
              <a:gd name="csX54" fmla="*/ 476417 w 755817"/>
              <a:gd name="csY54" fmla="*/ 755650 h 977900"/>
              <a:gd name="csX55" fmla="*/ 482767 w 755817"/>
              <a:gd name="csY55" fmla="*/ 736600 h 977900"/>
              <a:gd name="csX56" fmla="*/ 495467 w 755817"/>
              <a:gd name="csY56" fmla="*/ 723900 h 977900"/>
              <a:gd name="csX57" fmla="*/ 508167 w 755817"/>
              <a:gd name="csY57" fmla="*/ 692150 h 977900"/>
              <a:gd name="csX58" fmla="*/ 520867 w 755817"/>
              <a:gd name="csY58" fmla="*/ 679450 h 977900"/>
              <a:gd name="csX59" fmla="*/ 533567 w 755817"/>
              <a:gd name="csY59" fmla="*/ 628650 h 977900"/>
              <a:gd name="csX60" fmla="*/ 552617 w 755817"/>
              <a:gd name="csY60" fmla="*/ 609600 h 977900"/>
              <a:gd name="csX61" fmla="*/ 565317 w 755817"/>
              <a:gd name="csY61" fmla="*/ 603250 h 977900"/>
              <a:gd name="csX62" fmla="*/ 584367 w 755817"/>
              <a:gd name="csY62" fmla="*/ 577850 h 977900"/>
              <a:gd name="csX63" fmla="*/ 628817 w 755817"/>
              <a:gd name="csY63" fmla="*/ 546100 h 977900"/>
              <a:gd name="csX64" fmla="*/ 666917 w 755817"/>
              <a:gd name="csY64" fmla="*/ 514350 h 977900"/>
              <a:gd name="csX65" fmla="*/ 673267 w 755817"/>
              <a:gd name="csY65" fmla="*/ 488950 h 977900"/>
              <a:gd name="csX66" fmla="*/ 660567 w 755817"/>
              <a:gd name="csY66" fmla="*/ 425450 h 977900"/>
              <a:gd name="csX67" fmla="*/ 654217 w 755817"/>
              <a:gd name="csY67" fmla="*/ 374650 h 977900"/>
              <a:gd name="csX68" fmla="*/ 673267 w 755817"/>
              <a:gd name="csY68" fmla="*/ 266700 h 977900"/>
              <a:gd name="csX69" fmla="*/ 698667 w 755817"/>
              <a:gd name="csY69" fmla="*/ 228600 h 977900"/>
              <a:gd name="csX70" fmla="*/ 705017 w 755817"/>
              <a:gd name="csY70" fmla="*/ 215900 h 977900"/>
              <a:gd name="csX71" fmla="*/ 711367 w 755817"/>
              <a:gd name="csY71" fmla="*/ 190500 h 977900"/>
              <a:gd name="csX72" fmla="*/ 724067 w 755817"/>
              <a:gd name="csY72" fmla="*/ 171450 h 977900"/>
              <a:gd name="csX73" fmla="*/ 736767 w 755817"/>
              <a:gd name="csY73" fmla="*/ 139700 h 977900"/>
              <a:gd name="csX74" fmla="*/ 743117 w 755817"/>
              <a:gd name="csY74" fmla="*/ 101600 h 977900"/>
              <a:gd name="csX75" fmla="*/ 755817 w 755817"/>
              <a:gd name="csY75" fmla="*/ 63500 h 977900"/>
              <a:gd name="csX76" fmla="*/ 730417 w 755817"/>
              <a:gd name="csY76" fmla="*/ 0 h 977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</a:cxnLst>
            <a:rect l="l" t="t" r="r" b="b"/>
            <a:pathLst>
              <a:path w="755817" h="977900">
                <a:moveTo>
                  <a:pt x="730417" y="0"/>
                </a:moveTo>
                <a:lnTo>
                  <a:pt x="730417" y="0"/>
                </a:lnTo>
                <a:cubicBezTo>
                  <a:pt x="715600" y="4233"/>
                  <a:pt x="700695" y="8168"/>
                  <a:pt x="685967" y="12700"/>
                </a:cubicBezTo>
                <a:cubicBezTo>
                  <a:pt x="673172" y="16637"/>
                  <a:pt x="661237" y="24731"/>
                  <a:pt x="647867" y="25400"/>
                </a:cubicBezTo>
                <a:lnTo>
                  <a:pt x="520867" y="31750"/>
                </a:lnTo>
                <a:cubicBezTo>
                  <a:pt x="491083" y="46642"/>
                  <a:pt x="528351" y="28757"/>
                  <a:pt x="489117" y="44450"/>
                </a:cubicBezTo>
                <a:cubicBezTo>
                  <a:pt x="484723" y="46208"/>
                  <a:pt x="480811" y="49042"/>
                  <a:pt x="476417" y="50800"/>
                </a:cubicBezTo>
                <a:cubicBezTo>
                  <a:pt x="470202" y="53286"/>
                  <a:pt x="463717" y="55033"/>
                  <a:pt x="457367" y="57150"/>
                </a:cubicBezTo>
                <a:cubicBezTo>
                  <a:pt x="455250" y="61383"/>
                  <a:pt x="452514" y="65360"/>
                  <a:pt x="451017" y="69850"/>
                </a:cubicBezTo>
                <a:cubicBezTo>
                  <a:pt x="446583" y="83153"/>
                  <a:pt x="446909" y="96495"/>
                  <a:pt x="438317" y="107950"/>
                </a:cubicBezTo>
                <a:cubicBezTo>
                  <a:pt x="434725" y="112739"/>
                  <a:pt x="430972" y="117973"/>
                  <a:pt x="425617" y="120650"/>
                </a:cubicBezTo>
                <a:cubicBezTo>
                  <a:pt x="417811" y="124553"/>
                  <a:pt x="408496" y="124240"/>
                  <a:pt x="400217" y="127000"/>
                </a:cubicBezTo>
                <a:cubicBezTo>
                  <a:pt x="395727" y="128497"/>
                  <a:pt x="391750" y="131233"/>
                  <a:pt x="387517" y="133350"/>
                </a:cubicBezTo>
                <a:cubicBezTo>
                  <a:pt x="368467" y="129117"/>
                  <a:pt x="349194" y="125785"/>
                  <a:pt x="330367" y="120650"/>
                </a:cubicBezTo>
                <a:cubicBezTo>
                  <a:pt x="325801" y="119405"/>
                  <a:pt x="322218" y="115600"/>
                  <a:pt x="317667" y="114300"/>
                </a:cubicBezTo>
                <a:cubicBezTo>
                  <a:pt x="307289" y="111335"/>
                  <a:pt x="296388" y="110568"/>
                  <a:pt x="285917" y="107950"/>
                </a:cubicBezTo>
                <a:cubicBezTo>
                  <a:pt x="279423" y="106327"/>
                  <a:pt x="273217" y="103717"/>
                  <a:pt x="266867" y="101600"/>
                </a:cubicBezTo>
                <a:cubicBezTo>
                  <a:pt x="252050" y="105833"/>
                  <a:pt x="236498" y="108042"/>
                  <a:pt x="222417" y="114300"/>
                </a:cubicBezTo>
                <a:cubicBezTo>
                  <a:pt x="216946" y="116731"/>
                  <a:pt x="213309" y="122211"/>
                  <a:pt x="209717" y="127000"/>
                </a:cubicBezTo>
                <a:cubicBezTo>
                  <a:pt x="204111" y="134475"/>
                  <a:pt x="199578" y="151066"/>
                  <a:pt x="197017" y="158750"/>
                </a:cubicBezTo>
                <a:cubicBezTo>
                  <a:pt x="199134" y="162983"/>
                  <a:pt x="200932" y="167391"/>
                  <a:pt x="203367" y="171450"/>
                </a:cubicBezTo>
                <a:cubicBezTo>
                  <a:pt x="207294" y="177994"/>
                  <a:pt x="212967" y="183526"/>
                  <a:pt x="216067" y="190500"/>
                </a:cubicBezTo>
                <a:cubicBezTo>
                  <a:pt x="221504" y="202733"/>
                  <a:pt x="228767" y="228600"/>
                  <a:pt x="228767" y="228600"/>
                </a:cubicBezTo>
                <a:cubicBezTo>
                  <a:pt x="220782" y="252555"/>
                  <a:pt x="218852" y="263915"/>
                  <a:pt x="197017" y="285750"/>
                </a:cubicBezTo>
                <a:cubicBezTo>
                  <a:pt x="192784" y="289983"/>
                  <a:pt x="189997" y="296557"/>
                  <a:pt x="184317" y="298450"/>
                </a:cubicBezTo>
                <a:cubicBezTo>
                  <a:pt x="170118" y="303183"/>
                  <a:pt x="154630" y="302339"/>
                  <a:pt x="139867" y="304800"/>
                </a:cubicBezTo>
                <a:cubicBezTo>
                  <a:pt x="61135" y="317922"/>
                  <a:pt x="170978" y="305435"/>
                  <a:pt x="38267" y="317500"/>
                </a:cubicBezTo>
                <a:cubicBezTo>
                  <a:pt x="34034" y="319617"/>
                  <a:pt x="30057" y="322353"/>
                  <a:pt x="25567" y="323850"/>
                </a:cubicBezTo>
                <a:cubicBezTo>
                  <a:pt x="17288" y="326610"/>
                  <a:pt x="1401" y="321560"/>
                  <a:pt x="167" y="330200"/>
                </a:cubicBezTo>
                <a:cubicBezTo>
                  <a:pt x="-1841" y="344256"/>
                  <a:pt x="14727" y="354830"/>
                  <a:pt x="19217" y="368300"/>
                </a:cubicBezTo>
                <a:cubicBezTo>
                  <a:pt x="28327" y="395629"/>
                  <a:pt x="23944" y="380856"/>
                  <a:pt x="31917" y="412750"/>
                </a:cubicBezTo>
                <a:cubicBezTo>
                  <a:pt x="38941" y="511092"/>
                  <a:pt x="24981" y="475078"/>
                  <a:pt x="50967" y="527050"/>
                </a:cubicBezTo>
                <a:lnTo>
                  <a:pt x="50967" y="527050"/>
                </a:lnTo>
                <a:cubicBezTo>
                  <a:pt x="55200" y="539750"/>
                  <a:pt x="57680" y="553176"/>
                  <a:pt x="63667" y="565150"/>
                </a:cubicBezTo>
                <a:cubicBezTo>
                  <a:pt x="65784" y="569383"/>
                  <a:pt x="66231" y="575010"/>
                  <a:pt x="70017" y="577850"/>
                </a:cubicBezTo>
                <a:cubicBezTo>
                  <a:pt x="75372" y="581866"/>
                  <a:pt x="82717" y="582083"/>
                  <a:pt x="89067" y="584200"/>
                </a:cubicBezTo>
                <a:cubicBezTo>
                  <a:pt x="103884" y="582083"/>
                  <a:pt x="120130" y="571157"/>
                  <a:pt x="133517" y="577850"/>
                </a:cubicBezTo>
                <a:cubicBezTo>
                  <a:pt x="143170" y="582677"/>
                  <a:pt x="138971" y="598844"/>
                  <a:pt x="139867" y="609600"/>
                </a:cubicBezTo>
                <a:cubicBezTo>
                  <a:pt x="143211" y="649733"/>
                  <a:pt x="144100" y="690033"/>
                  <a:pt x="146217" y="730250"/>
                </a:cubicBezTo>
                <a:cubicBezTo>
                  <a:pt x="141984" y="778933"/>
                  <a:pt x="138723" y="827711"/>
                  <a:pt x="133517" y="876300"/>
                </a:cubicBezTo>
                <a:cubicBezTo>
                  <a:pt x="129336" y="915321"/>
                  <a:pt x="118562" y="907635"/>
                  <a:pt x="133517" y="952500"/>
                </a:cubicBezTo>
                <a:cubicBezTo>
                  <a:pt x="138107" y="966270"/>
                  <a:pt x="154896" y="967402"/>
                  <a:pt x="165267" y="971550"/>
                </a:cubicBezTo>
                <a:cubicBezTo>
                  <a:pt x="169661" y="973308"/>
                  <a:pt x="173734" y="975783"/>
                  <a:pt x="177967" y="977900"/>
                </a:cubicBezTo>
                <a:cubicBezTo>
                  <a:pt x="197017" y="975783"/>
                  <a:pt x="216259" y="974979"/>
                  <a:pt x="235117" y="971550"/>
                </a:cubicBezTo>
                <a:cubicBezTo>
                  <a:pt x="239774" y="970703"/>
                  <a:pt x="243758" y="967635"/>
                  <a:pt x="247817" y="965200"/>
                </a:cubicBezTo>
                <a:cubicBezTo>
                  <a:pt x="260511" y="957584"/>
                  <a:pt x="270364" y="951303"/>
                  <a:pt x="279567" y="939800"/>
                </a:cubicBezTo>
                <a:cubicBezTo>
                  <a:pt x="284335" y="933841"/>
                  <a:pt x="287241" y="926493"/>
                  <a:pt x="292267" y="920750"/>
                </a:cubicBezTo>
                <a:cubicBezTo>
                  <a:pt x="302123" y="909486"/>
                  <a:pt x="312830" y="898944"/>
                  <a:pt x="324017" y="889000"/>
                </a:cubicBezTo>
                <a:cubicBezTo>
                  <a:pt x="331927" y="881969"/>
                  <a:pt x="341933" y="877434"/>
                  <a:pt x="349417" y="869950"/>
                </a:cubicBezTo>
                <a:cubicBezTo>
                  <a:pt x="359001" y="860366"/>
                  <a:pt x="365233" y="847784"/>
                  <a:pt x="374817" y="838200"/>
                </a:cubicBezTo>
                <a:cubicBezTo>
                  <a:pt x="380213" y="832804"/>
                  <a:pt x="388471" y="830896"/>
                  <a:pt x="393867" y="825500"/>
                </a:cubicBezTo>
                <a:cubicBezTo>
                  <a:pt x="403451" y="815916"/>
                  <a:pt x="408977" y="802570"/>
                  <a:pt x="419267" y="793750"/>
                </a:cubicBezTo>
                <a:cubicBezTo>
                  <a:pt x="424349" y="789394"/>
                  <a:pt x="432165" y="790037"/>
                  <a:pt x="438317" y="787400"/>
                </a:cubicBezTo>
                <a:cubicBezTo>
                  <a:pt x="447018" y="783671"/>
                  <a:pt x="463717" y="774700"/>
                  <a:pt x="463717" y="774700"/>
                </a:cubicBezTo>
                <a:cubicBezTo>
                  <a:pt x="467950" y="768350"/>
                  <a:pt x="473004" y="762476"/>
                  <a:pt x="476417" y="755650"/>
                </a:cubicBezTo>
                <a:cubicBezTo>
                  <a:pt x="479410" y="749663"/>
                  <a:pt x="479323" y="742340"/>
                  <a:pt x="482767" y="736600"/>
                </a:cubicBezTo>
                <a:cubicBezTo>
                  <a:pt x="485847" y="731466"/>
                  <a:pt x="491234" y="728133"/>
                  <a:pt x="495467" y="723900"/>
                </a:cubicBezTo>
                <a:cubicBezTo>
                  <a:pt x="498028" y="716216"/>
                  <a:pt x="502561" y="699625"/>
                  <a:pt x="508167" y="692150"/>
                </a:cubicBezTo>
                <a:cubicBezTo>
                  <a:pt x="511759" y="687361"/>
                  <a:pt x="516634" y="683683"/>
                  <a:pt x="520867" y="679450"/>
                </a:cubicBezTo>
                <a:cubicBezTo>
                  <a:pt x="522794" y="667885"/>
                  <a:pt x="523371" y="641395"/>
                  <a:pt x="533567" y="628650"/>
                </a:cubicBezTo>
                <a:cubicBezTo>
                  <a:pt x="539177" y="621638"/>
                  <a:pt x="545605" y="615210"/>
                  <a:pt x="552617" y="609600"/>
                </a:cubicBezTo>
                <a:cubicBezTo>
                  <a:pt x="556313" y="606643"/>
                  <a:pt x="561084" y="605367"/>
                  <a:pt x="565317" y="603250"/>
                </a:cubicBezTo>
                <a:cubicBezTo>
                  <a:pt x="571667" y="594783"/>
                  <a:pt x="576883" y="585334"/>
                  <a:pt x="584367" y="577850"/>
                </a:cubicBezTo>
                <a:cubicBezTo>
                  <a:pt x="607243" y="554974"/>
                  <a:pt x="607184" y="564128"/>
                  <a:pt x="628817" y="546100"/>
                </a:cubicBezTo>
                <a:cubicBezTo>
                  <a:pt x="677710" y="505356"/>
                  <a:pt x="619619" y="545882"/>
                  <a:pt x="666917" y="514350"/>
                </a:cubicBezTo>
                <a:cubicBezTo>
                  <a:pt x="669034" y="505883"/>
                  <a:pt x="673889" y="497655"/>
                  <a:pt x="673267" y="488950"/>
                </a:cubicBezTo>
                <a:cubicBezTo>
                  <a:pt x="671729" y="467419"/>
                  <a:pt x="663244" y="446869"/>
                  <a:pt x="660567" y="425450"/>
                </a:cubicBezTo>
                <a:lnTo>
                  <a:pt x="654217" y="374650"/>
                </a:lnTo>
                <a:cubicBezTo>
                  <a:pt x="665844" y="211877"/>
                  <a:pt x="642872" y="327491"/>
                  <a:pt x="673267" y="266700"/>
                </a:cubicBezTo>
                <a:cubicBezTo>
                  <a:pt x="692544" y="228146"/>
                  <a:pt x="673771" y="241048"/>
                  <a:pt x="698667" y="228600"/>
                </a:cubicBezTo>
                <a:cubicBezTo>
                  <a:pt x="700784" y="224367"/>
                  <a:pt x="703520" y="220390"/>
                  <a:pt x="705017" y="215900"/>
                </a:cubicBezTo>
                <a:cubicBezTo>
                  <a:pt x="707777" y="207621"/>
                  <a:pt x="707929" y="198522"/>
                  <a:pt x="711367" y="190500"/>
                </a:cubicBezTo>
                <a:cubicBezTo>
                  <a:pt x="714373" y="183485"/>
                  <a:pt x="720654" y="178276"/>
                  <a:pt x="724067" y="171450"/>
                </a:cubicBezTo>
                <a:cubicBezTo>
                  <a:pt x="729165" y="161255"/>
                  <a:pt x="732534" y="150283"/>
                  <a:pt x="736767" y="139700"/>
                </a:cubicBezTo>
                <a:cubicBezTo>
                  <a:pt x="738884" y="127000"/>
                  <a:pt x="739994" y="114091"/>
                  <a:pt x="743117" y="101600"/>
                </a:cubicBezTo>
                <a:cubicBezTo>
                  <a:pt x="746364" y="88613"/>
                  <a:pt x="755817" y="63500"/>
                  <a:pt x="755817" y="63500"/>
                </a:cubicBezTo>
                <a:cubicBezTo>
                  <a:pt x="749233" y="4246"/>
                  <a:pt x="734650" y="10583"/>
                  <a:pt x="730417" y="0"/>
                </a:cubicBezTo>
                <a:close/>
              </a:path>
            </a:pathLst>
          </a:custGeom>
          <a:gradFill>
            <a:gsLst>
              <a:gs pos="0">
                <a:srgbClr val="92D050">
                  <a:alpha val="50000"/>
                </a:srgbClr>
              </a:gs>
              <a:gs pos="100000">
                <a:srgbClr val="259F36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BCD35200-F3CE-BAC9-F49C-6349ADF7616C}"/>
              </a:ext>
            </a:extLst>
          </p:cNvPr>
          <p:cNvCxnSpPr>
            <a:cxnSpLocks/>
            <a:endCxn id="51" idx="2"/>
          </p:cNvCxnSpPr>
          <p:nvPr/>
        </p:nvCxnSpPr>
        <p:spPr>
          <a:xfrm rot="10800000" flipV="1">
            <a:off x="12057013" y="5536619"/>
            <a:ext cx="2523775" cy="145169"/>
          </a:xfrm>
          <a:prstGeom prst="curvedConnector4">
            <a:avLst>
              <a:gd name="adj1" fmla="val 10279"/>
              <a:gd name="adj2" fmla="val 257472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9641A98E-F21A-604D-4577-2AD5513EF2E9}"/>
              </a:ext>
            </a:extLst>
          </p:cNvPr>
          <p:cNvCxnSpPr>
            <a:cxnSpLocks/>
            <a:endCxn id="52" idx="2"/>
          </p:cNvCxnSpPr>
          <p:nvPr/>
        </p:nvCxnSpPr>
        <p:spPr>
          <a:xfrm>
            <a:off x="15176416" y="6101803"/>
            <a:ext cx="2880694" cy="100097"/>
          </a:xfrm>
          <a:prstGeom prst="curvedConnector4">
            <a:avLst>
              <a:gd name="adj1" fmla="val 6425"/>
              <a:gd name="adj2" fmla="val 328378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7FC2C7B-E560-30AA-EBF3-AA8C6BF8A30C}"/>
              </a:ext>
            </a:extLst>
          </p:cNvPr>
          <p:cNvSpPr txBox="1"/>
          <p:nvPr/>
        </p:nvSpPr>
        <p:spPr>
          <a:xfrm>
            <a:off x="17267813" y="1732431"/>
            <a:ext cx="881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Delhi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9776C9-1896-E5ED-A5A8-AF0F5ACD9599}"/>
              </a:ext>
            </a:extLst>
          </p:cNvPr>
          <p:cNvSpPr txBox="1"/>
          <p:nvPr/>
        </p:nvSpPr>
        <p:spPr>
          <a:xfrm>
            <a:off x="10231450" y="4142311"/>
            <a:ext cx="1481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Maharashtra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269436-BECB-13C1-0D23-C6B43362E4D9}"/>
              </a:ext>
            </a:extLst>
          </p:cNvPr>
          <p:cNvSpPr txBox="1"/>
          <p:nvPr/>
        </p:nvSpPr>
        <p:spPr>
          <a:xfrm>
            <a:off x="9787344" y="3215764"/>
            <a:ext cx="1100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Gujarat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93774C-885E-BC01-2132-EE3402797DCA}"/>
              </a:ext>
            </a:extLst>
          </p:cNvPr>
          <p:cNvSpPr txBox="1"/>
          <p:nvPr/>
        </p:nvSpPr>
        <p:spPr>
          <a:xfrm>
            <a:off x="9992477" y="5093882"/>
            <a:ext cx="1250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Karnataka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F50756-F66B-2BFF-BF52-699372342FB4}"/>
              </a:ext>
            </a:extLst>
          </p:cNvPr>
          <p:cNvSpPr txBox="1"/>
          <p:nvPr/>
        </p:nvSpPr>
        <p:spPr>
          <a:xfrm>
            <a:off x="15878826" y="5576547"/>
            <a:ext cx="1250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Tamil Nadu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D5F403A-452B-8CA1-BE3F-0FDE36AFF6FF}"/>
              </a:ext>
            </a:extLst>
          </p:cNvPr>
          <p:cNvSpPr txBox="1"/>
          <p:nvPr/>
        </p:nvSpPr>
        <p:spPr>
          <a:xfrm>
            <a:off x="18129250" y="10636199"/>
            <a:ext cx="102166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IN" dirty="0"/>
          </a:p>
        </p:txBody>
      </p:sp>
      <p:graphicFrame>
        <p:nvGraphicFramePr>
          <p:cNvPr id="75" name="Chart 74">
            <a:extLst>
              <a:ext uri="{FF2B5EF4-FFF2-40B4-BE49-F238E27FC236}">
                <a16:creationId xmlns:a16="http://schemas.microsoft.com/office/drawing/2014/main" id="{FC03E57C-A51D-ACD0-61EA-38DF254FC0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4782300"/>
              </p:ext>
            </p:extLst>
          </p:nvPr>
        </p:nvGraphicFramePr>
        <p:xfrm>
          <a:off x="1075596" y="6921319"/>
          <a:ext cx="8976453" cy="3714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24806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F37DF-8A73-BB3F-9A42-E0768F94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42E3E4C3-8D7F-C7A4-5460-1F925D9C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319139" y="2459538"/>
            <a:ext cx="5497599" cy="576987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342FC-D3EA-E65F-730E-EB7A8850C818}"/>
              </a:ext>
            </a:extLst>
          </p:cNvPr>
          <p:cNvSpPr txBox="1"/>
          <p:nvPr/>
        </p:nvSpPr>
        <p:spPr>
          <a:xfrm>
            <a:off x="1696283" y="3244167"/>
            <a:ext cx="4334947" cy="42006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kern="1200" dirty="0">
                <a:solidFill>
                  <a:schemeClr val="bg1"/>
                </a:solidFill>
              </a:rPr>
              <a:t> Qn 3: How does the availability of charging stations infrastructure correlate with the EV sales and penetration rates in the top 5 states?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9CD386-A7AE-C655-FF6E-38B8183C6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95" y="1138390"/>
            <a:ext cx="11181091" cy="902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361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75834-9B7F-F0ED-B364-080DBF4E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46E99D-62C7-F295-D10E-8CDD50F9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-60325"/>
            <a:ext cx="20104100" cy="113009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2CE11B-D15F-1749-B98F-3B261A98640E}"/>
              </a:ext>
            </a:extLst>
          </p:cNvPr>
          <p:cNvSpPr/>
          <p:nvPr/>
        </p:nvSpPr>
        <p:spPr>
          <a:xfrm>
            <a:off x="555629" y="325312"/>
            <a:ext cx="13088036" cy="838200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</a:rPr>
              <a:t>Correlation Between Charging Infrastructure &amp; EV Adoption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AC12C8-6C96-732F-F6F6-0F72540B7DFF}"/>
              </a:ext>
            </a:extLst>
          </p:cNvPr>
          <p:cNvSpPr/>
          <p:nvPr/>
        </p:nvSpPr>
        <p:spPr>
          <a:xfrm>
            <a:off x="14690729" y="3571145"/>
            <a:ext cx="5105401" cy="6879014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vs Adoption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Infrastructure leader, but penetration moderate (~6–7%).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Penetration leader (11.5%) despite not being in top 5 for chargers.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Tamil Nadu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Second in chargers (2,010), steady adoption (~7.5%) thanks to manufacturing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Maharashtra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Strong EV base (1,972 chargers, ~8.5% penetration), chargers heavily utilized.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Karnataka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Dense network (1,901 chargers, ~9.9% penetration), strong correlation between infra and adoption.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Gujarat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~1,470 chargers, ~6.5% penetration, subsidy-driven adoption.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Takeaway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alone doesn’t guarantee adoption (UP).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Subsidies can offset infra gaps (Delhi).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states (MH, KA, TN, GUJ) show how infra + ecosystem sustain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9FBB0-5B9A-7B68-97FC-291445764AEE}"/>
              </a:ext>
            </a:extLst>
          </p:cNvPr>
          <p:cNvSpPr txBox="1"/>
          <p:nvPr/>
        </p:nvSpPr>
        <p:spPr>
          <a:xfrm>
            <a:off x="17519650" y="10512329"/>
            <a:ext cx="102166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IN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9D2585B-BB28-0BD2-BA5A-B45FDE228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20616"/>
              </p:ext>
            </p:extLst>
          </p:nvPr>
        </p:nvGraphicFramePr>
        <p:xfrm>
          <a:off x="555629" y="1560970"/>
          <a:ext cx="13455650" cy="3751937"/>
        </p:xfrm>
        <a:graphic>
          <a:graphicData uri="http://schemas.openxmlformats.org/drawingml/2006/table">
            <a:tbl>
              <a:tblPr/>
              <a:tblGrid>
                <a:gridCol w="733421">
                  <a:extLst>
                    <a:ext uri="{9D8B030D-6E8A-4147-A177-3AD203B41FA5}">
                      <a16:colId xmlns:a16="http://schemas.microsoft.com/office/drawing/2014/main" val="1028818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54218625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11406961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427777275"/>
                    </a:ext>
                  </a:extLst>
                </a:gridCol>
                <a:gridCol w="4797429">
                  <a:extLst>
                    <a:ext uri="{9D8B030D-6E8A-4147-A177-3AD203B41FA5}">
                      <a16:colId xmlns:a16="http://schemas.microsoft.com/office/drawing/2014/main" val="2640054396"/>
                    </a:ext>
                  </a:extLst>
                </a:gridCol>
              </a:tblGrid>
              <a:tr h="2147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Rank</a:t>
                      </a:r>
                    </a:p>
                  </a:txBody>
                  <a:tcPr marL="5954" marR="5954" marT="5954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State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Charging Stations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EV Penetration Rate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Observations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462335"/>
                  </a:ext>
                </a:extLst>
              </a:tr>
              <a:tr h="6443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5954" marR="5954" marT="5954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Uttar Pradesh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2,901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~6–7%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Infrastructure leader, but penetration moderate → infra alone isn’t enough.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680022"/>
                  </a:ext>
                </a:extLst>
              </a:tr>
              <a:tr h="4295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5954" marR="5954" marT="5954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Tamil Nadu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2,010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~7.5%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Manufacturing hub; infra + ecosystem drive steady adoption.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055282"/>
                  </a:ext>
                </a:extLst>
              </a:tr>
              <a:tr h="4295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5954" marR="5954" marT="5954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Maharashtra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1,972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~8.5%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Strong EV base; chargers heavily utilized, especially for 4W.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93591"/>
                  </a:ext>
                </a:extLst>
              </a:tr>
              <a:tr h="6443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5954" marR="5954" marT="5954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Karnataka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1,901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~9.9%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Dense network (esp. Bengaluru); infra strongly correlates with penetration.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261968"/>
                  </a:ext>
                </a:extLst>
              </a:tr>
              <a:tr h="4295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5954" marR="5954" marT="5954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Gujarat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1,470–1,500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~6.5%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Subsidy‑driven 2W adoption, supported by infra.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987745"/>
                  </a:ext>
                </a:extLst>
              </a:tr>
              <a:tr h="6443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5954" marR="5954" marT="5954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Delhi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(outside top 5 infra)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~1,931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11.50%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Penetration leader due to aggressive subsidies + tax waivers, despite fewer chargers.</a:t>
                      </a:r>
                    </a:p>
                  </a:txBody>
                  <a:tcPr marL="5954" marR="5954" marT="5954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052744"/>
                  </a:ext>
                </a:extLst>
              </a:tr>
            </a:tbl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FE12BE50-97AB-01BA-A2E0-463C351F9E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793471"/>
              </p:ext>
            </p:extLst>
          </p:nvPr>
        </p:nvGraphicFramePr>
        <p:xfrm>
          <a:off x="679450" y="5693110"/>
          <a:ext cx="13331829" cy="4719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8269A9B5-E925-70DB-37D3-E35DBB8E3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92169" y="431896"/>
            <a:ext cx="5337281" cy="26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05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4F28E-2B90-9DA9-EBD5-30C77C9C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61FD2EA6-E00B-8C8C-C43F-FB51AD12D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319139" y="2459538"/>
            <a:ext cx="5497599" cy="576987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C96BB-FFA9-A82A-2033-E4AD6B0D6AA7}"/>
              </a:ext>
            </a:extLst>
          </p:cNvPr>
          <p:cNvSpPr txBox="1"/>
          <p:nvPr/>
        </p:nvSpPr>
        <p:spPr>
          <a:xfrm>
            <a:off x="1696283" y="3244167"/>
            <a:ext cx="4334947" cy="42006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kern="1200" dirty="0">
                <a:solidFill>
                  <a:schemeClr val="bg1"/>
                </a:solidFill>
              </a:rPr>
              <a:t>Qn 4: Who should be the brand ambassador if AtliQ Motors launches their EV/Hybrid vehicles in India and why? </a:t>
            </a:r>
            <a:endParaRPr lang="en-IN" sz="3200" kern="1200" dirty="0">
              <a:solidFill>
                <a:schemeClr val="bg1"/>
              </a:solidFill>
            </a:endParaRPr>
          </a:p>
          <a:p>
            <a:pPr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kern="1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D17000-D2C8-3F9D-2FE0-E29E75B1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95" y="1138390"/>
            <a:ext cx="11181091" cy="902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68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2F78E-B9B7-20B8-9E34-F2FF85B10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1F1778-07A5-FD96-CBE4-4ABB2559C9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-60325"/>
            <a:ext cx="20104100" cy="113009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442D85-88A0-1F46-19A5-E4F439C1C077}"/>
              </a:ext>
            </a:extLst>
          </p:cNvPr>
          <p:cNvSpPr/>
          <p:nvPr/>
        </p:nvSpPr>
        <p:spPr>
          <a:xfrm>
            <a:off x="555629" y="325312"/>
            <a:ext cx="8124821" cy="838200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600" b="1" dirty="0">
                <a:solidFill>
                  <a:schemeClr val="tx1"/>
                </a:solidFill>
              </a:rPr>
              <a:t>brand ambassador for AtliQ Motors </a:t>
            </a:r>
            <a:endParaRPr lang="en-IN" sz="36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738E3-D898-843B-2D2E-3F35AAB13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29" y="1530003"/>
            <a:ext cx="14220822" cy="898232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AF64E0-7264-787E-D198-B9081DB93502}"/>
              </a:ext>
            </a:extLst>
          </p:cNvPr>
          <p:cNvSpPr/>
          <p:nvPr/>
        </p:nvSpPr>
        <p:spPr>
          <a:xfrm>
            <a:off x="15443200" y="3140075"/>
            <a:ext cx="3994150" cy="3402617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Vicky Kaushal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the ideal brand ambassador for AtliQ Motors due to his strong association with EVs, relatable personality, and appeal among urban consumers, making him a perfect fit to promote sustainable and innovative mobility solutions in India.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546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0C067-6269-28AE-E5A9-D500E6414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2911E811-4B17-8055-821C-C808A0F6D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319139" y="2459538"/>
            <a:ext cx="5497599" cy="576987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3C7F2-1DA0-19CD-5C80-ACC88BC14A3B}"/>
              </a:ext>
            </a:extLst>
          </p:cNvPr>
          <p:cNvSpPr txBox="1"/>
          <p:nvPr/>
        </p:nvSpPr>
        <p:spPr>
          <a:xfrm>
            <a:off x="1696283" y="3244167"/>
            <a:ext cx="4334947" cy="42006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kern="1200" dirty="0">
                <a:solidFill>
                  <a:schemeClr val="bg1"/>
                </a:solidFill>
              </a:rPr>
              <a:t> Qn 5 : Which state of India is ideal to start the manufacturing unit? (Based on subsidies provided, ease of doing business, stability in governance etc.)</a:t>
            </a:r>
            <a:endParaRPr lang="en-IN" sz="3200" kern="1200" dirty="0">
              <a:solidFill>
                <a:schemeClr val="bg1"/>
              </a:solidFill>
            </a:endParaRPr>
          </a:p>
          <a:p>
            <a:pPr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kern="1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0FE504-9E39-B467-BDA0-E806C23E8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95" y="1138390"/>
            <a:ext cx="11181091" cy="902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47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9B6EB-0D32-BFE3-138A-39307397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CA1D3D-6F43-E046-B2C9-CE6184B435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9050" y="-30722"/>
            <a:ext cx="20104100" cy="113009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B23E57-F760-F939-13C1-C24B3FB60B7D}"/>
              </a:ext>
            </a:extLst>
          </p:cNvPr>
          <p:cNvSpPr/>
          <p:nvPr/>
        </p:nvSpPr>
        <p:spPr>
          <a:xfrm>
            <a:off x="755650" y="376523"/>
            <a:ext cx="12377182" cy="838200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Strategic Location Analysis for EV Manufacturing in India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4CE3DC-97CD-AC7F-9BC7-C39DB99942D6}"/>
              </a:ext>
            </a:extLst>
          </p:cNvPr>
          <p:cNvSpPr/>
          <p:nvPr/>
        </p:nvSpPr>
        <p:spPr>
          <a:xfrm>
            <a:off x="14122399" y="6264275"/>
            <a:ext cx="5105401" cy="3074130"/>
          </a:xfrm>
          <a:prstGeom prst="roundRect">
            <a:avLst/>
          </a:prstGeom>
          <a:solidFill>
            <a:srgbClr val="C1F0C8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Tamil Nadu leads India’s 2025 Business Environment Rankings with a score of 7.4, offering the strongest combination of subsidies, ease of doing business, and governance stability , making it the most strategic choice for AtliQ Motors’ EV manufacturing unit.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09D972-17D6-7D9C-5554-6B69A510AC7E}"/>
              </a:ext>
            </a:extLst>
          </p:cNvPr>
          <p:cNvSpPr txBox="1"/>
          <p:nvPr/>
        </p:nvSpPr>
        <p:spPr>
          <a:xfrm>
            <a:off x="17519650" y="10512329"/>
            <a:ext cx="102166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IN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97EAA0E-4200-C0DC-477C-63BF0DD9A8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570122"/>
              </p:ext>
            </p:extLst>
          </p:nvPr>
        </p:nvGraphicFramePr>
        <p:xfrm>
          <a:off x="793750" y="5597523"/>
          <a:ext cx="12458700" cy="4830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D12931-29F6-4FCA-B681-218103928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863587"/>
              </p:ext>
            </p:extLst>
          </p:nvPr>
        </p:nvGraphicFramePr>
        <p:xfrm>
          <a:off x="755650" y="1564818"/>
          <a:ext cx="12377182" cy="3334854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55321055"/>
                    </a:ext>
                  </a:extLst>
                </a:gridCol>
                <a:gridCol w="3816528">
                  <a:extLst>
                    <a:ext uri="{9D8B030D-6E8A-4147-A177-3AD203B41FA5}">
                      <a16:colId xmlns:a16="http://schemas.microsoft.com/office/drawing/2014/main" val="1504704541"/>
                    </a:ext>
                  </a:extLst>
                </a:gridCol>
                <a:gridCol w="3152678">
                  <a:extLst>
                    <a:ext uri="{9D8B030D-6E8A-4147-A177-3AD203B41FA5}">
                      <a16:colId xmlns:a16="http://schemas.microsoft.com/office/drawing/2014/main" val="3022864998"/>
                    </a:ext>
                  </a:extLst>
                </a:gridCol>
                <a:gridCol w="3502976">
                  <a:extLst>
                    <a:ext uri="{9D8B030D-6E8A-4147-A177-3AD203B41FA5}">
                      <a16:colId xmlns:a16="http://schemas.microsoft.com/office/drawing/2014/main" val="2938581776"/>
                    </a:ext>
                  </a:extLst>
                </a:gridCol>
              </a:tblGrid>
              <a:tr h="1433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State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Business Environment Score (2025)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Key Strengths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824883"/>
                  </a:ext>
                </a:extLst>
              </a:tr>
              <a:tr h="286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Tamil Nadu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7.4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Industrial hub (automobiles, electronics, renewables), strong policies, stable governance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316847"/>
                  </a:ext>
                </a:extLst>
              </a:tr>
              <a:tr h="286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Gujarat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Investor magnet, robust industrial base, strong infrastructure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734610"/>
                  </a:ext>
                </a:extLst>
              </a:tr>
              <a:tr h="286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Maharashtra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Economic powerhouse, auto hub, ambitious MSME &amp; infra investments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53829"/>
                  </a:ext>
                </a:extLst>
              </a:tr>
              <a:tr h="286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Karnataka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 &amp; biotech hub, sunrise sectors (AI, green hydrogen), balanced growth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10604"/>
                  </a:ext>
                </a:extLst>
              </a:tr>
              <a:tr h="286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Delhi</a:t>
                      </a:r>
                    </a:p>
                  </a:txBody>
                  <a:tcPr marL="7169" marR="7169" marT="7169" marB="0" anchor="ctr">
                    <a:lnL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Startup magnet, finance &amp; IT, infrastructure modernization</a:t>
                      </a:r>
                    </a:p>
                  </a:txBody>
                  <a:tcPr marL="7169" marR="7169" marT="7169" marB="0" anchor="ctr">
                    <a:lnL>
                      <a:noFill/>
                    </a:lnL>
                    <a:lnR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D3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73662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D92C7B9-A070-1BC4-2D06-1B7DBD0E4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7765" y="1335601"/>
            <a:ext cx="6434667" cy="431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44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145ED-8C57-0087-61A0-64213685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A61B1958-916C-8E93-254D-6FCF45BB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319139" y="2459538"/>
            <a:ext cx="5497599" cy="5769875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43128-7C43-04F8-6E94-12B3B7CD3CF7}"/>
              </a:ext>
            </a:extLst>
          </p:cNvPr>
          <p:cNvSpPr txBox="1"/>
          <p:nvPr/>
        </p:nvSpPr>
        <p:spPr>
          <a:xfrm>
            <a:off x="1696283" y="3244167"/>
            <a:ext cx="4334947" cy="42006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kern="1200" dirty="0">
                <a:solidFill>
                  <a:schemeClr val="bg1"/>
                </a:solidFill>
              </a:rPr>
              <a:t>Qn 6 Top 3 recommendations for AtliQ Motors. </a:t>
            </a:r>
            <a:endParaRPr lang="en-IN" sz="3200" kern="1200" dirty="0">
              <a:solidFill>
                <a:schemeClr val="bg1"/>
              </a:solidFill>
            </a:endParaRPr>
          </a:p>
          <a:p>
            <a:pPr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kern="1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56EA35-3C94-78D6-C37E-74806E9A1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95" y="1138390"/>
            <a:ext cx="11181091" cy="902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07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25023-719D-FA25-4A53-5D83EF2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1D7850-B0A7-E714-6F31-C8E673B26128}"/>
              </a:ext>
            </a:extLst>
          </p:cNvPr>
          <p:cNvSpPr txBox="1"/>
          <p:nvPr/>
        </p:nvSpPr>
        <p:spPr>
          <a:xfrm>
            <a:off x="2594429" y="87015"/>
            <a:ext cx="1577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+mn-lt"/>
              </a:rPr>
              <a:t>Top 3 Recommendations for AtliQ Motors</a:t>
            </a:r>
            <a:endParaRPr lang="en-IN" sz="6600" b="1" dirty="0">
              <a:latin typeface="+mn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9E9081-55C8-EE47-00DD-822EE4A72535}"/>
              </a:ext>
            </a:extLst>
          </p:cNvPr>
          <p:cNvCxnSpPr>
            <a:cxnSpLocks/>
          </p:cNvCxnSpPr>
          <p:nvPr/>
        </p:nvCxnSpPr>
        <p:spPr>
          <a:xfrm>
            <a:off x="4236357" y="1195011"/>
            <a:ext cx="12725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D6B19B-A218-8298-332F-2D28EFED36F7}"/>
              </a:ext>
            </a:extLst>
          </p:cNvPr>
          <p:cNvSpPr txBox="1"/>
          <p:nvPr/>
        </p:nvSpPr>
        <p:spPr>
          <a:xfrm>
            <a:off x="2597150" y="1258176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Strategic actions to accelerate growth and strengthen position in India’s EV market</a:t>
            </a:r>
            <a:endParaRPr lang="en-IN" sz="2400" b="1" dirty="0">
              <a:latin typeface="+mn-lt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109288-90AD-931F-35D6-0CC45B6F54D0}"/>
              </a:ext>
            </a:extLst>
          </p:cNvPr>
          <p:cNvSpPr/>
          <p:nvPr/>
        </p:nvSpPr>
        <p:spPr>
          <a:xfrm>
            <a:off x="9137650" y="2334962"/>
            <a:ext cx="10210800" cy="2514600"/>
          </a:xfrm>
          <a:prstGeom prst="roundRect">
            <a:avLst/>
          </a:prstGeom>
          <a:solidFill>
            <a:srgbClr val="F4F7F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Establish Manufacturing in Tamil Nadu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Strong automotive ecosystem and supplier 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Skilled workforce and technical talent availability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Excellent port connectivity for exports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Attractive incentives and investor-friendly policies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9382EE-0A59-8B22-0DE6-1BF3DCD90CCE}"/>
              </a:ext>
            </a:extLst>
          </p:cNvPr>
          <p:cNvSpPr/>
          <p:nvPr/>
        </p:nvSpPr>
        <p:spPr>
          <a:xfrm>
            <a:off x="9167586" y="5194363"/>
            <a:ext cx="10180864" cy="2514600"/>
          </a:xfrm>
          <a:prstGeom prst="roundRect">
            <a:avLst/>
          </a:prstGeom>
          <a:solidFill>
            <a:srgbClr val="EFF3F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 Focus on Affordable 2W &amp;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 Entry-Level EV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2-wheelers drive majority of EV adoption in India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Price-sensitive market with high growth potential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Government subsidies boosting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Quick market penetration and higher sales volume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BA7928-6B04-9986-5B54-7983C2842A2C}"/>
              </a:ext>
            </a:extLst>
          </p:cNvPr>
          <p:cNvSpPr/>
          <p:nvPr/>
        </p:nvSpPr>
        <p:spPr>
          <a:xfrm>
            <a:off x="9167586" y="8033353"/>
            <a:ext cx="10180864" cy="2514600"/>
          </a:xfrm>
          <a:prstGeom prst="roundRect">
            <a:avLst/>
          </a:prstGeom>
          <a:solidFill>
            <a:srgbClr val="F6F8E8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 Invest in Charging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Infrastructure Partnerships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Charging infrastructure is key to EV adoption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Reduces range anxiety and builds customer trust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Partner with leading players like 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 	</a:t>
            </a:r>
            <a:r>
              <a:rPr lang="en-US" b="1" dirty="0">
                <a:solidFill>
                  <a:schemeClr val="tx1"/>
                </a:solidFill>
              </a:rPr>
              <a:t>Tata Power </a:t>
            </a:r>
          </a:p>
          <a:p>
            <a:pPr lvl="3"/>
            <a:r>
              <a:rPr lang="en-US" b="1" dirty="0">
                <a:solidFill>
                  <a:schemeClr val="tx1"/>
                </a:solidFill>
              </a:rPr>
              <a:t>  	Ather Energy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D0BE02A-D45B-F493-4D17-03420E43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1757" y="2774645"/>
            <a:ext cx="2000529" cy="1543265"/>
          </a:xfrm>
          <a:prstGeom prst="rect">
            <a:avLst/>
          </a:prstGeom>
          <a:ln w="28575">
            <a:noFill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A306AD8-5E89-F42A-E99C-DFB8724B9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0049" y="5657137"/>
            <a:ext cx="1931308" cy="15890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5DE16AC-E833-D73E-93FD-72D93E05B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3479" y="8543323"/>
            <a:ext cx="2077083" cy="15958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6325832-3EA5-8642-5D85-B339372C5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950" y="2073592"/>
            <a:ext cx="7454900" cy="865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3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4072</TotalTime>
  <Words>3091</Words>
  <Application>Microsoft Office PowerPoint</Application>
  <PresentationFormat>Custom</PresentationFormat>
  <Paragraphs>391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 Narrow</vt:lpstr>
      <vt:lpstr>Arial</vt:lpstr>
      <vt:lpstr>Arial MT</vt:lpstr>
      <vt:lpstr>Bahnschrift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Primary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Secondary Research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Narmatha Annadurai</cp:lastModifiedBy>
  <cp:revision>62</cp:revision>
  <dcterms:created xsi:type="dcterms:W3CDTF">2026-04-30T07:32:50Z</dcterms:created>
  <dcterms:modified xsi:type="dcterms:W3CDTF">2026-05-03T16:35:29Z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2026-04-30T00:00:00Z</vt:filetime>
  </property>
  <property fmtid="{D5CDD505-2E9C-101B-9397-08002B2CF9AE}" pid="3" name="LastSaved">
    <vt:filetime>2026-04-30T00:00:00Z</vt:filetime>
  </property>
</Properties>
</file>